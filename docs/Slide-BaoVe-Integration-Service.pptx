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Chào hội đồng. Em trình bày đồ án xây dựng Integration Service kết nối UniSIS và UniLearn. Trọng tâm phần trình bày là lựa chọn kiến trúc và bằng chứng chạy thật.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mạnh: ba lỗ hổng cuối là ràng buộc xuyên suốt, không phải chức năng. Một sản phẩm bỏ qua chúng sẽ chạy đúng buổi đầu rồi hỏng dần.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câu hỏi số 2 của Phụ lục C. Nhấn hệ quả: không có trường nào đồng bộ hai chiều.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luận điểm trung tâm của cả đồ án. Nếu chỉ nhớ một slide thì nhớ slide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Nêu rõ trade-off — hội đồng thích nghe cái giá phải trả hơn là chỉ nghe ưu điểm.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Chỉ vào sơ đồ: ba nguồn bên trái không hề gọi API đích. Toàn bộ việc ghi đi qua một lớp duy nhất.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Câu hỏi số 1 của Phụ lục C. Nêu luôn: hàng đợi tin nhắn bị loại vì nguồn không phát vào hàng đợi.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Câu hỏi số 3 của Phụ lục C. Hai lớp không thay thế nhau mà bù cho nhau.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Câu hỏi số 6 của Phụ lục C — chắc chắn bị hỏi. Nhấn: mất ánh xạ thì CHẬM hơn chứ không SAI.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Nếu bị hỏi vì sao 409 là thành công: vì trạng thái đích đã đúng, đó mới là điều kiện hoàn thành.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Câu hỏi số 5 của Phụ lục C: 503 trong 1 phút có mất dữ liệu không. Trả lời: không, và nêu 63 giây.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Câu hỏi số 4 của Phụ lục C. Nêu thêm: mã lỗi bất đối xứng, thiếu Course là 404 còn thiếu User là 422.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Kiểm chứng đã làm: chờ 14 giây, dài hơn một chu kỳ polling, UniSIS vẫn chưa có điểm.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chỗ giảng viên hay bấm thử tại chỗ. Chạy dry-run trước để chiếu con số lệch, rồi chạy thật.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Cả hai chiều đều có mặt. Nhấn 4 lần NOOP: trạng thái đã đúng nên không phát sinh lời gọi ghi nào.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Nếu hội đồng hỏi bất kỳ luồng nào, lật Phụ lục C — mỗi luồng đều có đủ 4 tầng và mã sự kiện thật.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27/84 là tình huống lỗi. Đường thuận thì dễ, giá trị nằm ở chỗ hệ thống xử lý ra sao khi hỏng.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Câu hỏi số 10 và mục 5.7.1. Đây là điểm hội đồng đánh giá cao về tư duy hệ thống.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Chủ động nói trước về T10. Đừng để hội đồng tự phát hiện — nói trước thì thành điểm cộng.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Chốt bằng luận điểm kiến trúc chứ không phải bằng số lượng yêu cầu hoàn thành.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027"/>
        </a:solidFill>
      </p:bgPr>
    </p:bg>
    <p:spTree>
      <p:nvGrpSpPr>
        <p:cNvPr id="1" name=""/>
        <p:cNvGrpSpPr/>
        <p:nvPr/>
      </p:nvGrpSpPr>
      <p:grpSpPr>
        <a:xfrm>
          <a:off x="0" y="0"/>
          <a:ext cx="0" cy="0"/>
          <a:chOff x="0" y="0"/>
          <a:chExt cx="0" cy="0"/>
        </a:xfrm>
      </p:grpSpPr>
      <p:sp>
        <p:nvSpPr>
          <p:cNvPr id="2" name="Shape 0"/>
          <p:cNvSpPr/>
          <p:nvPr/>
        </p:nvSpPr>
        <p:spPr>
          <a:xfrm>
            <a:off x="640080" y="1371600"/>
            <a:ext cx="566928" cy="566928"/>
          </a:xfrm>
          <a:prstGeom prst="roundRect">
            <a:avLst>
              <a:gd name="adj" fmla="val 22581"/>
            </a:avLst>
          </a:prstGeom>
          <a:solidFill>
            <a:srgbClr val="02C39A"/>
          </a:solidFill>
          <a:ln w="12700">
            <a:solidFill>
              <a:srgbClr val="02C39A"/>
            </a:solidFill>
            <a:prstDash val="solid"/>
          </a:ln>
        </p:spPr>
      </p:sp>
      <p:sp>
        <p:nvSpPr>
          <p:cNvPr id="3" name="Text 1"/>
          <p:cNvSpPr txBox="1"/>
          <p:nvPr/>
        </p:nvSpPr>
        <p:spPr>
          <a:xfrm>
            <a:off x="640080" y="1371600"/>
            <a:ext cx="566928" cy="566928"/>
          </a:xfrm>
          <a:prstGeom prst="rect">
            <a:avLst/>
          </a:prstGeom>
          <a:noFill/>
          <a:ln/>
        </p:spPr>
        <p:txBody>
          <a:bodyPr wrap="square" lIns="0" tIns="0" rIns="0" bIns="0" rtlCol="0" anchor="ctr"/>
          <a:lstStyle/>
          <a:p>
            <a:pPr algn="ctr" indent="0" marL="0">
              <a:buNone/>
            </a:pPr>
            <a:r>
              <a:rPr lang="en-US" sz="2000" b="1" dirty="0">
                <a:solidFill>
                  <a:srgbClr val="0B2027"/>
                </a:solidFill>
                <a:latin typeface="Cambria" pitchFamily="34" charset="0"/>
                <a:ea typeface="Cambria" pitchFamily="34" charset="-122"/>
                <a:cs typeface="Cambria" pitchFamily="34" charset="-120"/>
              </a:rPr>
              <a:t>IS</a:t>
            </a:r>
            <a:endParaRPr lang="en-US" sz="2000" dirty="0"/>
          </a:p>
        </p:txBody>
      </p:sp>
      <p:sp>
        <p:nvSpPr>
          <p:cNvPr id="4" name="Text 2"/>
          <p:cNvSpPr txBox="1"/>
          <p:nvPr/>
        </p:nvSpPr>
        <p:spPr>
          <a:xfrm>
            <a:off x="640080" y="2240280"/>
            <a:ext cx="10881360" cy="292608"/>
          </a:xfrm>
          <a:prstGeom prst="rect">
            <a:avLst/>
          </a:prstGeom>
          <a:noFill/>
          <a:ln/>
        </p:spPr>
        <p:txBody>
          <a:bodyPr wrap="square" lIns="0" tIns="0" rIns="0" bIns="0" rtlCol="0" anchor="ctr"/>
          <a:lstStyle/>
          <a:p>
            <a:pPr indent="0" marL="0">
              <a:buNone/>
            </a:pPr>
            <a:r>
              <a:rPr lang="en-US" sz="1300" b="1" spc="200" kern="0" dirty="0">
                <a:solidFill>
                  <a:srgbClr val="02C39A"/>
                </a:solidFill>
                <a:latin typeface="Calibri" pitchFamily="34" charset="0"/>
                <a:ea typeface="Calibri" pitchFamily="34" charset="-122"/>
                <a:cs typeface="Calibri" pitchFamily="34" charset="-120"/>
              </a:rPr>
              <a:t>HỌC PHẦN KIẾN TRÚC VÀ TÍCH HỢP HỆ THỐNG</a:t>
            </a:r>
            <a:endParaRPr lang="en-US" sz="1300" dirty="0"/>
          </a:p>
        </p:txBody>
      </p:sp>
      <p:sp>
        <p:nvSpPr>
          <p:cNvPr id="5" name="Text 3"/>
          <p:cNvSpPr txBox="1"/>
          <p:nvPr/>
        </p:nvSpPr>
        <p:spPr>
          <a:xfrm>
            <a:off x="640080" y="2606040"/>
            <a:ext cx="10881360" cy="73152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Xây dựng hệ thống tích hợp hai chiều</a:t>
            </a:r>
            <a:endParaRPr lang="en-US" sz="4200" dirty="0"/>
          </a:p>
        </p:txBody>
      </p:sp>
      <p:sp>
        <p:nvSpPr>
          <p:cNvPr id="6" name="Text 4"/>
          <p:cNvSpPr txBox="1"/>
          <p:nvPr/>
        </p:nvSpPr>
        <p:spPr>
          <a:xfrm>
            <a:off x="640080" y="3310128"/>
            <a:ext cx="10881360" cy="685800"/>
          </a:xfrm>
          <a:prstGeom prst="rect">
            <a:avLst/>
          </a:prstGeom>
          <a:noFill/>
          <a:ln/>
        </p:spPr>
        <p:txBody>
          <a:bodyPr wrap="square" lIns="0" tIns="0" rIns="0" bIns="0" rtlCol="0" anchor="ctr"/>
          <a:lstStyle/>
          <a:p>
            <a:pPr indent="0" marL="0">
              <a:buNone/>
            </a:pPr>
            <a:r>
              <a:rPr lang="en-US" sz="4200" b="1" dirty="0">
                <a:solidFill>
                  <a:srgbClr val="02C39A"/>
                </a:solidFill>
                <a:latin typeface="Cambria" pitchFamily="34" charset="0"/>
                <a:ea typeface="Cambria" pitchFamily="34" charset="-122"/>
                <a:cs typeface="Cambria" pitchFamily="34" charset="-120"/>
              </a:rPr>
              <a:t>giữa UniSIS và UniLearn LMS</a:t>
            </a:r>
            <a:endParaRPr lang="en-US" sz="4200" dirty="0"/>
          </a:p>
        </p:txBody>
      </p:sp>
      <p:sp>
        <p:nvSpPr>
          <p:cNvPr id="7" name="Text 5"/>
          <p:cNvSpPr txBox="1"/>
          <p:nvPr/>
        </p:nvSpPr>
        <p:spPr>
          <a:xfrm>
            <a:off x="640080" y="4206240"/>
            <a:ext cx="9692640" cy="365760"/>
          </a:xfrm>
          <a:prstGeom prst="rect">
            <a:avLst/>
          </a:prstGeom>
          <a:noFill/>
          <a:ln/>
        </p:spPr>
        <p:txBody>
          <a:bodyPr wrap="square" lIns="0" tIns="0" rIns="0" bIns="0" rtlCol="0" anchor="ctr"/>
          <a:lstStyle/>
          <a:p>
            <a:pPr indent="0" marL="0">
              <a:buNone/>
            </a:pPr>
            <a:r>
              <a:rPr lang="en-US" sz="1500" dirty="0">
                <a:solidFill>
                  <a:srgbClr val="9FB6BC"/>
                </a:solidFill>
                <a:latin typeface="Calibri" pitchFamily="34" charset="0"/>
                <a:ea typeface="Calibri" pitchFamily="34" charset="-122"/>
                <a:cs typeface="Calibri" pitchFamily="34" charset="-120"/>
              </a:rPr>
              <a:t>Đồng bộ hai hệ thống độc lập qua REST API và webhook — có kiến trúc, có trạng thái, chịu được lỗi.</a:t>
            </a:r>
            <a:endParaRPr lang="en-US" sz="1500" dirty="0"/>
          </a:p>
        </p:txBody>
      </p:sp>
      <p:sp>
        <p:nvSpPr>
          <p:cNvPr id="8" name="Text 6"/>
          <p:cNvSpPr txBox="1"/>
          <p:nvPr/>
        </p:nvSpPr>
        <p:spPr>
          <a:xfrm>
            <a:off x="640080" y="4983480"/>
            <a:ext cx="2194560" cy="274320"/>
          </a:xfrm>
          <a:prstGeom prst="rect">
            <a:avLst/>
          </a:prstGeom>
          <a:noFill/>
          <a:ln/>
        </p:spPr>
        <p:txBody>
          <a:bodyPr wrap="square" lIns="0" tIns="0" rIns="0" bIns="0" rtlCol="0" anchor="ctr"/>
          <a:lstStyle/>
          <a:p>
            <a:pPr indent="0" marL="0">
              <a:buNone/>
            </a:pPr>
            <a:r>
              <a:rPr lang="en-US" sz="1150" dirty="0">
                <a:solidFill>
                  <a:srgbClr val="7C949B"/>
                </a:solidFill>
                <a:latin typeface="Calibri" pitchFamily="34" charset="0"/>
                <a:ea typeface="Calibri" pitchFamily="34" charset="-122"/>
                <a:cs typeface="Calibri" pitchFamily="34" charset="-120"/>
              </a:rPr>
              <a:t>Sinh viên thực hiện</a:t>
            </a:r>
            <a:endParaRPr lang="en-US" sz="1150" dirty="0"/>
          </a:p>
        </p:txBody>
      </p:sp>
      <p:sp>
        <p:nvSpPr>
          <p:cNvPr id="9" name="Text 7"/>
          <p:cNvSpPr txBox="1"/>
          <p:nvPr/>
        </p:nvSpPr>
        <p:spPr>
          <a:xfrm>
            <a:off x="2880360" y="4983480"/>
            <a:ext cx="3108960"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Lê Thiên Lộc — 2300596 — D101A1K15</a:t>
            </a:r>
            <a:endParaRPr lang="en-US" sz="1250" dirty="0"/>
          </a:p>
        </p:txBody>
      </p:sp>
      <p:sp>
        <p:nvSpPr>
          <p:cNvPr id="10" name="Text 8"/>
          <p:cNvSpPr txBox="1"/>
          <p:nvPr/>
        </p:nvSpPr>
        <p:spPr>
          <a:xfrm>
            <a:off x="6126480" y="4983480"/>
            <a:ext cx="2194560" cy="274320"/>
          </a:xfrm>
          <a:prstGeom prst="rect">
            <a:avLst/>
          </a:prstGeom>
          <a:noFill/>
          <a:ln/>
        </p:spPr>
        <p:txBody>
          <a:bodyPr wrap="square" lIns="0" tIns="0" rIns="0" bIns="0" rtlCol="0" anchor="ctr"/>
          <a:lstStyle/>
          <a:p>
            <a:pPr indent="0" marL="0">
              <a:buNone/>
            </a:pPr>
            <a:r>
              <a:rPr lang="en-US" sz="1150" dirty="0">
                <a:solidFill>
                  <a:srgbClr val="7C949B"/>
                </a:solidFill>
                <a:latin typeface="Calibri" pitchFamily="34" charset="0"/>
                <a:ea typeface="Calibri" pitchFamily="34" charset="-122"/>
                <a:cs typeface="Calibri" pitchFamily="34" charset="-120"/>
              </a:rPr>
              <a:t>Giảng viên hướng dẫn</a:t>
            </a:r>
            <a:endParaRPr lang="en-US" sz="1150" dirty="0"/>
          </a:p>
        </p:txBody>
      </p:sp>
      <p:sp>
        <p:nvSpPr>
          <p:cNvPr id="11" name="Text 9"/>
          <p:cNvSpPr txBox="1"/>
          <p:nvPr/>
        </p:nvSpPr>
        <p:spPr>
          <a:xfrm>
            <a:off x="8366760" y="4983480"/>
            <a:ext cx="3108960"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ThS. Vũ Hoàng Anh</a:t>
            </a:r>
            <a:endParaRPr lang="en-US" sz="1250" dirty="0"/>
          </a:p>
        </p:txBody>
      </p:sp>
      <p:sp>
        <p:nvSpPr>
          <p:cNvPr id="12" name="Text 10"/>
          <p:cNvSpPr txBox="1"/>
          <p:nvPr/>
        </p:nvSpPr>
        <p:spPr>
          <a:xfrm>
            <a:off x="640080" y="5550408"/>
            <a:ext cx="2194560" cy="274320"/>
          </a:xfrm>
          <a:prstGeom prst="rect">
            <a:avLst/>
          </a:prstGeom>
          <a:noFill/>
          <a:ln/>
        </p:spPr>
        <p:txBody>
          <a:bodyPr wrap="square" lIns="0" tIns="0" rIns="0" bIns="0" rtlCol="0" anchor="ctr"/>
          <a:lstStyle/>
          <a:p>
            <a:pPr indent="0" marL="0">
              <a:buNone/>
            </a:pPr>
            <a:r>
              <a:rPr lang="en-US" sz="1150" dirty="0">
                <a:solidFill>
                  <a:srgbClr val="7C949B"/>
                </a:solidFill>
                <a:latin typeface="Calibri" pitchFamily="34" charset="0"/>
                <a:ea typeface="Calibri" pitchFamily="34" charset="-122"/>
                <a:cs typeface="Calibri" pitchFamily="34" charset="-120"/>
              </a:rPr>
              <a:t>Tenant</a:t>
            </a:r>
            <a:endParaRPr lang="en-US" sz="1150" dirty="0"/>
          </a:p>
        </p:txBody>
      </p:sp>
      <p:sp>
        <p:nvSpPr>
          <p:cNvPr id="13" name="Text 11"/>
          <p:cNvSpPr txBox="1"/>
          <p:nvPr/>
        </p:nvSpPr>
        <p:spPr>
          <a:xfrm>
            <a:off x="2880360" y="5550408"/>
            <a:ext cx="3108960"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TEAM07</a:t>
            </a:r>
            <a:endParaRPr lang="en-US" sz="1250" dirty="0"/>
          </a:p>
        </p:txBody>
      </p:sp>
      <p:sp>
        <p:nvSpPr>
          <p:cNvPr id="14" name="Text 12"/>
          <p:cNvSpPr txBox="1"/>
          <p:nvPr/>
        </p:nvSpPr>
        <p:spPr>
          <a:xfrm>
            <a:off x="6126480" y="5550408"/>
            <a:ext cx="2194560" cy="274320"/>
          </a:xfrm>
          <a:prstGeom prst="rect">
            <a:avLst/>
          </a:prstGeom>
          <a:noFill/>
          <a:ln/>
        </p:spPr>
        <p:txBody>
          <a:bodyPr wrap="square" lIns="0" tIns="0" rIns="0" bIns="0" rtlCol="0" anchor="ctr"/>
          <a:lstStyle/>
          <a:p>
            <a:pPr indent="0" marL="0">
              <a:buNone/>
            </a:pPr>
            <a:r>
              <a:rPr lang="en-US" sz="1150" dirty="0">
                <a:solidFill>
                  <a:srgbClr val="7C949B"/>
                </a:solidFill>
                <a:latin typeface="Calibri" pitchFamily="34" charset="0"/>
                <a:ea typeface="Calibri" pitchFamily="34" charset="-122"/>
                <a:cs typeface="Calibri" pitchFamily="34" charset="-120"/>
              </a:rPr>
              <a:t>Phạm vi</a:t>
            </a:r>
            <a:endParaRPr lang="en-US" sz="1150" dirty="0"/>
          </a:p>
        </p:txBody>
      </p:sp>
      <p:sp>
        <p:nvSpPr>
          <p:cNvPr id="15" name="Text 13"/>
          <p:cNvSpPr txBox="1"/>
          <p:nvPr/>
        </p:nvSpPr>
        <p:spPr>
          <a:xfrm>
            <a:off x="8366760" y="5550408"/>
            <a:ext cx="3108960"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INT-01 … INT-08 — đủ 08 yêu cầu</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75488"/>
            <a:ext cx="475488" cy="475488"/>
          </a:xfrm>
          <a:prstGeom prst="roundRect">
            <a:avLst>
              <a:gd name="adj" fmla="val 23077"/>
            </a:avLst>
          </a:prstGeom>
          <a:solidFill>
            <a:srgbClr val="028090"/>
          </a:solidFill>
          <a:ln w="12700">
            <a:solidFill>
              <a:srgbClr val="028090"/>
            </a:solidFill>
            <a:prstDash val="solid"/>
          </a:ln>
        </p:spPr>
      </p:sp>
      <p:sp>
        <p:nvSpPr>
          <p:cNvPr id="3" name="Text 1"/>
          <p:cNvSpPr txBox="1"/>
          <p:nvPr/>
        </p:nvSpPr>
        <p:spPr>
          <a:xfrm>
            <a:off x="640080" y="475488"/>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4" name="Text 2"/>
          <p:cNvSpPr txBox="1"/>
          <p:nvPr/>
        </p:nvSpPr>
        <p:spPr>
          <a:xfrm>
            <a:off x="1298448" y="457200"/>
            <a:ext cx="8686800" cy="256032"/>
          </a:xfrm>
          <a:prstGeom prst="rect">
            <a:avLst/>
          </a:prstGeom>
          <a:noFill/>
          <a:ln/>
        </p:spPr>
        <p:txBody>
          <a:bodyPr wrap="square" lIns="0" tIns="0" rIns="0" bIns="0" rtlCol="0" anchor="ctr"/>
          <a:lstStyle/>
          <a:p>
            <a:pPr indent="0" marL="0">
              <a:buNone/>
            </a:pPr>
            <a:r>
              <a:rPr lang="en-US" sz="1100" b="1" spc="160" kern="0" dirty="0">
                <a:solidFill>
                  <a:srgbClr val="02C39A"/>
                </a:solidFill>
                <a:latin typeface="Calibri" pitchFamily="34" charset="0"/>
                <a:ea typeface="Calibri" pitchFamily="34" charset="-122"/>
                <a:cs typeface="Calibri" pitchFamily="34" charset="-120"/>
              </a:rPr>
              <a:t>BÀI TOÁN</a:t>
            </a:r>
            <a:endParaRPr lang="en-US" sz="1100" dirty="0"/>
          </a:p>
        </p:txBody>
      </p:sp>
      <p:sp>
        <p:nvSpPr>
          <p:cNvPr id="5" name="Text 3"/>
          <p:cNvSpPr txBox="1"/>
          <p:nvPr/>
        </p:nvSpPr>
        <p:spPr>
          <a:xfrm>
            <a:off x="1298448" y="694944"/>
            <a:ext cx="10424160" cy="566928"/>
          </a:xfrm>
          <a:prstGeom prst="rect">
            <a:avLst/>
          </a:prstGeom>
          <a:noFill/>
          <a:ln/>
        </p:spPr>
        <p:txBody>
          <a:bodyPr wrap="square" lIns="0" tIns="0" rIns="0" bIns="0" rtlCol="0" anchor="ctr"/>
          <a:lstStyle/>
          <a:p>
            <a:pPr indent="0" marL="0">
              <a:buNone/>
            </a:pPr>
            <a:r>
              <a:rPr lang="en-US" sz="3000" b="1" dirty="0">
                <a:solidFill>
                  <a:srgbClr val="0B2027"/>
                </a:solidFill>
                <a:latin typeface="Cambria" pitchFamily="34" charset="0"/>
                <a:ea typeface="Cambria" pitchFamily="34" charset="-122"/>
                <a:cs typeface="Cambria" pitchFamily="34" charset="-120"/>
              </a:rPr>
              <a:t>Hai hệ thống không biết đến nhau</a:t>
            </a:r>
            <a:endParaRPr lang="en-US" sz="3000" dirty="0"/>
          </a:p>
        </p:txBody>
      </p:sp>
      <p:sp>
        <p:nvSpPr>
          <p:cNvPr id="6" name="Text 4"/>
          <p:cNvSpPr txBox="1"/>
          <p:nvPr/>
        </p:nvSpPr>
        <p:spPr>
          <a:xfrm>
            <a:off x="640080" y="1481328"/>
            <a:ext cx="5120640" cy="1371600"/>
          </a:xfrm>
          <a:prstGeom prst="rect">
            <a:avLst/>
          </a:prstGeom>
          <a:noFill/>
          <a:ln/>
        </p:spPr>
        <p:txBody>
          <a:bodyPr wrap="square" lIns="0" tIns="0" rIns="0" bIns="0" rtlCol="0" anchor="ctr"/>
          <a:lstStyle/>
          <a:p>
            <a:pPr indent="0" marL="0">
              <a:lnSpc>
                <a:spcPct val="125000"/>
              </a:lnSpc>
              <a:buNone/>
            </a:pPr>
            <a:r>
              <a:rPr lang="en-US" sz="1500" dirty="0">
                <a:solidFill>
                  <a:srgbClr val="0B2027"/>
                </a:solidFill>
                <a:latin typeface="Calibri" pitchFamily="34" charset="0"/>
                <a:ea typeface="Calibri" pitchFamily="34" charset="-122"/>
                <a:cs typeface="Calibri" pitchFamily="34" charset="-120"/>
              </a:rPr>
              <a:t>UniSIS quản lý hồ sơ đào tạo. UniLearn quản lý hoạt động dạy — học. Hai bên không có bất kỳ kết nối nào, nên mỗi thao tác nghiệp vụ phải lặp lại thủ công hai lần.</a:t>
            </a:r>
            <a:endParaRPr lang="en-US" sz="1500" dirty="0"/>
          </a:p>
        </p:txBody>
      </p:sp>
      <p:sp>
        <p:nvSpPr>
          <p:cNvPr id="7" name="Text 5"/>
          <p:cNvSpPr txBox="1"/>
          <p:nvPr/>
        </p:nvSpPr>
        <p:spPr>
          <a:xfrm>
            <a:off x="640080" y="2971800"/>
            <a:ext cx="5120640" cy="1371600"/>
          </a:xfrm>
          <a:prstGeom prst="rect">
            <a:avLst/>
          </a:prstGeom>
          <a:noFill/>
          <a:ln/>
        </p:spPr>
        <p:txBody>
          <a:bodyPr wrap="square" lIns="0" tIns="0" rIns="0" bIns="0" rtlCol="0" anchor="ctr"/>
          <a:lstStyle/>
          <a:p>
            <a:pPr indent="0" marL="0">
              <a:lnSpc>
                <a:spcPct val="125000"/>
              </a:lnSpc>
              <a:buNone/>
            </a:pPr>
            <a:r>
              <a:rPr lang="en-US" sz="1500" dirty="0">
                <a:solidFill>
                  <a:srgbClr val="5A6B70"/>
                </a:solidFill>
                <a:latin typeface="Calibri" pitchFamily="34" charset="0"/>
                <a:ea typeface="Calibri" pitchFamily="34" charset="-122"/>
                <a:cs typeface="Calibri" pitchFamily="34" charset="-120"/>
              </a:rPr>
              <a:t>Chi phí lớn hơn không nằm ở công nhập liệu, mà ở sai lệch âm thầm: sinh viên đã thôi học nhưng tài khoản trực tuyến vẫn hoạt động; lớp đã đổi giảng viên nhưng khóa học vẫn gắn tên người cũ.</a:t>
            </a:r>
            <a:endParaRPr lang="en-US" sz="1500" dirty="0"/>
          </a:p>
        </p:txBody>
      </p:sp>
      <p:sp>
        <p:nvSpPr>
          <p:cNvPr id="8" name="Text 6"/>
          <p:cNvSpPr txBox="1"/>
          <p:nvPr/>
        </p:nvSpPr>
        <p:spPr>
          <a:xfrm>
            <a:off x="640080" y="4572000"/>
            <a:ext cx="5120640" cy="822960"/>
          </a:xfrm>
          <a:prstGeom prst="rect">
            <a:avLst/>
          </a:prstGeom>
          <a:noFill/>
          <a:ln/>
        </p:spPr>
        <p:txBody>
          <a:bodyPr wrap="square" lIns="0" tIns="0" rIns="0" bIns="0" rtlCol="0" anchor="ctr"/>
          <a:lstStyle/>
          <a:p>
            <a:pPr indent="0" marL="0">
              <a:lnSpc>
                <a:spcPct val="125000"/>
              </a:lnSpc>
              <a:buNone/>
            </a:pPr>
            <a:r>
              <a:rPr lang="en-US" sz="1600" b="1" dirty="0">
                <a:solidFill>
                  <a:srgbClr val="0B2027"/>
                </a:solidFill>
                <a:latin typeface="Calibri" pitchFamily="34" charset="0"/>
                <a:ea typeface="Calibri" pitchFamily="34" charset="-122"/>
                <a:cs typeface="Calibri" pitchFamily="34" charset="-120"/>
              </a:rPr>
              <a:t>Những sai lệch này không báo lỗi. Chúng lặng lẽ tích tụ.</a:t>
            </a:r>
            <a:endParaRPr lang="en-US" sz="1600" dirty="0"/>
          </a:p>
        </p:txBody>
      </p:sp>
      <p:sp>
        <p:nvSpPr>
          <p:cNvPr id="9" name="Shape 7"/>
          <p:cNvSpPr/>
          <p:nvPr/>
        </p:nvSpPr>
        <p:spPr>
          <a:xfrm>
            <a:off x="6400800" y="1481328"/>
            <a:ext cx="5120640" cy="3931920"/>
          </a:xfrm>
          <a:prstGeom prst="roundRect">
            <a:avLst>
              <a:gd name="adj" fmla="val 1395"/>
            </a:avLst>
          </a:prstGeom>
          <a:solidFill>
            <a:srgbClr val="F2F6F6"/>
          </a:solidFill>
          <a:ln w="12700">
            <a:solidFill>
              <a:srgbClr val="F2F6F6"/>
            </a:solidFill>
            <a:prstDash val="solid"/>
          </a:ln>
        </p:spPr>
      </p:sp>
      <p:sp>
        <p:nvSpPr>
          <p:cNvPr id="10" name="Text 8"/>
          <p:cNvSpPr txBox="1"/>
          <p:nvPr/>
        </p:nvSpPr>
        <p:spPr>
          <a:xfrm>
            <a:off x="6720840" y="1783080"/>
            <a:ext cx="4480560" cy="320040"/>
          </a:xfrm>
          <a:prstGeom prst="rect">
            <a:avLst/>
          </a:prstGeom>
          <a:noFill/>
          <a:ln/>
        </p:spPr>
        <p:txBody>
          <a:bodyPr wrap="square" lIns="0" tIns="0" rIns="0" bIns="0" rtlCol="0" anchor="ctr"/>
          <a:lstStyle/>
          <a:p>
            <a:pPr indent="0" marL="0">
              <a:lnSpc>
                <a:spcPct val="125000"/>
              </a:lnSpc>
              <a:buNone/>
            </a:pPr>
            <a:r>
              <a:rPr lang="en-US" sz="1100" b="1" dirty="0">
                <a:solidFill>
                  <a:srgbClr val="028090"/>
                </a:solidFill>
                <a:latin typeface="Calibri" pitchFamily="34" charset="0"/>
                <a:ea typeface="Calibri" pitchFamily="34" charset="-122"/>
                <a:cs typeface="Calibri" pitchFamily="34" charset="-120"/>
              </a:rPr>
              <a:t>MƯỜI MỘT LỖ HỔNG ĐỒNG BỘ</a:t>
            </a:r>
            <a:endParaRPr lang="en-US" sz="1100" dirty="0"/>
          </a:p>
        </p:txBody>
      </p:sp>
      <p:sp>
        <p:nvSpPr>
          <p:cNvPr id="11" name="Text 9"/>
          <p:cNvSpPr txBox="1"/>
          <p:nvPr/>
        </p:nvSpPr>
        <p:spPr>
          <a:xfrm>
            <a:off x="6720840" y="2286000"/>
            <a:ext cx="1371600" cy="292608"/>
          </a:xfrm>
          <a:prstGeom prst="rect">
            <a:avLst/>
          </a:prstGeom>
          <a:noFill/>
          <a:ln/>
        </p:spPr>
        <p:txBody>
          <a:bodyPr wrap="square" lIns="0" tIns="0" rIns="0" bIns="0" rtlCol="0" anchor="ctr"/>
          <a:lstStyle/>
          <a:p>
            <a:pPr indent="0" marL="0">
              <a:lnSpc>
                <a:spcPct val="125000"/>
              </a:lnSpc>
              <a:buNone/>
            </a:pPr>
            <a:r>
              <a:rPr lang="en-US" sz="1350" b="1" dirty="0">
                <a:solidFill>
                  <a:srgbClr val="0B2027"/>
                </a:solidFill>
                <a:latin typeface="Calibri" pitchFamily="34" charset="0"/>
                <a:ea typeface="Calibri" pitchFamily="34" charset="-122"/>
                <a:cs typeface="Calibri" pitchFamily="34" charset="-120"/>
              </a:rPr>
              <a:t>GAP-01…08</a:t>
            </a:r>
            <a:endParaRPr lang="en-US" sz="1350" dirty="0"/>
          </a:p>
        </p:txBody>
      </p:sp>
      <p:sp>
        <p:nvSpPr>
          <p:cNvPr id="12" name="Text 10"/>
          <p:cNvSpPr txBox="1"/>
          <p:nvPr/>
        </p:nvSpPr>
        <p:spPr>
          <a:xfrm>
            <a:off x="8092440" y="2286000"/>
            <a:ext cx="3200400" cy="640080"/>
          </a:xfrm>
          <a:prstGeom prst="rect">
            <a:avLst/>
          </a:prstGeom>
          <a:noFill/>
          <a:ln/>
        </p:spPr>
        <p:txBody>
          <a:bodyPr wrap="square" lIns="0" tIns="0" rIns="0" bIns="0" rtlCol="0" anchor="ctr"/>
          <a:lstStyle/>
          <a:p>
            <a:pPr indent="0" marL="0">
              <a:lnSpc>
                <a:spcPct val="110000"/>
              </a:lnSpc>
              <a:buNone/>
            </a:pPr>
            <a:r>
              <a:rPr lang="en-US" sz="1250" dirty="0">
                <a:solidFill>
                  <a:srgbClr val="5A6B70"/>
                </a:solidFill>
                <a:latin typeface="Calibri" pitchFamily="34" charset="0"/>
                <a:ea typeface="Calibri" pitchFamily="34" charset="-122"/>
                <a:cs typeface="Calibri" pitchFamily="34" charset="-120"/>
              </a:rPr>
              <a:t>Tám lỗ hổng nghiệp vụ — ứng với INT-01 … INT-08</a:t>
            </a:r>
            <a:endParaRPr lang="en-US" sz="1250" dirty="0"/>
          </a:p>
        </p:txBody>
      </p:sp>
      <p:sp>
        <p:nvSpPr>
          <p:cNvPr id="13" name="Text 11"/>
          <p:cNvSpPr txBox="1"/>
          <p:nvPr/>
        </p:nvSpPr>
        <p:spPr>
          <a:xfrm>
            <a:off x="6720840" y="3035808"/>
            <a:ext cx="1371600" cy="292608"/>
          </a:xfrm>
          <a:prstGeom prst="rect">
            <a:avLst/>
          </a:prstGeom>
          <a:noFill/>
          <a:ln/>
        </p:spPr>
        <p:txBody>
          <a:bodyPr wrap="square" lIns="0" tIns="0" rIns="0" bIns="0" rtlCol="0" anchor="ctr"/>
          <a:lstStyle/>
          <a:p>
            <a:pPr indent="0" marL="0">
              <a:lnSpc>
                <a:spcPct val="125000"/>
              </a:lnSpc>
              <a:buNone/>
            </a:pPr>
            <a:r>
              <a:rPr lang="en-US" sz="1350" b="1" dirty="0">
                <a:solidFill>
                  <a:srgbClr val="0B2027"/>
                </a:solidFill>
                <a:latin typeface="Calibri" pitchFamily="34" charset="0"/>
                <a:ea typeface="Calibri" pitchFamily="34" charset="-122"/>
                <a:cs typeface="Calibri" pitchFamily="34" charset="-120"/>
              </a:rPr>
              <a:t>GAP-09</a:t>
            </a:r>
            <a:endParaRPr lang="en-US" sz="1350" dirty="0"/>
          </a:p>
        </p:txBody>
      </p:sp>
      <p:sp>
        <p:nvSpPr>
          <p:cNvPr id="14" name="Text 12"/>
          <p:cNvSpPr txBox="1"/>
          <p:nvPr/>
        </p:nvSpPr>
        <p:spPr>
          <a:xfrm>
            <a:off x="8092440" y="3035808"/>
            <a:ext cx="3200400" cy="640080"/>
          </a:xfrm>
          <a:prstGeom prst="rect">
            <a:avLst/>
          </a:prstGeom>
          <a:noFill/>
          <a:ln/>
        </p:spPr>
        <p:txBody>
          <a:bodyPr wrap="square" lIns="0" tIns="0" rIns="0" bIns="0" rtlCol="0" anchor="ctr"/>
          <a:lstStyle/>
          <a:p>
            <a:pPr indent="0" marL="0">
              <a:lnSpc>
                <a:spcPct val="110000"/>
              </a:lnSpc>
              <a:buNone/>
            </a:pPr>
            <a:r>
              <a:rPr lang="en-US" sz="1250" dirty="0">
                <a:solidFill>
                  <a:srgbClr val="5A6B70"/>
                </a:solidFill>
                <a:latin typeface="Calibri" pitchFamily="34" charset="0"/>
                <a:ea typeface="Calibri" pitchFamily="34" charset="-122"/>
                <a:cs typeface="Calibri" pitchFamily="34" charset="-120"/>
              </a:rPr>
              <a:t>ID hai hệ thống khác nhau</a:t>
            </a:r>
            <a:endParaRPr lang="en-US" sz="1250" dirty="0"/>
          </a:p>
        </p:txBody>
      </p:sp>
      <p:sp>
        <p:nvSpPr>
          <p:cNvPr id="15" name="Text 13"/>
          <p:cNvSpPr txBox="1"/>
          <p:nvPr/>
        </p:nvSpPr>
        <p:spPr>
          <a:xfrm>
            <a:off x="6720840" y="3785616"/>
            <a:ext cx="1371600" cy="292608"/>
          </a:xfrm>
          <a:prstGeom prst="rect">
            <a:avLst/>
          </a:prstGeom>
          <a:noFill/>
          <a:ln/>
        </p:spPr>
        <p:txBody>
          <a:bodyPr wrap="square" lIns="0" tIns="0" rIns="0" bIns="0" rtlCol="0" anchor="ctr"/>
          <a:lstStyle/>
          <a:p>
            <a:pPr indent="0" marL="0">
              <a:lnSpc>
                <a:spcPct val="125000"/>
              </a:lnSpc>
              <a:buNone/>
            </a:pPr>
            <a:r>
              <a:rPr lang="en-US" sz="1350" b="1" dirty="0">
                <a:solidFill>
                  <a:srgbClr val="0B2027"/>
                </a:solidFill>
                <a:latin typeface="Calibri" pitchFamily="34" charset="0"/>
                <a:ea typeface="Calibri" pitchFamily="34" charset="-122"/>
                <a:cs typeface="Calibri" pitchFamily="34" charset="-120"/>
              </a:rPr>
              <a:t>GAP-10</a:t>
            </a:r>
            <a:endParaRPr lang="en-US" sz="1350" dirty="0"/>
          </a:p>
        </p:txBody>
      </p:sp>
      <p:sp>
        <p:nvSpPr>
          <p:cNvPr id="16" name="Text 14"/>
          <p:cNvSpPr txBox="1"/>
          <p:nvPr/>
        </p:nvSpPr>
        <p:spPr>
          <a:xfrm>
            <a:off x="8092440" y="3785616"/>
            <a:ext cx="3200400" cy="640080"/>
          </a:xfrm>
          <a:prstGeom prst="rect">
            <a:avLst/>
          </a:prstGeom>
          <a:noFill/>
          <a:ln/>
        </p:spPr>
        <p:txBody>
          <a:bodyPr wrap="square" lIns="0" tIns="0" rIns="0" bIns="0" rtlCol="0" anchor="ctr"/>
          <a:lstStyle/>
          <a:p>
            <a:pPr indent="0" marL="0">
              <a:lnSpc>
                <a:spcPct val="110000"/>
              </a:lnSpc>
              <a:buNone/>
            </a:pPr>
            <a:r>
              <a:rPr lang="en-US" sz="1250" dirty="0">
                <a:solidFill>
                  <a:srgbClr val="5A6B70"/>
                </a:solidFill>
                <a:latin typeface="Calibri" pitchFamily="34" charset="0"/>
                <a:ea typeface="Calibri" pitchFamily="34" charset="-122"/>
                <a:cs typeface="Calibri" pitchFamily="34" charset="-120"/>
              </a:rPr>
              <a:t>Sự kiện lặp, hệ thống đích tạm lỗi</a:t>
            </a:r>
            <a:endParaRPr lang="en-US" sz="1250" dirty="0"/>
          </a:p>
        </p:txBody>
      </p:sp>
      <p:sp>
        <p:nvSpPr>
          <p:cNvPr id="17" name="Text 15"/>
          <p:cNvSpPr txBox="1"/>
          <p:nvPr/>
        </p:nvSpPr>
        <p:spPr>
          <a:xfrm>
            <a:off x="6720840" y="4535424"/>
            <a:ext cx="1371600" cy="292608"/>
          </a:xfrm>
          <a:prstGeom prst="rect">
            <a:avLst/>
          </a:prstGeom>
          <a:noFill/>
          <a:ln/>
        </p:spPr>
        <p:txBody>
          <a:bodyPr wrap="square" lIns="0" tIns="0" rIns="0" bIns="0" rtlCol="0" anchor="ctr"/>
          <a:lstStyle/>
          <a:p>
            <a:pPr indent="0" marL="0">
              <a:lnSpc>
                <a:spcPct val="125000"/>
              </a:lnSpc>
              <a:buNone/>
            </a:pPr>
            <a:r>
              <a:rPr lang="en-US" sz="1350" b="1" dirty="0">
                <a:solidFill>
                  <a:srgbClr val="0B2027"/>
                </a:solidFill>
                <a:latin typeface="Calibri" pitchFamily="34" charset="0"/>
                <a:ea typeface="Calibri" pitchFamily="34" charset="-122"/>
                <a:cs typeface="Calibri" pitchFamily="34" charset="-120"/>
              </a:rPr>
              <a:t>GAP-11</a:t>
            </a:r>
            <a:endParaRPr lang="en-US" sz="1350" dirty="0"/>
          </a:p>
        </p:txBody>
      </p:sp>
      <p:sp>
        <p:nvSpPr>
          <p:cNvPr id="18" name="Text 16"/>
          <p:cNvSpPr txBox="1"/>
          <p:nvPr/>
        </p:nvSpPr>
        <p:spPr>
          <a:xfrm>
            <a:off x="8092440" y="4535424"/>
            <a:ext cx="3200400" cy="640080"/>
          </a:xfrm>
          <a:prstGeom prst="rect">
            <a:avLst/>
          </a:prstGeom>
          <a:noFill/>
          <a:ln/>
        </p:spPr>
        <p:txBody>
          <a:bodyPr wrap="square" lIns="0" tIns="0" rIns="0" bIns="0" rtlCol="0" anchor="ctr"/>
          <a:lstStyle/>
          <a:p>
            <a:pPr indent="0" marL="0">
              <a:lnSpc>
                <a:spcPct val="110000"/>
              </a:lnSpc>
              <a:buNone/>
            </a:pPr>
            <a:r>
              <a:rPr lang="en-US" sz="1250" dirty="0">
                <a:solidFill>
                  <a:srgbClr val="5A6B70"/>
                </a:solidFill>
                <a:latin typeface="Calibri" pitchFamily="34" charset="0"/>
                <a:ea typeface="Calibri" pitchFamily="34" charset="-122"/>
                <a:cs typeface="Calibri" pitchFamily="34" charset="-120"/>
              </a:rPr>
              <a:t>Dữ liệu có sẵn trước khi dịch vụ chạy</a:t>
            </a:r>
            <a:endParaRPr lang="en-US" sz="1250" dirty="0"/>
          </a:p>
        </p:txBody>
      </p:sp>
      <p:sp>
        <p:nvSpPr>
          <p:cNvPr id="19" name="Text 17"/>
          <p:cNvSpPr txBox="1"/>
          <p:nvPr/>
        </p:nvSpPr>
        <p:spPr>
          <a:xfrm>
            <a:off x="6720840" y="5440680"/>
            <a:ext cx="4480560" cy="274320"/>
          </a:xfrm>
          <a:prstGeom prst="rect">
            <a:avLst/>
          </a:prstGeom>
          <a:noFill/>
          <a:ln/>
        </p:spPr>
        <p:txBody>
          <a:bodyPr wrap="square" lIns="0" tIns="0" rIns="0" bIns="0" rtlCol="0" anchor="ctr"/>
          <a:lstStyle/>
          <a:p>
            <a:pPr indent="0" marL="0">
              <a:lnSpc>
                <a:spcPct val="125000"/>
              </a:lnSpc>
              <a:buNone/>
            </a:pPr>
            <a:r>
              <a:rPr lang="en-US" sz="1200" i="1" dirty="0">
                <a:solidFill>
                  <a:srgbClr val="028090"/>
                </a:solidFill>
                <a:latin typeface="Calibri" pitchFamily="34" charset="0"/>
                <a:ea typeface="Calibri" pitchFamily="34" charset="-122"/>
                <a:cs typeface="Calibri" pitchFamily="34" charset="-120"/>
              </a:rPr>
              <a:t>Ba lỗ hổng cuối không ứng với yêu cầu nào — chúng chi phối toàn bộ thiết kế.</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75488"/>
            <a:ext cx="475488" cy="475488"/>
          </a:xfrm>
          <a:prstGeom prst="roundRect">
            <a:avLst>
              <a:gd name="adj" fmla="val 23077"/>
            </a:avLst>
          </a:prstGeom>
          <a:solidFill>
            <a:srgbClr val="028090"/>
          </a:solidFill>
          <a:ln w="12700">
            <a:solidFill>
              <a:srgbClr val="028090"/>
            </a:solidFill>
            <a:prstDash val="solid"/>
          </a:ln>
        </p:spPr>
      </p:sp>
      <p:sp>
        <p:nvSpPr>
          <p:cNvPr id="3" name="Text 1"/>
          <p:cNvSpPr txBox="1"/>
          <p:nvPr/>
        </p:nvSpPr>
        <p:spPr>
          <a:xfrm>
            <a:off x="640080" y="475488"/>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4" name="Text 2"/>
          <p:cNvSpPr txBox="1"/>
          <p:nvPr/>
        </p:nvSpPr>
        <p:spPr>
          <a:xfrm>
            <a:off x="1298448" y="457200"/>
            <a:ext cx="8686800" cy="256032"/>
          </a:xfrm>
          <a:prstGeom prst="rect">
            <a:avLst/>
          </a:prstGeom>
          <a:noFill/>
          <a:ln/>
        </p:spPr>
        <p:txBody>
          <a:bodyPr wrap="square" lIns="0" tIns="0" rIns="0" bIns="0" rtlCol="0" anchor="ctr"/>
          <a:lstStyle/>
          <a:p>
            <a:pPr indent="0" marL="0">
              <a:buNone/>
            </a:pPr>
            <a:r>
              <a:rPr lang="en-US" sz="1100" b="1" spc="160" kern="0" dirty="0">
                <a:solidFill>
                  <a:srgbClr val="02C39A"/>
                </a:solidFill>
                <a:latin typeface="Calibri" pitchFamily="34" charset="0"/>
                <a:ea typeface="Calibri" pitchFamily="34" charset="-122"/>
                <a:cs typeface="Calibri" pitchFamily="34" charset="-120"/>
              </a:rPr>
              <a:t>NGUỒN SỰ THẬT</a:t>
            </a:r>
            <a:endParaRPr lang="en-US" sz="1100" dirty="0"/>
          </a:p>
        </p:txBody>
      </p:sp>
      <p:sp>
        <p:nvSpPr>
          <p:cNvPr id="5" name="Text 3"/>
          <p:cNvSpPr txBox="1"/>
          <p:nvPr/>
        </p:nvSpPr>
        <p:spPr>
          <a:xfrm>
            <a:off x="1298448" y="694944"/>
            <a:ext cx="10424160" cy="566928"/>
          </a:xfrm>
          <a:prstGeom prst="rect">
            <a:avLst/>
          </a:prstGeom>
          <a:noFill/>
          <a:ln/>
        </p:spPr>
        <p:txBody>
          <a:bodyPr wrap="square" lIns="0" tIns="0" rIns="0" bIns="0" rtlCol="0" anchor="ctr"/>
          <a:lstStyle/>
          <a:p>
            <a:pPr indent="0" marL="0">
              <a:buNone/>
            </a:pPr>
            <a:r>
              <a:rPr lang="en-US" sz="3000" b="1" dirty="0">
                <a:solidFill>
                  <a:srgbClr val="0B2027"/>
                </a:solidFill>
                <a:latin typeface="Cambria" pitchFamily="34" charset="0"/>
                <a:ea typeface="Cambria" pitchFamily="34" charset="-122"/>
                <a:cs typeface="Cambria" pitchFamily="34" charset="-120"/>
              </a:rPr>
              <a:t>Ai chịu trách nhiệm nghiệp vụ thì nắm sự thật</a:t>
            </a:r>
            <a:endParaRPr lang="en-US" sz="3000" dirty="0"/>
          </a:p>
        </p:txBody>
      </p:sp>
      <p:sp>
        <p:nvSpPr>
          <p:cNvPr id="6" name="Text 4"/>
          <p:cNvSpPr txBox="1"/>
          <p:nvPr/>
        </p:nvSpPr>
        <p:spPr>
          <a:xfrm>
            <a:off x="640080" y="1463040"/>
            <a:ext cx="10881360" cy="365760"/>
          </a:xfrm>
          <a:prstGeom prst="rect">
            <a:avLst/>
          </a:prstGeom>
          <a:noFill/>
          <a:ln/>
        </p:spPr>
        <p:txBody>
          <a:bodyPr wrap="square" lIns="0" tIns="0" rIns="0" bIns="0" rtlCol="0" anchor="ctr"/>
          <a:lstStyle/>
          <a:p>
            <a:pPr indent="0" marL="0">
              <a:lnSpc>
                <a:spcPct val="125000"/>
              </a:lnSpc>
              <a:buNone/>
            </a:pPr>
            <a:r>
              <a:rPr lang="en-US" sz="1500" dirty="0">
                <a:solidFill>
                  <a:srgbClr val="5A6B70"/>
                </a:solidFill>
                <a:latin typeface="Calibri" pitchFamily="34" charset="0"/>
                <a:ea typeface="Calibri" pitchFamily="34" charset="-122"/>
                <a:cs typeface="Calibri" pitchFamily="34" charset="-120"/>
              </a:rPr>
              <a:t>Quyết định nền tảng: mọi tranh chấp dữ liệu về sau đều quy về bảng này.</a:t>
            </a:r>
            <a:endParaRPr lang="en-US" sz="1500" dirty="0"/>
          </a:p>
        </p:txBody>
      </p:sp>
      <p:sp>
        <p:nvSpPr>
          <p:cNvPr id="7" name="Shape 5"/>
          <p:cNvSpPr/>
          <p:nvPr/>
        </p:nvSpPr>
        <p:spPr>
          <a:xfrm>
            <a:off x="640080" y="2057400"/>
            <a:ext cx="6675120" cy="457200"/>
          </a:xfrm>
          <a:prstGeom prst="roundRect">
            <a:avLst>
              <a:gd name="adj" fmla="val 12000"/>
            </a:avLst>
          </a:prstGeom>
          <a:solidFill>
            <a:srgbClr val="FFFFFF"/>
          </a:solidFill>
          <a:ln w="12700">
            <a:solidFill>
              <a:srgbClr val="FFFFFF"/>
            </a:solidFill>
            <a:prstDash val="solid"/>
          </a:ln>
        </p:spPr>
      </p:sp>
      <p:sp>
        <p:nvSpPr>
          <p:cNvPr id="8" name="Text 6"/>
          <p:cNvSpPr txBox="1"/>
          <p:nvPr/>
        </p:nvSpPr>
        <p:spPr>
          <a:xfrm>
            <a:off x="868680" y="2167128"/>
            <a:ext cx="4937760" cy="274320"/>
          </a:xfrm>
          <a:prstGeom prst="rect">
            <a:avLst/>
          </a:prstGeom>
          <a:noFill/>
          <a:ln/>
        </p:spPr>
        <p:txBody>
          <a:bodyPr wrap="square" lIns="0" tIns="0" rIns="0" bIns="0" rtlCol="0" anchor="ctr"/>
          <a:lstStyle/>
          <a:p>
            <a:pPr indent="0" marL="0">
              <a:lnSpc>
                <a:spcPct val="125000"/>
              </a:lnSpc>
              <a:buNone/>
            </a:pPr>
            <a:r>
              <a:rPr lang="en-US" sz="1350" dirty="0">
                <a:solidFill>
                  <a:srgbClr val="0B2027"/>
                </a:solidFill>
                <a:latin typeface="Calibri" pitchFamily="34" charset="0"/>
                <a:ea typeface="Calibri" pitchFamily="34" charset="-122"/>
                <a:cs typeface="Calibri" pitchFamily="34" charset="-120"/>
              </a:rPr>
              <a:t>Hồ sơ sinh viên, trạng thái học vụ</a:t>
            </a:r>
            <a:endParaRPr lang="en-US" sz="1350" dirty="0"/>
          </a:p>
        </p:txBody>
      </p:sp>
      <p:sp>
        <p:nvSpPr>
          <p:cNvPr id="9" name="Text 7"/>
          <p:cNvSpPr txBox="1"/>
          <p:nvPr/>
        </p:nvSpPr>
        <p:spPr>
          <a:xfrm>
            <a:off x="5897880" y="2167128"/>
            <a:ext cx="1280160" cy="274320"/>
          </a:xfrm>
          <a:prstGeom prst="rect">
            <a:avLst/>
          </a:prstGeom>
          <a:noFill/>
          <a:ln/>
        </p:spPr>
        <p:txBody>
          <a:bodyPr wrap="square" lIns="0" tIns="0" rIns="0" bIns="0" rtlCol="0" anchor="ctr"/>
          <a:lstStyle/>
          <a:p>
            <a:pPr indent="0" marL="0">
              <a:lnSpc>
                <a:spcPct val="125000"/>
              </a:lnSpc>
              <a:buNone/>
            </a:pPr>
            <a:r>
              <a:rPr lang="en-US" sz="1300" b="1" dirty="0">
                <a:solidFill>
                  <a:srgbClr val="028090"/>
                </a:solidFill>
                <a:latin typeface="Calibri" pitchFamily="34" charset="0"/>
                <a:ea typeface="Calibri" pitchFamily="34" charset="-122"/>
                <a:cs typeface="Calibri" pitchFamily="34" charset="-120"/>
              </a:rPr>
              <a:t>UniSIS</a:t>
            </a:r>
            <a:endParaRPr lang="en-US" sz="1300" dirty="0"/>
          </a:p>
        </p:txBody>
      </p:sp>
      <p:sp>
        <p:nvSpPr>
          <p:cNvPr id="10" name="Shape 8"/>
          <p:cNvSpPr/>
          <p:nvPr/>
        </p:nvSpPr>
        <p:spPr>
          <a:xfrm>
            <a:off x="640080" y="2624328"/>
            <a:ext cx="6675120" cy="457200"/>
          </a:xfrm>
          <a:prstGeom prst="roundRect">
            <a:avLst>
              <a:gd name="adj" fmla="val 12000"/>
            </a:avLst>
          </a:prstGeom>
          <a:solidFill>
            <a:srgbClr val="F2F6F6"/>
          </a:solidFill>
          <a:ln w="12700">
            <a:solidFill>
              <a:srgbClr val="F2F6F6"/>
            </a:solidFill>
            <a:prstDash val="solid"/>
          </a:ln>
        </p:spPr>
      </p:sp>
      <p:sp>
        <p:nvSpPr>
          <p:cNvPr id="11" name="Text 9"/>
          <p:cNvSpPr txBox="1"/>
          <p:nvPr/>
        </p:nvSpPr>
        <p:spPr>
          <a:xfrm>
            <a:off x="868680" y="2734056"/>
            <a:ext cx="4937760" cy="274320"/>
          </a:xfrm>
          <a:prstGeom prst="rect">
            <a:avLst/>
          </a:prstGeom>
          <a:noFill/>
          <a:ln/>
        </p:spPr>
        <p:txBody>
          <a:bodyPr wrap="square" lIns="0" tIns="0" rIns="0" bIns="0" rtlCol="0" anchor="ctr"/>
          <a:lstStyle/>
          <a:p>
            <a:pPr indent="0" marL="0">
              <a:lnSpc>
                <a:spcPct val="125000"/>
              </a:lnSpc>
              <a:buNone/>
            </a:pPr>
            <a:r>
              <a:rPr lang="en-US" sz="1350" dirty="0">
                <a:solidFill>
                  <a:srgbClr val="0B2027"/>
                </a:solidFill>
                <a:latin typeface="Calibri" pitchFamily="34" charset="0"/>
                <a:ea typeface="Calibri" pitchFamily="34" charset="-122"/>
                <a:cs typeface="Calibri" pitchFamily="34" charset="-120"/>
              </a:rPr>
              <a:t>Lớp học phần, giảng viên phụ trách</a:t>
            </a:r>
            <a:endParaRPr lang="en-US" sz="1350" dirty="0"/>
          </a:p>
        </p:txBody>
      </p:sp>
      <p:sp>
        <p:nvSpPr>
          <p:cNvPr id="12" name="Text 10"/>
          <p:cNvSpPr txBox="1"/>
          <p:nvPr/>
        </p:nvSpPr>
        <p:spPr>
          <a:xfrm>
            <a:off x="5897880" y="2734056"/>
            <a:ext cx="1280160" cy="274320"/>
          </a:xfrm>
          <a:prstGeom prst="rect">
            <a:avLst/>
          </a:prstGeom>
          <a:noFill/>
          <a:ln/>
        </p:spPr>
        <p:txBody>
          <a:bodyPr wrap="square" lIns="0" tIns="0" rIns="0" bIns="0" rtlCol="0" anchor="ctr"/>
          <a:lstStyle/>
          <a:p>
            <a:pPr indent="0" marL="0">
              <a:lnSpc>
                <a:spcPct val="125000"/>
              </a:lnSpc>
              <a:buNone/>
            </a:pPr>
            <a:r>
              <a:rPr lang="en-US" sz="1300" b="1" dirty="0">
                <a:solidFill>
                  <a:srgbClr val="028090"/>
                </a:solidFill>
                <a:latin typeface="Calibri" pitchFamily="34" charset="0"/>
                <a:ea typeface="Calibri" pitchFamily="34" charset="-122"/>
                <a:cs typeface="Calibri" pitchFamily="34" charset="-120"/>
              </a:rPr>
              <a:t>UniSIS</a:t>
            </a:r>
            <a:endParaRPr lang="en-US" sz="1300" dirty="0"/>
          </a:p>
        </p:txBody>
      </p:sp>
      <p:sp>
        <p:nvSpPr>
          <p:cNvPr id="13" name="Shape 11"/>
          <p:cNvSpPr/>
          <p:nvPr/>
        </p:nvSpPr>
        <p:spPr>
          <a:xfrm>
            <a:off x="640080" y="3191256"/>
            <a:ext cx="6675120" cy="457200"/>
          </a:xfrm>
          <a:prstGeom prst="roundRect">
            <a:avLst>
              <a:gd name="adj" fmla="val 12000"/>
            </a:avLst>
          </a:prstGeom>
          <a:solidFill>
            <a:srgbClr val="FFFFFF"/>
          </a:solidFill>
          <a:ln w="12700">
            <a:solidFill>
              <a:srgbClr val="FFFFFF"/>
            </a:solidFill>
            <a:prstDash val="solid"/>
          </a:ln>
        </p:spPr>
      </p:sp>
      <p:sp>
        <p:nvSpPr>
          <p:cNvPr id="14" name="Text 12"/>
          <p:cNvSpPr txBox="1"/>
          <p:nvPr/>
        </p:nvSpPr>
        <p:spPr>
          <a:xfrm>
            <a:off x="868680" y="3300984"/>
            <a:ext cx="4937760" cy="274320"/>
          </a:xfrm>
          <a:prstGeom prst="rect">
            <a:avLst/>
          </a:prstGeom>
          <a:noFill/>
          <a:ln/>
        </p:spPr>
        <p:txBody>
          <a:bodyPr wrap="square" lIns="0" tIns="0" rIns="0" bIns="0" rtlCol="0" anchor="ctr"/>
          <a:lstStyle/>
          <a:p>
            <a:pPr indent="0" marL="0">
              <a:lnSpc>
                <a:spcPct val="125000"/>
              </a:lnSpc>
              <a:buNone/>
            </a:pPr>
            <a:r>
              <a:rPr lang="en-US" sz="1350" dirty="0">
                <a:solidFill>
                  <a:srgbClr val="0B2027"/>
                </a:solidFill>
                <a:latin typeface="Calibri" pitchFamily="34" charset="0"/>
                <a:ea typeface="Calibri" pitchFamily="34" charset="-122"/>
                <a:cs typeface="Calibri" pitchFamily="34" charset="-120"/>
              </a:rPr>
              <a:t>Đăng ký học</a:t>
            </a:r>
            <a:endParaRPr lang="en-US" sz="1350" dirty="0"/>
          </a:p>
        </p:txBody>
      </p:sp>
      <p:sp>
        <p:nvSpPr>
          <p:cNvPr id="15" name="Text 13"/>
          <p:cNvSpPr txBox="1"/>
          <p:nvPr/>
        </p:nvSpPr>
        <p:spPr>
          <a:xfrm>
            <a:off x="5897880" y="3300984"/>
            <a:ext cx="1280160" cy="274320"/>
          </a:xfrm>
          <a:prstGeom prst="rect">
            <a:avLst/>
          </a:prstGeom>
          <a:noFill/>
          <a:ln/>
        </p:spPr>
        <p:txBody>
          <a:bodyPr wrap="square" lIns="0" tIns="0" rIns="0" bIns="0" rtlCol="0" anchor="ctr"/>
          <a:lstStyle/>
          <a:p>
            <a:pPr indent="0" marL="0">
              <a:lnSpc>
                <a:spcPct val="125000"/>
              </a:lnSpc>
              <a:buNone/>
            </a:pPr>
            <a:r>
              <a:rPr lang="en-US" sz="1300" b="1" dirty="0">
                <a:solidFill>
                  <a:srgbClr val="028090"/>
                </a:solidFill>
                <a:latin typeface="Calibri" pitchFamily="34" charset="0"/>
                <a:ea typeface="Calibri" pitchFamily="34" charset="-122"/>
                <a:cs typeface="Calibri" pitchFamily="34" charset="-120"/>
              </a:rPr>
              <a:t>UniSIS</a:t>
            </a:r>
            <a:endParaRPr lang="en-US" sz="1300" dirty="0"/>
          </a:p>
        </p:txBody>
      </p:sp>
      <p:sp>
        <p:nvSpPr>
          <p:cNvPr id="16" name="Shape 14"/>
          <p:cNvSpPr/>
          <p:nvPr/>
        </p:nvSpPr>
        <p:spPr>
          <a:xfrm>
            <a:off x="640080" y="3758184"/>
            <a:ext cx="6675120" cy="457200"/>
          </a:xfrm>
          <a:prstGeom prst="roundRect">
            <a:avLst>
              <a:gd name="adj" fmla="val 12000"/>
            </a:avLst>
          </a:prstGeom>
          <a:solidFill>
            <a:srgbClr val="F2F6F6"/>
          </a:solidFill>
          <a:ln w="12700">
            <a:solidFill>
              <a:srgbClr val="F2F6F6"/>
            </a:solidFill>
            <a:prstDash val="solid"/>
          </a:ln>
        </p:spPr>
      </p:sp>
      <p:sp>
        <p:nvSpPr>
          <p:cNvPr id="17" name="Text 15"/>
          <p:cNvSpPr txBox="1"/>
          <p:nvPr/>
        </p:nvSpPr>
        <p:spPr>
          <a:xfrm>
            <a:off x="868680" y="3867912"/>
            <a:ext cx="4937760" cy="274320"/>
          </a:xfrm>
          <a:prstGeom prst="rect">
            <a:avLst/>
          </a:prstGeom>
          <a:noFill/>
          <a:ln/>
        </p:spPr>
        <p:txBody>
          <a:bodyPr wrap="square" lIns="0" tIns="0" rIns="0" bIns="0" rtlCol="0" anchor="ctr"/>
          <a:lstStyle/>
          <a:p>
            <a:pPr indent="0" marL="0">
              <a:lnSpc>
                <a:spcPct val="125000"/>
              </a:lnSpc>
              <a:buNone/>
            </a:pPr>
            <a:r>
              <a:rPr lang="en-US" sz="1350" dirty="0">
                <a:solidFill>
                  <a:srgbClr val="0B2027"/>
                </a:solidFill>
                <a:latin typeface="Calibri" pitchFamily="34" charset="0"/>
                <a:ea typeface="Calibri" pitchFamily="34" charset="-122"/>
                <a:cs typeface="Calibri" pitchFamily="34" charset="-120"/>
              </a:rPr>
              <a:t>Tiến độ học tập, điểm thành phần</a:t>
            </a:r>
            <a:endParaRPr lang="en-US" sz="1350" dirty="0"/>
          </a:p>
        </p:txBody>
      </p:sp>
      <p:sp>
        <p:nvSpPr>
          <p:cNvPr id="18" name="Text 16"/>
          <p:cNvSpPr txBox="1"/>
          <p:nvPr/>
        </p:nvSpPr>
        <p:spPr>
          <a:xfrm>
            <a:off x="5897880" y="3867912"/>
            <a:ext cx="1280160" cy="274320"/>
          </a:xfrm>
          <a:prstGeom prst="rect">
            <a:avLst/>
          </a:prstGeom>
          <a:noFill/>
          <a:ln/>
        </p:spPr>
        <p:txBody>
          <a:bodyPr wrap="square" lIns="0" tIns="0" rIns="0" bIns="0" rtlCol="0" anchor="ctr"/>
          <a:lstStyle/>
          <a:p>
            <a:pPr indent="0" marL="0">
              <a:lnSpc>
                <a:spcPct val="125000"/>
              </a:lnSpc>
              <a:buNone/>
            </a:pPr>
            <a:r>
              <a:rPr lang="en-US" sz="1300" b="1" dirty="0">
                <a:solidFill>
                  <a:srgbClr val="B8620B"/>
                </a:solidFill>
                <a:latin typeface="Calibri" pitchFamily="34" charset="0"/>
                <a:ea typeface="Calibri" pitchFamily="34" charset="-122"/>
                <a:cs typeface="Calibri" pitchFamily="34" charset="-120"/>
              </a:rPr>
              <a:t>UniLearn</a:t>
            </a:r>
            <a:endParaRPr lang="en-US" sz="1300" dirty="0"/>
          </a:p>
        </p:txBody>
      </p:sp>
      <p:sp>
        <p:nvSpPr>
          <p:cNvPr id="19" name="Shape 17"/>
          <p:cNvSpPr/>
          <p:nvPr/>
        </p:nvSpPr>
        <p:spPr>
          <a:xfrm>
            <a:off x="640080" y="4325112"/>
            <a:ext cx="6675120" cy="457200"/>
          </a:xfrm>
          <a:prstGeom prst="roundRect">
            <a:avLst>
              <a:gd name="adj" fmla="val 12000"/>
            </a:avLst>
          </a:prstGeom>
          <a:solidFill>
            <a:srgbClr val="FFFFFF"/>
          </a:solidFill>
          <a:ln w="12700">
            <a:solidFill>
              <a:srgbClr val="FFFFFF"/>
            </a:solidFill>
            <a:prstDash val="solid"/>
          </a:ln>
        </p:spPr>
      </p:sp>
      <p:sp>
        <p:nvSpPr>
          <p:cNvPr id="20" name="Text 18"/>
          <p:cNvSpPr txBox="1"/>
          <p:nvPr/>
        </p:nvSpPr>
        <p:spPr>
          <a:xfrm>
            <a:off x="868680" y="4434840"/>
            <a:ext cx="4937760" cy="274320"/>
          </a:xfrm>
          <a:prstGeom prst="rect">
            <a:avLst/>
          </a:prstGeom>
          <a:noFill/>
          <a:ln/>
        </p:spPr>
        <p:txBody>
          <a:bodyPr wrap="square" lIns="0" tIns="0" rIns="0" bIns="0" rtlCol="0" anchor="ctr"/>
          <a:lstStyle/>
          <a:p>
            <a:pPr indent="0" marL="0">
              <a:lnSpc>
                <a:spcPct val="125000"/>
              </a:lnSpc>
              <a:buNone/>
            </a:pPr>
            <a:r>
              <a:rPr lang="en-US" sz="1350" dirty="0">
                <a:solidFill>
                  <a:srgbClr val="0B2027"/>
                </a:solidFill>
                <a:latin typeface="Calibri" pitchFamily="34" charset="0"/>
                <a:ea typeface="Calibri" pitchFamily="34" charset="-122"/>
                <a:cs typeface="Calibri" pitchFamily="34" charset="-120"/>
              </a:rPr>
              <a:t>Điểm chính thức</a:t>
            </a:r>
            <a:endParaRPr lang="en-US" sz="1350" dirty="0"/>
          </a:p>
        </p:txBody>
      </p:sp>
      <p:sp>
        <p:nvSpPr>
          <p:cNvPr id="21" name="Text 19"/>
          <p:cNvSpPr txBox="1"/>
          <p:nvPr/>
        </p:nvSpPr>
        <p:spPr>
          <a:xfrm>
            <a:off x="5897880" y="4434840"/>
            <a:ext cx="1280160" cy="274320"/>
          </a:xfrm>
          <a:prstGeom prst="rect">
            <a:avLst/>
          </a:prstGeom>
          <a:noFill/>
          <a:ln/>
        </p:spPr>
        <p:txBody>
          <a:bodyPr wrap="square" lIns="0" tIns="0" rIns="0" bIns="0" rtlCol="0" anchor="ctr"/>
          <a:lstStyle/>
          <a:p>
            <a:pPr indent="0" marL="0">
              <a:lnSpc>
                <a:spcPct val="125000"/>
              </a:lnSpc>
              <a:buNone/>
            </a:pPr>
            <a:r>
              <a:rPr lang="en-US" sz="1300" b="1" dirty="0">
                <a:solidFill>
                  <a:srgbClr val="028090"/>
                </a:solidFill>
                <a:latin typeface="Calibri" pitchFamily="34" charset="0"/>
                <a:ea typeface="Calibri" pitchFamily="34" charset="-122"/>
                <a:cs typeface="Calibri" pitchFamily="34" charset="-120"/>
              </a:rPr>
              <a:t>UniSIS</a:t>
            </a:r>
            <a:endParaRPr lang="en-US" sz="1300" dirty="0"/>
          </a:p>
        </p:txBody>
      </p:sp>
      <p:sp>
        <p:nvSpPr>
          <p:cNvPr id="22" name="Shape 20"/>
          <p:cNvSpPr/>
          <p:nvPr/>
        </p:nvSpPr>
        <p:spPr>
          <a:xfrm>
            <a:off x="640080" y="4892040"/>
            <a:ext cx="6675120" cy="457200"/>
          </a:xfrm>
          <a:prstGeom prst="roundRect">
            <a:avLst>
              <a:gd name="adj" fmla="val 12000"/>
            </a:avLst>
          </a:prstGeom>
          <a:solidFill>
            <a:srgbClr val="F2F6F6"/>
          </a:solidFill>
          <a:ln w="12700">
            <a:solidFill>
              <a:srgbClr val="F2F6F6"/>
            </a:solidFill>
            <a:prstDash val="solid"/>
          </a:ln>
        </p:spPr>
      </p:sp>
      <p:sp>
        <p:nvSpPr>
          <p:cNvPr id="23" name="Text 21"/>
          <p:cNvSpPr txBox="1"/>
          <p:nvPr/>
        </p:nvSpPr>
        <p:spPr>
          <a:xfrm>
            <a:off x="868680" y="5001768"/>
            <a:ext cx="4937760" cy="274320"/>
          </a:xfrm>
          <a:prstGeom prst="rect">
            <a:avLst/>
          </a:prstGeom>
          <a:noFill/>
          <a:ln/>
        </p:spPr>
        <p:txBody>
          <a:bodyPr wrap="square" lIns="0" tIns="0" rIns="0" bIns="0" rtlCol="0" anchor="ctr"/>
          <a:lstStyle/>
          <a:p>
            <a:pPr indent="0" marL="0">
              <a:lnSpc>
                <a:spcPct val="125000"/>
              </a:lnSpc>
              <a:buNone/>
            </a:pPr>
            <a:r>
              <a:rPr lang="en-US" sz="1350" dirty="0">
                <a:solidFill>
                  <a:srgbClr val="0B2027"/>
                </a:solidFill>
                <a:latin typeface="Calibri" pitchFamily="34" charset="0"/>
                <a:ea typeface="Calibri" pitchFamily="34" charset="-122"/>
                <a:cs typeface="Calibri" pitchFamily="34" charset="-120"/>
              </a:rPr>
              <a:t>Cảnh báo cố vấn học tập</a:t>
            </a:r>
            <a:endParaRPr lang="en-US" sz="1350" dirty="0"/>
          </a:p>
        </p:txBody>
      </p:sp>
      <p:sp>
        <p:nvSpPr>
          <p:cNvPr id="24" name="Text 22"/>
          <p:cNvSpPr txBox="1"/>
          <p:nvPr/>
        </p:nvSpPr>
        <p:spPr>
          <a:xfrm>
            <a:off x="5897880" y="5001768"/>
            <a:ext cx="1280160" cy="274320"/>
          </a:xfrm>
          <a:prstGeom prst="rect">
            <a:avLst/>
          </a:prstGeom>
          <a:noFill/>
          <a:ln/>
        </p:spPr>
        <p:txBody>
          <a:bodyPr wrap="square" lIns="0" tIns="0" rIns="0" bIns="0" rtlCol="0" anchor="ctr"/>
          <a:lstStyle/>
          <a:p>
            <a:pPr indent="0" marL="0">
              <a:lnSpc>
                <a:spcPct val="125000"/>
              </a:lnSpc>
              <a:buNone/>
            </a:pPr>
            <a:r>
              <a:rPr lang="en-US" sz="1300" b="1" dirty="0">
                <a:solidFill>
                  <a:srgbClr val="028090"/>
                </a:solidFill>
                <a:latin typeface="Calibri" pitchFamily="34" charset="0"/>
                <a:ea typeface="Calibri" pitchFamily="34" charset="-122"/>
                <a:cs typeface="Calibri" pitchFamily="34" charset="-120"/>
              </a:rPr>
              <a:t>UniSIS</a:t>
            </a:r>
            <a:endParaRPr lang="en-US" sz="1300" dirty="0"/>
          </a:p>
        </p:txBody>
      </p:sp>
      <p:sp>
        <p:nvSpPr>
          <p:cNvPr id="25" name="Shape 23"/>
          <p:cNvSpPr/>
          <p:nvPr/>
        </p:nvSpPr>
        <p:spPr>
          <a:xfrm>
            <a:off x="7680960" y="2057400"/>
            <a:ext cx="3840480" cy="3401568"/>
          </a:xfrm>
          <a:prstGeom prst="roundRect">
            <a:avLst>
              <a:gd name="adj" fmla="val 1613"/>
            </a:avLst>
          </a:prstGeom>
          <a:solidFill>
            <a:srgbClr val="0E2A33"/>
          </a:solidFill>
          <a:ln w="12700">
            <a:solidFill>
              <a:srgbClr val="0E2A33"/>
            </a:solidFill>
            <a:prstDash val="solid"/>
          </a:ln>
        </p:spPr>
      </p:sp>
      <p:sp>
        <p:nvSpPr>
          <p:cNvPr id="26" name="Text 24"/>
          <p:cNvSpPr txBox="1"/>
          <p:nvPr/>
        </p:nvSpPr>
        <p:spPr>
          <a:xfrm>
            <a:off x="7955280" y="2331720"/>
            <a:ext cx="3291840" cy="292608"/>
          </a:xfrm>
          <a:prstGeom prst="rect">
            <a:avLst/>
          </a:prstGeom>
          <a:noFill/>
          <a:ln/>
        </p:spPr>
        <p:txBody>
          <a:bodyPr wrap="square" lIns="0" tIns="0" rIns="0" bIns="0" rtlCol="0" anchor="ctr"/>
          <a:lstStyle/>
          <a:p>
            <a:pPr indent="0" marL="0">
              <a:lnSpc>
                <a:spcPct val="125000"/>
              </a:lnSpc>
              <a:buNone/>
            </a:pPr>
            <a:r>
              <a:rPr lang="en-US" sz="1100" b="1" dirty="0">
                <a:solidFill>
                  <a:srgbClr val="02C39A"/>
                </a:solidFill>
                <a:latin typeface="Calibri" pitchFamily="34" charset="0"/>
                <a:ea typeface="Calibri" pitchFamily="34" charset="-122"/>
                <a:cs typeface="Calibri" pitchFamily="34" charset="-120"/>
              </a:rPr>
              <a:t>TRƯỜNG HỢP ĐÁNG CHÚ Ý</a:t>
            </a:r>
            <a:endParaRPr lang="en-US" sz="1100" dirty="0"/>
          </a:p>
        </p:txBody>
      </p:sp>
      <p:sp>
        <p:nvSpPr>
          <p:cNvPr id="27" name="Text 25"/>
          <p:cNvSpPr txBox="1"/>
          <p:nvPr/>
        </p:nvSpPr>
        <p:spPr>
          <a:xfrm>
            <a:off x="7955280" y="2743200"/>
            <a:ext cx="3291840" cy="2194560"/>
          </a:xfrm>
          <a:prstGeom prst="rect">
            <a:avLst/>
          </a:prstGeom>
          <a:noFill/>
          <a:ln/>
        </p:spPr>
        <p:txBody>
          <a:bodyPr wrap="square" lIns="0" tIns="0" rIns="0" bIns="0" rtlCol="0" anchor="ctr"/>
          <a:lstStyle/>
          <a:p>
            <a:pPr indent="0" marL="0">
              <a:lnSpc>
                <a:spcPct val="125000"/>
              </a:lnSpc>
              <a:buNone/>
            </a:pPr>
            <a:r>
              <a:rPr lang="en-US" sz="1300" dirty="0">
                <a:solidFill>
                  <a:srgbClr val="CFE7E4"/>
                </a:solidFill>
                <a:latin typeface="Calibri" pitchFamily="34" charset="0"/>
                <a:ea typeface="Calibri" pitchFamily="34" charset="-122"/>
                <a:cs typeface="Calibri" pitchFamily="34" charset="-120"/>
              </a:rPr>
              <a:t>Điểm chính thức sinh ra ở UniLearn nhưng nguồn sự thật lại ở UniSIS.</a:t>
            </a:r>
            <a:endParaRPr lang="en-US" sz="1300" dirty="0"/>
          </a:p>
          <a:p>
            <a:pPr indent="0" marL="0">
              <a:lnSpc>
                <a:spcPct val="125000"/>
              </a:lnSpc>
              <a:buNone/>
            </a:pPr>
            <a:endParaRPr lang="en-US" sz="1300" dirty="0"/>
          </a:p>
          <a:p>
            <a:pPr indent="0" marL="0">
              <a:lnSpc>
                <a:spcPct val="125000"/>
              </a:lnSpc>
              <a:buNone/>
            </a:pPr>
            <a:r>
              <a:rPr lang="en-US" sz="1300" dirty="0">
                <a:solidFill>
                  <a:srgbClr val="CFE7E4"/>
                </a:solidFill>
                <a:latin typeface="Calibri" pitchFamily="34" charset="0"/>
                <a:ea typeface="Calibri" pitchFamily="34" charset="-122"/>
                <a:cs typeface="Calibri" pitchFamily="34" charset="-120"/>
              </a:rPr>
              <a:t>Vì vậy INT-06 là luồng ngược, và UniSIS giữ quyền quyết định cuối cùng — kể cả việc tự tính điểm chữ.</a:t>
            </a:r>
            <a:endParaRPr lang="en-US" sz="1300" dirty="0"/>
          </a:p>
        </p:txBody>
      </p:sp>
      <p:sp>
        <p:nvSpPr>
          <p:cNvPr id="28" name="Text 26"/>
          <p:cNvSpPr txBox="1"/>
          <p:nvPr/>
        </p:nvSpPr>
        <p:spPr>
          <a:xfrm>
            <a:off x="640080" y="5715000"/>
            <a:ext cx="10881360" cy="365760"/>
          </a:xfrm>
          <a:prstGeom prst="rect">
            <a:avLst/>
          </a:prstGeom>
          <a:noFill/>
          <a:ln/>
        </p:spPr>
        <p:txBody>
          <a:bodyPr wrap="square" lIns="0" tIns="0" rIns="0" bIns="0" rtlCol="0" anchor="ctr"/>
          <a:lstStyle/>
          <a:p>
            <a:pPr indent="0" marL="0">
              <a:lnSpc>
                <a:spcPct val="125000"/>
              </a:lnSpc>
              <a:buNone/>
            </a:pPr>
            <a:r>
              <a:rPr lang="en-US" sz="1400" b="1" dirty="0">
                <a:solidFill>
                  <a:srgbClr val="028090"/>
                </a:solidFill>
                <a:latin typeface="Calibri" pitchFamily="34" charset="0"/>
                <a:ea typeface="Calibri" pitchFamily="34" charset="-122"/>
                <a:cs typeface="Calibri" pitchFamily="34" charset="-120"/>
              </a:rPr>
              <a:t>Hệ quả: chiều ghi không bao giờ đảo — loại bỏ hoàn toàn bài toán xung đột ghi đồng thời.</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2027"/>
        </a:solidFill>
      </p:bgPr>
    </p:bg>
    <p:spTree>
      <p:nvGrpSpPr>
        <p:cNvPr id="1" name=""/>
        <p:cNvGrpSpPr/>
        <p:nvPr/>
      </p:nvGrpSpPr>
      <p:grpSpPr>
        <a:xfrm>
          <a:off x="0" y="0"/>
          <a:ext cx="0" cy="0"/>
          <a:chOff x="0" y="0"/>
          <a:chExt cx="0" cy="0"/>
        </a:xfrm>
      </p:grpSpPr>
      <p:sp>
        <p:nvSpPr>
          <p:cNvPr id="2" name="Text 0"/>
          <p:cNvSpPr txBox="1"/>
          <p:nvPr/>
        </p:nvSpPr>
        <p:spPr>
          <a:xfrm>
            <a:off x="640080" y="603504"/>
            <a:ext cx="9144000" cy="274320"/>
          </a:xfrm>
          <a:prstGeom prst="rect">
            <a:avLst/>
          </a:prstGeom>
          <a:noFill/>
          <a:ln/>
        </p:spPr>
        <p:txBody>
          <a:bodyPr wrap="square" lIns="0" tIns="0" rIns="0" bIns="0" rtlCol="0" anchor="ctr"/>
          <a:lstStyle/>
          <a:p>
            <a:pPr indent="0" marL="0">
              <a:buNone/>
            </a:pPr>
            <a:r>
              <a:rPr lang="en-US" sz="1200" b="1" spc="180" kern="0" dirty="0">
                <a:solidFill>
                  <a:srgbClr val="02C39A"/>
                </a:solidFill>
                <a:latin typeface="Calibri" pitchFamily="34" charset="0"/>
                <a:ea typeface="Calibri" pitchFamily="34" charset="-122"/>
                <a:cs typeface="Calibri" pitchFamily="34" charset="-120"/>
              </a:rPr>
              <a:t>Ý TƯỞNG CỐT LÕI</a:t>
            </a:r>
            <a:endParaRPr lang="en-US" sz="1200" dirty="0"/>
          </a:p>
        </p:txBody>
      </p:sp>
      <p:sp>
        <p:nvSpPr>
          <p:cNvPr id="3" name="Text 1"/>
          <p:cNvSpPr txBox="1"/>
          <p:nvPr/>
        </p:nvSpPr>
        <p:spPr>
          <a:xfrm>
            <a:off x="640080" y="914400"/>
            <a:ext cx="1088136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Hội tụ trạng thái, không xử lý sự kiện</a:t>
            </a:r>
            <a:endParaRPr lang="en-US" sz="3200" dirty="0"/>
          </a:p>
        </p:txBody>
      </p:sp>
      <p:sp>
        <p:nvSpPr>
          <p:cNvPr id="4" name="Text 2"/>
          <p:cNvSpPr txBox="1"/>
          <p:nvPr/>
        </p:nvSpPr>
        <p:spPr>
          <a:xfrm>
            <a:off x="640080" y="1920240"/>
            <a:ext cx="10881360" cy="822960"/>
          </a:xfrm>
          <a:prstGeom prst="rect">
            <a:avLst/>
          </a:prstGeom>
          <a:noFill/>
          <a:ln/>
        </p:spPr>
        <p:txBody>
          <a:bodyPr wrap="square" lIns="0" tIns="0" rIns="0" bIns="0" rtlCol="0" anchor="ctr"/>
          <a:lstStyle/>
          <a:p>
            <a:pPr indent="0" marL="0">
              <a:lnSpc>
                <a:spcPct val="125000"/>
              </a:lnSpc>
              <a:buNone/>
            </a:pPr>
            <a:r>
              <a:rPr lang="en-US" sz="1800" dirty="0">
                <a:solidFill>
                  <a:srgbClr val="CFE7E4"/>
                </a:solidFill>
                <a:latin typeface="Calibri" pitchFamily="34" charset="0"/>
                <a:ea typeface="Calibri" pitchFamily="34" charset="-122"/>
                <a:cs typeface="Calibri" pitchFamily="34" charset="-120"/>
              </a:rPr>
              <a:t>Mỗi hàm hỏi hai câu — trạng thái đúng phải như thế nào, và hiện tại nó đang ra sao — rồi chỉ thực hiện đúng phần chênh lệch.</a:t>
            </a:r>
            <a:endParaRPr lang="en-US" sz="1800" dirty="0"/>
          </a:p>
        </p:txBody>
      </p:sp>
      <p:sp>
        <p:nvSpPr>
          <p:cNvPr id="5" name="Shape 3"/>
          <p:cNvSpPr/>
          <p:nvPr/>
        </p:nvSpPr>
        <p:spPr>
          <a:xfrm>
            <a:off x="640080" y="3108960"/>
            <a:ext cx="3383280" cy="1600200"/>
          </a:xfrm>
          <a:prstGeom prst="roundRect">
            <a:avLst>
              <a:gd name="adj" fmla="val 3429"/>
            </a:avLst>
          </a:prstGeom>
          <a:solidFill>
            <a:srgbClr val="12303A"/>
          </a:solidFill>
          <a:ln w="12700">
            <a:solidFill>
              <a:srgbClr val="12303A"/>
            </a:solidFill>
            <a:prstDash val="solid"/>
          </a:ln>
        </p:spPr>
      </p:sp>
      <p:sp>
        <p:nvSpPr>
          <p:cNvPr id="6" name="Text 4"/>
          <p:cNvSpPr txBox="1"/>
          <p:nvPr/>
        </p:nvSpPr>
        <p:spPr>
          <a:xfrm>
            <a:off x="914400" y="3337560"/>
            <a:ext cx="2834640" cy="320040"/>
          </a:xfrm>
          <a:prstGeom prst="rect">
            <a:avLst/>
          </a:prstGeom>
          <a:noFill/>
          <a:ln/>
        </p:spPr>
        <p:txBody>
          <a:bodyPr wrap="square" lIns="0" tIns="0" rIns="0" bIns="0" rtlCol="0" anchor="ctr"/>
          <a:lstStyle/>
          <a:p>
            <a:pPr indent="0" marL="0">
              <a:lnSpc>
                <a:spcPct val="125000"/>
              </a:lnSpc>
              <a:buNone/>
            </a:pPr>
            <a:r>
              <a:rPr lang="en-US" sz="1500" b="1" dirty="0">
                <a:solidFill>
                  <a:srgbClr val="02C39A"/>
                </a:solidFill>
                <a:latin typeface="Cambria" pitchFamily="34" charset="0"/>
                <a:ea typeface="Cambria" pitchFamily="34" charset="-122"/>
                <a:cs typeface="Cambria" pitchFamily="34" charset="-120"/>
              </a:rPr>
              <a:t>Chống trùng</a:t>
            </a:r>
            <a:endParaRPr lang="en-US" sz="1500" dirty="0"/>
          </a:p>
        </p:txBody>
      </p:sp>
      <p:sp>
        <p:nvSpPr>
          <p:cNvPr id="7" name="Text 5"/>
          <p:cNvSpPr txBox="1"/>
          <p:nvPr/>
        </p:nvSpPr>
        <p:spPr>
          <a:xfrm>
            <a:off x="914400" y="3703320"/>
            <a:ext cx="2834640" cy="868680"/>
          </a:xfrm>
          <a:prstGeom prst="rect">
            <a:avLst/>
          </a:prstGeom>
          <a:noFill/>
          <a:ln/>
        </p:spPr>
        <p:txBody>
          <a:bodyPr wrap="square" lIns="0" tIns="0" rIns="0" bIns="0" rtlCol="0" anchor="ctr"/>
          <a:lstStyle/>
          <a:p>
            <a:pPr indent="0" marL="0">
              <a:lnSpc>
                <a:spcPct val="115000"/>
              </a:lnSpc>
              <a:buNone/>
            </a:pPr>
            <a:r>
              <a:rPr lang="en-US" sz="1250" dirty="0">
                <a:solidFill>
                  <a:srgbClr val="A9C3C7"/>
                </a:solidFill>
                <a:latin typeface="Calibri" pitchFamily="34" charset="0"/>
                <a:ea typeface="Calibri" pitchFamily="34" charset="-122"/>
                <a:cs typeface="Calibri" pitchFamily="34" charset="-120"/>
              </a:rPr>
              <a:t>Phần chênh lệch bằng không nên tự nhiên không làm gì</a:t>
            </a:r>
            <a:endParaRPr lang="en-US" sz="1250" dirty="0"/>
          </a:p>
        </p:txBody>
      </p:sp>
      <p:sp>
        <p:nvSpPr>
          <p:cNvPr id="8" name="Shape 6"/>
          <p:cNvSpPr/>
          <p:nvPr/>
        </p:nvSpPr>
        <p:spPr>
          <a:xfrm>
            <a:off x="4343400" y="3108960"/>
            <a:ext cx="3383280" cy="1600200"/>
          </a:xfrm>
          <a:prstGeom prst="roundRect">
            <a:avLst>
              <a:gd name="adj" fmla="val 3429"/>
            </a:avLst>
          </a:prstGeom>
          <a:solidFill>
            <a:srgbClr val="12303A"/>
          </a:solidFill>
          <a:ln w="12700">
            <a:solidFill>
              <a:srgbClr val="12303A"/>
            </a:solidFill>
            <a:prstDash val="solid"/>
          </a:ln>
        </p:spPr>
      </p:sp>
      <p:sp>
        <p:nvSpPr>
          <p:cNvPr id="9" name="Text 7"/>
          <p:cNvSpPr txBox="1"/>
          <p:nvPr/>
        </p:nvSpPr>
        <p:spPr>
          <a:xfrm>
            <a:off x="4617720" y="3337560"/>
            <a:ext cx="2834640" cy="320040"/>
          </a:xfrm>
          <a:prstGeom prst="rect">
            <a:avLst/>
          </a:prstGeom>
          <a:noFill/>
          <a:ln/>
        </p:spPr>
        <p:txBody>
          <a:bodyPr wrap="square" lIns="0" tIns="0" rIns="0" bIns="0" rtlCol="0" anchor="ctr"/>
          <a:lstStyle/>
          <a:p>
            <a:pPr indent="0" marL="0">
              <a:lnSpc>
                <a:spcPct val="125000"/>
              </a:lnSpc>
              <a:buNone/>
            </a:pPr>
            <a:r>
              <a:rPr lang="en-US" sz="1500" b="1" dirty="0">
                <a:solidFill>
                  <a:srgbClr val="02C39A"/>
                </a:solidFill>
                <a:latin typeface="Cambria" pitchFamily="34" charset="0"/>
                <a:ea typeface="Cambria" pitchFamily="34" charset="-122"/>
                <a:cs typeface="Cambria" pitchFamily="34" charset="-120"/>
              </a:rPr>
              <a:t>Sai thứ tự</a:t>
            </a:r>
            <a:endParaRPr lang="en-US" sz="1500" dirty="0"/>
          </a:p>
        </p:txBody>
      </p:sp>
      <p:sp>
        <p:nvSpPr>
          <p:cNvPr id="10" name="Text 8"/>
          <p:cNvSpPr txBox="1"/>
          <p:nvPr/>
        </p:nvSpPr>
        <p:spPr>
          <a:xfrm>
            <a:off x="4617720" y="3703320"/>
            <a:ext cx="2834640" cy="868680"/>
          </a:xfrm>
          <a:prstGeom prst="rect">
            <a:avLst/>
          </a:prstGeom>
          <a:noFill/>
          <a:ln/>
        </p:spPr>
        <p:txBody>
          <a:bodyPr wrap="square" lIns="0" tIns="0" rIns="0" bIns="0" rtlCol="0" anchor="ctr"/>
          <a:lstStyle/>
          <a:p>
            <a:pPr indent="0" marL="0">
              <a:lnSpc>
                <a:spcPct val="115000"/>
              </a:lnSpc>
              <a:buNone/>
            </a:pPr>
            <a:r>
              <a:rPr lang="en-US" sz="1250" dirty="0">
                <a:solidFill>
                  <a:srgbClr val="A9C3C7"/>
                </a:solidFill>
                <a:latin typeface="Calibri" pitchFamily="34" charset="0"/>
                <a:ea typeface="Calibri" pitchFamily="34" charset="-122"/>
                <a:cs typeface="Calibri" pitchFamily="34" charset="-120"/>
              </a:rPr>
              <a:t>Luôn quy chiếu trạng thái hiện hành, không thể ghi lùi</a:t>
            </a:r>
            <a:endParaRPr lang="en-US" sz="1250" dirty="0"/>
          </a:p>
        </p:txBody>
      </p:sp>
      <p:sp>
        <p:nvSpPr>
          <p:cNvPr id="11" name="Shape 9"/>
          <p:cNvSpPr/>
          <p:nvPr/>
        </p:nvSpPr>
        <p:spPr>
          <a:xfrm>
            <a:off x="8046720" y="3108960"/>
            <a:ext cx="3383280" cy="1600200"/>
          </a:xfrm>
          <a:prstGeom prst="roundRect">
            <a:avLst>
              <a:gd name="adj" fmla="val 3429"/>
            </a:avLst>
          </a:prstGeom>
          <a:solidFill>
            <a:srgbClr val="12303A"/>
          </a:solidFill>
          <a:ln w="12700">
            <a:solidFill>
              <a:srgbClr val="12303A"/>
            </a:solidFill>
            <a:prstDash val="solid"/>
          </a:ln>
        </p:spPr>
      </p:sp>
      <p:sp>
        <p:nvSpPr>
          <p:cNvPr id="12" name="Text 10"/>
          <p:cNvSpPr txBox="1"/>
          <p:nvPr/>
        </p:nvSpPr>
        <p:spPr>
          <a:xfrm>
            <a:off x="8321040" y="3337560"/>
            <a:ext cx="2834640" cy="320040"/>
          </a:xfrm>
          <a:prstGeom prst="rect">
            <a:avLst/>
          </a:prstGeom>
          <a:noFill/>
          <a:ln/>
        </p:spPr>
        <p:txBody>
          <a:bodyPr wrap="square" lIns="0" tIns="0" rIns="0" bIns="0" rtlCol="0" anchor="ctr"/>
          <a:lstStyle/>
          <a:p>
            <a:pPr indent="0" marL="0">
              <a:lnSpc>
                <a:spcPct val="125000"/>
              </a:lnSpc>
              <a:buNone/>
            </a:pPr>
            <a:r>
              <a:rPr lang="en-US" sz="1500" b="1" dirty="0">
                <a:solidFill>
                  <a:srgbClr val="02C39A"/>
                </a:solidFill>
                <a:latin typeface="Cambria" pitchFamily="34" charset="0"/>
                <a:ea typeface="Cambria" pitchFamily="34" charset="-122"/>
                <a:cs typeface="Cambria" pitchFamily="34" charset="-120"/>
              </a:rPr>
              <a:t>Sự kiện bị mất</a:t>
            </a:r>
            <a:endParaRPr lang="en-US" sz="1500" dirty="0"/>
          </a:p>
        </p:txBody>
      </p:sp>
      <p:sp>
        <p:nvSpPr>
          <p:cNvPr id="13" name="Text 11"/>
          <p:cNvSpPr txBox="1"/>
          <p:nvPr/>
        </p:nvSpPr>
        <p:spPr>
          <a:xfrm>
            <a:off x="8321040" y="3703320"/>
            <a:ext cx="2834640" cy="868680"/>
          </a:xfrm>
          <a:prstGeom prst="rect">
            <a:avLst/>
          </a:prstGeom>
          <a:noFill/>
          <a:ln/>
        </p:spPr>
        <p:txBody>
          <a:bodyPr wrap="square" lIns="0" tIns="0" rIns="0" bIns="0" rtlCol="0" anchor="ctr"/>
          <a:lstStyle/>
          <a:p>
            <a:pPr indent="0" marL="0">
              <a:lnSpc>
                <a:spcPct val="115000"/>
              </a:lnSpc>
              <a:buNone/>
            </a:pPr>
            <a:r>
              <a:rPr lang="en-US" sz="1250" dirty="0">
                <a:solidFill>
                  <a:srgbClr val="A9C3C7"/>
                </a:solidFill>
                <a:latin typeface="Calibri" pitchFamily="34" charset="0"/>
                <a:ea typeface="Calibri" pitchFamily="34" charset="-122"/>
                <a:cs typeface="Calibri" pitchFamily="34" charset="-120"/>
              </a:rPr>
              <a:t>Bất kỳ sự kiện sau nào cũng kéo về đúng</a:t>
            </a:r>
            <a:endParaRPr lang="en-US" sz="1250" dirty="0"/>
          </a:p>
        </p:txBody>
      </p:sp>
      <p:sp>
        <p:nvSpPr>
          <p:cNvPr id="14" name="Shape 12"/>
          <p:cNvSpPr/>
          <p:nvPr/>
        </p:nvSpPr>
        <p:spPr>
          <a:xfrm>
            <a:off x="640080" y="5029200"/>
            <a:ext cx="10881360" cy="1051560"/>
          </a:xfrm>
          <a:prstGeom prst="roundRect">
            <a:avLst>
              <a:gd name="adj" fmla="val 5217"/>
            </a:avLst>
          </a:prstGeom>
          <a:solidFill>
            <a:srgbClr val="02C39A"/>
          </a:solidFill>
          <a:ln w="12700">
            <a:solidFill>
              <a:srgbClr val="02C39A"/>
            </a:solidFill>
            <a:prstDash val="solid"/>
          </a:ln>
        </p:spPr>
      </p:sp>
      <p:sp>
        <p:nvSpPr>
          <p:cNvPr id="15" name="Text 13"/>
          <p:cNvSpPr txBox="1"/>
          <p:nvPr/>
        </p:nvSpPr>
        <p:spPr>
          <a:xfrm>
            <a:off x="1005840" y="5230368"/>
            <a:ext cx="10149840" cy="685800"/>
          </a:xfrm>
          <a:prstGeom prst="rect">
            <a:avLst/>
          </a:prstGeom>
          <a:noFill/>
          <a:ln/>
        </p:spPr>
        <p:txBody>
          <a:bodyPr wrap="square" lIns="0" tIns="0" rIns="0" bIns="0" rtlCol="0" anchor="ctr"/>
          <a:lstStyle/>
          <a:p>
            <a:pPr indent="0" marL="0">
              <a:lnSpc>
                <a:spcPct val="115000"/>
              </a:lnSpc>
              <a:buNone/>
            </a:pPr>
            <a:r>
              <a:rPr lang="en-US" sz="1500" b="1" dirty="0">
                <a:solidFill>
                  <a:srgbClr val="0B2027"/>
                </a:solidFill>
                <a:latin typeface="Calibri" pitchFamily="34" charset="0"/>
                <a:ea typeface="Calibri" pitchFamily="34" charset="-122"/>
                <a:cs typeface="Calibri" pitchFamily="34" charset="-120"/>
              </a:rPr>
              <a:t>Tám yêu cầu tích hợp chỉ cần năm hàm. INT-05 và INT-07 không cần thêm một dòng mã nào — chống trùng trở thành thuộc tính tự nhiên chứ không phải tính năng cài thêm.</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75488"/>
            <a:ext cx="475488" cy="475488"/>
          </a:xfrm>
          <a:prstGeom prst="roundRect">
            <a:avLst>
              <a:gd name="adj" fmla="val 23077"/>
            </a:avLst>
          </a:prstGeom>
          <a:solidFill>
            <a:srgbClr val="028090"/>
          </a:solidFill>
          <a:ln w="12700">
            <a:solidFill>
              <a:srgbClr val="028090"/>
            </a:solidFill>
            <a:prstDash val="solid"/>
          </a:ln>
        </p:spPr>
      </p:sp>
      <p:sp>
        <p:nvSpPr>
          <p:cNvPr id="3" name="Text 1"/>
          <p:cNvSpPr txBox="1"/>
          <p:nvPr/>
        </p:nvSpPr>
        <p:spPr>
          <a:xfrm>
            <a:off x="640080" y="475488"/>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4" name="Text 2"/>
          <p:cNvSpPr txBox="1"/>
          <p:nvPr/>
        </p:nvSpPr>
        <p:spPr>
          <a:xfrm>
            <a:off x="1298448" y="457200"/>
            <a:ext cx="8686800" cy="256032"/>
          </a:xfrm>
          <a:prstGeom prst="rect">
            <a:avLst/>
          </a:prstGeom>
          <a:noFill/>
          <a:ln/>
        </p:spPr>
        <p:txBody>
          <a:bodyPr wrap="square" lIns="0" tIns="0" rIns="0" bIns="0" rtlCol="0" anchor="ctr"/>
          <a:lstStyle/>
          <a:p>
            <a:pPr indent="0" marL="0">
              <a:buNone/>
            </a:pPr>
            <a:r>
              <a:rPr lang="en-US" sz="1100" b="1" spc="160" kern="0" dirty="0">
                <a:solidFill>
                  <a:srgbClr val="02C39A"/>
                </a:solidFill>
                <a:latin typeface="Calibri" pitchFamily="34" charset="0"/>
                <a:ea typeface="Calibri" pitchFamily="34" charset="-122"/>
                <a:cs typeface="Calibri" pitchFamily="34" charset="-120"/>
              </a:rPr>
              <a:t>SO SÁNH</a:t>
            </a:r>
            <a:endParaRPr lang="en-US" sz="1100" dirty="0"/>
          </a:p>
        </p:txBody>
      </p:sp>
      <p:sp>
        <p:nvSpPr>
          <p:cNvPr id="5" name="Text 3"/>
          <p:cNvSpPr txBox="1"/>
          <p:nvPr/>
        </p:nvSpPr>
        <p:spPr>
          <a:xfrm>
            <a:off x="1298448" y="694944"/>
            <a:ext cx="10424160" cy="566928"/>
          </a:xfrm>
          <a:prstGeom prst="rect">
            <a:avLst/>
          </a:prstGeom>
          <a:noFill/>
          <a:ln/>
        </p:spPr>
        <p:txBody>
          <a:bodyPr wrap="square" lIns="0" tIns="0" rIns="0" bIns="0" rtlCol="0" anchor="ctr"/>
          <a:lstStyle/>
          <a:p>
            <a:pPr indent="0" marL="0">
              <a:buNone/>
            </a:pPr>
            <a:r>
              <a:rPr lang="en-US" sz="3000" b="1" dirty="0">
                <a:solidFill>
                  <a:srgbClr val="0B2027"/>
                </a:solidFill>
                <a:latin typeface="Cambria" pitchFamily="34" charset="0"/>
                <a:ea typeface="Cambria" pitchFamily="34" charset="-122"/>
                <a:cs typeface="Cambria" pitchFamily="34" charset="-120"/>
              </a:rPr>
              <a:t>Cái giá của mỗi hướng thiết kế</a:t>
            </a:r>
            <a:endParaRPr lang="en-US" sz="3000" dirty="0"/>
          </a:p>
        </p:txBody>
      </p:sp>
      <p:sp>
        <p:nvSpPr>
          <p:cNvPr id="6" name="Shape 4"/>
          <p:cNvSpPr/>
          <p:nvPr/>
        </p:nvSpPr>
        <p:spPr>
          <a:xfrm>
            <a:off x="640080" y="1600200"/>
            <a:ext cx="5257800" cy="3200400"/>
          </a:xfrm>
          <a:prstGeom prst="roundRect">
            <a:avLst>
              <a:gd name="adj" fmla="val 1714"/>
            </a:avLst>
          </a:prstGeom>
          <a:solidFill>
            <a:srgbClr val="F2F6F6"/>
          </a:solidFill>
          <a:ln w="12700">
            <a:solidFill>
              <a:srgbClr val="F2F6F6"/>
            </a:solidFill>
            <a:prstDash val="solid"/>
          </a:ln>
        </p:spPr>
      </p:sp>
      <p:sp>
        <p:nvSpPr>
          <p:cNvPr id="7" name="Text 5"/>
          <p:cNvSpPr txBox="1"/>
          <p:nvPr/>
        </p:nvSpPr>
        <p:spPr>
          <a:xfrm>
            <a:off x="960120" y="1874520"/>
            <a:ext cx="4572000" cy="365760"/>
          </a:xfrm>
          <a:prstGeom prst="rect">
            <a:avLst/>
          </a:prstGeom>
          <a:noFill/>
          <a:ln/>
        </p:spPr>
        <p:txBody>
          <a:bodyPr wrap="square" lIns="0" tIns="0" rIns="0" bIns="0" rtlCol="0" anchor="ctr"/>
          <a:lstStyle/>
          <a:p>
            <a:pPr indent="0" marL="0">
              <a:lnSpc>
                <a:spcPct val="125000"/>
              </a:lnSpc>
              <a:buNone/>
            </a:pPr>
            <a:r>
              <a:rPr lang="en-US" sz="1700" b="1" dirty="0">
                <a:solidFill>
                  <a:srgbClr val="5A6B70"/>
                </a:solidFill>
                <a:latin typeface="Cambria" pitchFamily="34" charset="0"/>
                <a:ea typeface="Cambria" pitchFamily="34" charset="-122"/>
                <a:cs typeface="Cambria" pitchFamily="34" charset="-120"/>
              </a:rPr>
              <a:t>Xử lý theo loại sự kiện</a:t>
            </a:r>
            <a:endParaRPr lang="en-US" sz="1700" dirty="0"/>
          </a:p>
        </p:txBody>
      </p:sp>
      <p:sp>
        <p:nvSpPr>
          <p:cNvPr id="8" name="Text 6"/>
          <p:cNvSpPr txBox="1"/>
          <p:nvPr/>
        </p:nvSpPr>
        <p:spPr>
          <a:xfrm>
            <a:off x="960120" y="2377440"/>
            <a:ext cx="4617720" cy="2194560"/>
          </a:xfrm>
          <a:prstGeom prst="rect">
            <a:avLst/>
          </a:prstGeom>
          <a:noFill/>
          <a:ln/>
        </p:spPr>
        <p:txBody>
          <a:bodyPr wrap="square" lIns="0" tIns="0" rIns="0" bIns="0" rtlCol="0" anchor="ctr"/>
          <a:lstStyle/>
          <a:p>
            <a:pPr marL="342900" indent="-342900">
              <a:lnSpc>
                <a:spcPct val="115000"/>
              </a:lnSpc>
              <a:spcAft>
                <a:spcPts val="800"/>
              </a:spcAft>
              <a:buSzPct val="100000"/>
              <a:buChar char="•"/>
            </a:pPr>
            <a:r>
              <a:rPr lang="en-US" sz="1300" dirty="0">
                <a:solidFill>
                  <a:srgbClr val="0B2027"/>
                </a:solidFill>
                <a:latin typeface="Calibri" pitchFamily="34" charset="0"/>
                <a:ea typeface="Calibri" pitchFamily="34" charset="-122"/>
                <a:cs typeface="Calibri" pitchFamily="34" charset="-120"/>
              </a:rPr>
              <a:t>Sự kiện trùng: phải có bảng ghi nhận đã xử lý</a:t>
            </a:r>
            <a:endParaRPr lang="en-US" sz="1300" dirty="0"/>
          </a:p>
          <a:p>
            <a:pPr marL="342900" indent="-342900">
              <a:lnSpc>
                <a:spcPct val="115000"/>
              </a:lnSpc>
              <a:spcAft>
                <a:spcPts val="800"/>
              </a:spcAft>
              <a:buSzPct val="100000"/>
              <a:buChar char="•"/>
            </a:pPr>
            <a:r>
              <a:rPr lang="en-US" sz="1300" dirty="0">
                <a:solidFill>
                  <a:srgbClr val="0B2027"/>
                </a:solidFill>
                <a:latin typeface="Calibri" pitchFamily="34" charset="0"/>
                <a:ea typeface="Calibri" pitchFamily="34" charset="-122"/>
                <a:cs typeface="Calibri" pitchFamily="34" charset="-120"/>
              </a:rPr>
              <a:t>Sai thứ tự: phải so mốc thời gian</a:t>
            </a:r>
            <a:endParaRPr lang="en-US" sz="1300" dirty="0"/>
          </a:p>
          <a:p>
            <a:pPr marL="342900" indent="-342900">
              <a:lnSpc>
                <a:spcPct val="115000"/>
              </a:lnSpc>
              <a:spcAft>
                <a:spcPts val="800"/>
              </a:spcAft>
              <a:buSzPct val="100000"/>
              <a:buChar char="•"/>
            </a:pPr>
            <a:r>
              <a:rPr lang="en-US" sz="1300" dirty="0">
                <a:solidFill>
                  <a:srgbClr val="0B2027"/>
                </a:solidFill>
                <a:latin typeface="Calibri" pitchFamily="34" charset="0"/>
                <a:ea typeface="Calibri" pitchFamily="34" charset="-122"/>
                <a:cs typeface="Calibri" pitchFamily="34" charset="-120"/>
              </a:rPr>
              <a:t>Sự kiện mất: trạng thái đích sai vĩnh viễn</a:t>
            </a:r>
            <a:endParaRPr lang="en-US" sz="1300" dirty="0"/>
          </a:p>
          <a:p>
            <a:pPr marL="342900" indent="-342900">
              <a:lnSpc>
                <a:spcPct val="115000"/>
              </a:lnSpc>
              <a:spcAft>
                <a:spcPts val="800"/>
              </a:spcAft>
              <a:buSzPct val="100000"/>
              <a:buChar char="•"/>
            </a:pPr>
            <a:r>
              <a:rPr lang="en-US" sz="1300" dirty="0">
                <a:solidFill>
                  <a:srgbClr val="0B2027"/>
                </a:solidFill>
                <a:latin typeface="Calibri" pitchFamily="34" charset="0"/>
                <a:ea typeface="Calibri" pitchFamily="34" charset="-122"/>
                <a:cs typeface="Calibri" pitchFamily="34" charset="-120"/>
              </a:rPr>
              <a:t>Thêm loại mới: viết thêm bộ xử lý</a:t>
            </a:r>
            <a:endParaRPr lang="en-US" sz="1300" dirty="0"/>
          </a:p>
        </p:txBody>
      </p:sp>
      <p:sp>
        <p:nvSpPr>
          <p:cNvPr id="9" name="Shape 7"/>
          <p:cNvSpPr/>
          <p:nvPr/>
        </p:nvSpPr>
        <p:spPr>
          <a:xfrm>
            <a:off x="6263640" y="1600200"/>
            <a:ext cx="5257800" cy="3200400"/>
          </a:xfrm>
          <a:prstGeom prst="roundRect">
            <a:avLst>
              <a:gd name="adj" fmla="val 1714"/>
            </a:avLst>
          </a:prstGeom>
          <a:solidFill>
            <a:srgbClr val="E7F5F2"/>
          </a:solidFill>
          <a:ln w="12700">
            <a:solidFill>
              <a:srgbClr val="E7F5F2"/>
            </a:solidFill>
            <a:prstDash val="solid"/>
          </a:ln>
        </p:spPr>
      </p:sp>
      <p:sp>
        <p:nvSpPr>
          <p:cNvPr id="10" name="Text 8"/>
          <p:cNvSpPr txBox="1"/>
          <p:nvPr/>
        </p:nvSpPr>
        <p:spPr>
          <a:xfrm>
            <a:off x="6583680" y="1874520"/>
            <a:ext cx="4572000" cy="365760"/>
          </a:xfrm>
          <a:prstGeom prst="rect">
            <a:avLst/>
          </a:prstGeom>
          <a:noFill/>
          <a:ln/>
        </p:spPr>
        <p:txBody>
          <a:bodyPr wrap="square" lIns="0" tIns="0" rIns="0" bIns="0" rtlCol="0" anchor="ctr"/>
          <a:lstStyle/>
          <a:p>
            <a:pPr indent="0" marL="0">
              <a:lnSpc>
                <a:spcPct val="125000"/>
              </a:lnSpc>
              <a:buNone/>
            </a:pPr>
            <a:r>
              <a:rPr lang="en-US" sz="1700" b="1" dirty="0">
                <a:solidFill>
                  <a:srgbClr val="028090"/>
                </a:solidFill>
                <a:latin typeface="Cambria" pitchFamily="34" charset="0"/>
                <a:ea typeface="Cambria" pitchFamily="34" charset="-122"/>
                <a:cs typeface="Cambria" pitchFamily="34" charset="-120"/>
              </a:rPr>
              <a:t>Hội tụ trạng thái</a:t>
            </a:r>
            <a:endParaRPr lang="en-US" sz="1700" dirty="0"/>
          </a:p>
        </p:txBody>
      </p:sp>
      <p:sp>
        <p:nvSpPr>
          <p:cNvPr id="11" name="Text 9"/>
          <p:cNvSpPr txBox="1"/>
          <p:nvPr/>
        </p:nvSpPr>
        <p:spPr>
          <a:xfrm>
            <a:off x="6583680" y="2377440"/>
            <a:ext cx="4617720" cy="2194560"/>
          </a:xfrm>
          <a:prstGeom prst="rect">
            <a:avLst/>
          </a:prstGeom>
          <a:noFill/>
          <a:ln/>
        </p:spPr>
        <p:txBody>
          <a:bodyPr wrap="square" lIns="0" tIns="0" rIns="0" bIns="0" rtlCol="0" anchor="ctr"/>
          <a:lstStyle/>
          <a:p>
            <a:pPr marL="342900" indent="-342900">
              <a:lnSpc>
                <a:spcPct val="115000"/>
              </a:lnSpc>
              <a:spcAft>
                <a:spcPts val="800"/>
              </a:spcAft>
              <a:buSzPct val="100000"/>
              <a:buChar char="•"/>
            </a:pPr>
            <a:r>
              <a:rPr lang="en-US" sz="1300" dirty="0">
                <a:solidFill>
                  <a:srgbClr val="0B2027"/>
                </a:solidFill>
                <a:latin typeface="Calibri" pitchFamily="34" charset="0"/>
                <a:ea typeface="Calibri" pitchFamily="34" charset="-122"/>
                <a:cs typeface="Calibri" pitchFamily="34" charset="-120"/>
              </a:rPr>
              <a:t>Chênh lệch bằng không nên không làm gì</a:t>
            </a:r>
            <a:endParaRPr lang="en-US" sz="1300" dirty="0"/>
          </a:p>
          <a:p>
            <a:pPr marL="342900" indent="-342900">
              <a:lnSpc>
                <a:spcPct val="115000"/>
              </a:lnSpc>
              <a:spcAft>
                <a:spcPts val="800"/>
              </a:spcAft>
              <a:buSzPct val="100000"/>
              <a:buChar char="•"/>
            </a:pPr>
            <a:r>
              <a:rPr lang="en-US" sz="1300" dirty="0">
                <a:solidFill>
                  <a:srgbClr val="0B2027"/>
                </a:solidFill>
                <a:latin typeface="Calibri" pitchFamily="34" charset="0"/>
                <a:ea typeface="Calibri" pitchFamily="34" charset="-122"/>
                <a:cs typeface="Calibri" pitchFamily="34" charset="-120"/>
              </a:rPr>
              <a:t>Đọc trạng thái hiện hành nên không ghi lùi</a:t>
            </a:r>
            <a:endParaRPr lang="en-US" sz="1300" dirty="0"/>
          </a:p>
          <a:p>
            <a:pPr marL="342900" indent="-342900">
              <a:lnSpc>
                <a:spcPct val="115000"/>
              </a:lnSpc>
              <a:spcAft>
                <a:spcPts val="800"/>
              </a:spcAft>
              <a:buSzPct val="100000"/>
              <a:buChar char="•"/>
            </a:pPr>
            <a:r>
              <a:rPr lang="en-US" sz="1300" dirty="0">
                <a:solidFill>
                  <a:srgbClr val="0B2027"/>
                </a:solidFill>
                <a:latin typeface="Calibri" pitchFamily="34" charset="0"/>
                <a:ea typeface="Calibri" pitchFamily="34" charset="-122"/>
                <a:cs typeface="Calibri" pitchFamily="34" charset="-120"/>
              </a:rPr>
              <a:t>Sự kiện sau kéo về đúng</a:t>
            </a:r>
            <a:endParaRPr lang="en-US" sz="1300" dirty="0"/>
          </a:p>
          <a:p>
            <a:pPr marL="342900" indent="-342900">
              <a:lnSpc>
                <a:spcPct val="115000"/>
              </a:lnSpc>
              <a:spcAft>
                <a:spcPts val="800"/>
              </a:spcAft>
              <a:buSzPct val="100000"/>
              <a:buChar char="•"/>
            </a:pPr>
            <a:r>
              <a:rPr lang="en-US" sz="1300" dirty="0">
                <a:solidFill>
                  <a:srgbClr val="0B2027"/>
                </a:solidFill>
                <a:latin typeface="Calibri" pitchFamily="34" charset="0"/>
                <a:ea typeface="Calibri" pitchFamily="34" charset="-122"/>
                <a:cs typeface="Calibri" pitchFamily="34" charset="-120"/>
              </a:rPr>
              <a:t>Thường chỉ khai báo thêm loại được hỗ trợ</a:t>
            </a:r>
            <a:endParaRPr lang="en-US" sz="1300" dirty="0"/>
          </a:p>
        </p:txBody>
      </p:sp>
      <p:sp>
        <p:nvSpPr>
          <p:cNvPr id="12" name="Text 10"/>
          <p:cNvSpPr txBox="1"/>
          <p:nvPr/>
        </p:nvSpPr>
        <p:spPr>
          <a:xfrm>
            <a:off x="640080" y="5074920"/>
            <a:ext cx="10881360" cy="868680"/>
          </a:xfrm>
          <a:prstGeom prst="rect">
            <a:avLst/>
          </a:prstGeom>
          <a:noFill/>
          <a:ln/>
        </p:spPr>
        <p:txBody>
          <a:bodyPr wrap="square" lIns="0" tIns="0" rIns="0" bIns="0" rtlCol="0" anchor="ctr"/>
          <a:lstStyle/>
          <a:p>
            <a:pPr indent="0" marL="0">
              <a:lnSpc>
                <a:spcPct val="125000"/>
              </a:lnSpc>
              <a:buNone/>
            </a:pPr>
            <a:r>
              <a:rPr lang="en-US" sz="1500" dirty="0">
                <a:solidFill>
                  <a:srgbClr val="5A6B70"/>
                </a:solidFill>
                <a:latin typeface="Calibri" pitchFamily="34" charset="0"/>
                <a:ea typeface="Calibri" pitchFamily="34" charset="-122"/>
                <a:cs typeface="Calibri" pitchFamily="34" charset="-120"/>
              </a:rPr>
              <a:t>Cái giá phải trả: mỗi lượt tốn thêm một lượt đọc trạng thái đích. Được bù lại bằng cơ chế dùng dữ liệu trong payload làm trạng thái mong muốn khi sự kiện còn mới.</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75488"/>
            <a:ext cx="475488" cy="475488"/>
          </a:xfrm>
          <a:prstGeom prst="roundRect">
            <a:avLst>
              <a:gd name="adj" fmla="val 23077"/>
            </a:avLst>
          </a:prstGeom>
          <a:solidFill>
            <a:srgbClr val="028090"/>
          </a:solidFill>
          <a:ln w="12700">
            <a:solidFill>
              <a:srgbClr val="028090"/>
            </a:solidFill>
            <a:prstDash val="solid"/>
          </a:ln>
        </p:spPr>
      </p:sp>
      <p:sp>
        <p:nvSpPr>
          <p:cNvPr id="3" name="Text 1"/>
          <p:cNvSpPr txBox="1"/>
          <p:nvPr/>
        </p:nvSpPr>
        <p:spPr>
          <a:xfrm>
            <a:off x="640080" y="475488"/>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4</a:t>
            </a:r>
            <a:endParaRPr lang="en-US" sz="1700" dirty="0"/>
          </a:p>
        </p:txBody>
      </p:sp>
      <p:sp>
        <p:nvSpPr>
          <p:cNvPr id="4" name="Text 2"/>
          <p:cNvSpPr txBox="1"/>
          <p:nvPr/>
        </p:nvSpPr>
        <p:spPr>
          <a:xfrm>
            <a:off x="1298448" y="457200"/>
            <a:ext cx="8686800" cy="256032"/>
          </a:xfrm>
          <a:prstGeom prst="rect">
            <a:avLst/>
          </a:prstGeom>
          <a:noFill/>
          <a:ln/>
        </p:spPr>
        <p:txBody>
          <a:bodyPr wrap="square" lIns="0" tIns="0" rIns="0" bIns="0" rtlCol="0" anchor="ctr"/>
          <a:lstStyle/>
          <a:p>
            <a:pPr indent="0" marL="0">
              <a:buNone/>
            </a:pPr>
            <a:r>
              <a:rPr lang="en-US" sz="1100" b="1" spc="160" kern="0" dirty="0">
                <a:solidFill>
                  <a:srgbClr val="02C39A"/>
                </a:solidFill>
                <a:latin typeface="Calibri" pitchFamily="34" charset="0"/>
                <a:ea typeface="Calibri" pitchFamily="34" charset="-122"/>
                <a:cs typeface="Calibri" pitchFamily="34" charset="-120"/>
              </a:rPr>
              <a:t>KIẾN TRÚC TỔNG THỂ</a:t>
            </a:r>
            <a:endParaRPr lang="en-US" sz="1100" dirty="0"/>
          </a:p>
        </p:txBody>
      </p:sp>
      <p:sp>
        <p:nvSpPr>
          <p:cNvPr id="5" name="Text 3"/>
          <p:cNvSpPr txBox="1"/>
          <p:nvPr/>
        </p:nvSpPr>
        <p:spPr>
          <a:xfrm>
            <a:off x="1298448" y="694944"/>
            <a:ext cx="10424160" cy="566928"/>
          </a:xfrm>
          <a:prstGeom prst="rect">
            <a:avLst/>
          </a:prstGeom>
          <a:noFill/>
          <a:ln/>
        </p:spPr>
        <p:txBody>
          <a:bodyPr wrap="square" lIns="0" tIns="0" rIns="0" bIns="0" rtlCol="0" anchor="ctr"/>
          <a:lstStyle/>
          <a:p>
            <a:pPr indent="0" marL="0">
              <a:buNone/>
            </a:pPr>
            <a:r>
              <a:rPr lang="en-US" sz="3000" b="1" dirty="0">
                <a:solidFill>
                  <a:srgbClr val="0B2027"/>
                </a:solidFill>
                <a:latin typeface="Cambria" pitchFamily="34" charset="0"/>
                <a:ea typeface="Cambria" pitchFamily="34" charset="-122"/>
                <a:cs typeface="Cambria" pitchFamily="34" charset="-120"/>
              </a:rPr>
              <a:t>Ba nguồn kích hoạt, một bảng inbox duy nhất</a:t>
            </a:r>
            <a:endParaRPr lang="en-US" sz="3000" dirty="0"/>
          </a:p>
        </p:txBody>
      </p:sp>
      <p:pic>
        <p:nvPicPr>
          <p:cNvPr id="6" name="Image 0" descr="C:/Users/ADMIN/IdeaProjects/uni-integration-service/docs/diagrams/hinh-1-kien-truc.png">    </p:cNvPr>
          <p:cNvPicPr>
            <a:picLocks noChangeAspect="1"/>
          </p:cNvPicPr>
          <p:nvPr/>
        </p:nvPicPr>
        <p:blipFill>
          <a:blip r:embed="rId1"/>
          <a:stretch>
            <a:fillRect/>
          </a:stretch>
        </p:blipFill>
        <p:spPr>
          <a:xfrm>
            <a:off x="5806440" y="1463040"/>
            <a:ext cx="5623560" cy="5020056"/>
          </a:xfrm>
          <a:prstGeom prst="rect">
            <a:avLst/>
          </a:prstGeom>
        </p:spPr>
      </p:pic>
      <p:sp>
        <p:nvSpPr>
          <p:cNvPr id="7" name="Text 4"/>
          <p:cNvSpPr txBox="1"/>
          <p:nvPr/>
        </p:nvSpPr>
        <p:spPr>
          <a:xfrm>
            <a:off x="640080" y="1600200"/>
            <a:ext cx="4846320" cy="1051560"/>
          </a:xfrm>
          <a:prstGeom prst="rect">
            <a:avLst/>
          </a:prstGeom>
          <a:noFill/>
          <a:ln/>
        </p:spPr>
        <p:txBody>
          <a:bodyPr wrap="square" lIns="0" tIns="0" rIns="0" bIns="0" rtlCol="0" anchor="ctr"/>
          <a:lstStyle/>
          <a:p>
            <a:pPr indent="0" marL="0">
              <a:lnSpc>
                <a:spcPct val="125000"/>
              </a:lnSpc>
              <a:buNone/>
            </a:pPr>
            <a:r>
              <a:rPr lang="en-US" sz="1500" dirty="0">
                <a:solidFill>
                  <a:srgbClr val="0B2027"/>
                </a:solidFill>
                <a:latin typeface="Calibri" pitchFamily="34" charset="0"/>
                <a:ea typeface="Calibri" pitchFamily="34" charset="-122"/>
                <a:cs typeface="Calibri" pitchFamily="34" charset="-120"/>
              </a:rPr>
              <a:t>Ba nguồn ở cột trái không hề gọi API đích. Chúng chỉ ghi vào bảng inbox — đó là điều kiện để bộ nhận webhook trả lời dưới 50 mili giây.</a:t>
            </a:r>
            <a:endParaRPr lang="en-US" sz="1500" dirty="0"/>
          </a:p>
        </p:txBody>
      </p:sp>
      <p:sp>
        <p:nvSpPr>
          <p:cNvPr id="8" name="Shape 5"/>
          <p:cNvSpPr/>
          <p:nvPr/>
        </p:nvSpPr>
        <p:spPr>
          <a:xfrm>
            <a:off x="640080" y="2880360"/>
            <a:ext cx="4846320" cy="914400"/>
          </a:xfrm>
          <a:prstGeom prst="roundRect">
            <a:avLst>
              <a:gd name="adj" fmla="val 6000"/>
            </a:avLst>
          </a:prstGeom>
          <a:solidFill>
            <a:srgbClr val="F2F6F6"/>
          </a:solidFill>
          <a:ln w="12700">
            <a:solidFill>
              <a:srgbClr val="F2F6F6"/>
            </a:solidFill>
            <a:prstDash val="solid"/>
          </a:ln>
        </p:spPr>
      </p:sp>
      <p:sp>
        <p:nvSpPr>
          <p:cNvPr id="9" name="Text 6"/>
          <p:cNvSpPr txBox="1"/>
          <p:nvPr/>
        </p:nvSpPr>
        <p:spPr>
          <a:xfrm>
            <a:off x="896112" y="3008376"/>
            <a:ext cx="4297680" cy="274320"/>
          </a:xfrm>
          <a:prstGeom prst="rect">
            <a:avLst/>
          </a:prstGeom>
          <a:noFill/>
          <a:ln/>
        </p:spPr>
        <p:txBody>
          <a:bodyPr wrap="square" lIns="0" tIns="0" rIns="0" bIns="0" rtlCol="0" anchor="ctr"/>
          <a:lstStyle/>
          <a:p>
            <a:pPr indent="0" marL="0">
              <a:lnSpc>
                <a:spcPct val="125000"/>
              </a:lnSpc>
              <a:buNone/>
            </a:pPr>
            <a:r>
              <a:rPr lang="en-US" sz="1350" b="1" dirty="0">
                <a:solidFill>
                  <a:srgbClr val="028090"/>
                </a:solidFill>
                <a:latin typeface="Calibri" pitchFamily="34" charset="0"/>
                <a:ea typeface="Calibri" pitchFamily="34" charset="-122"/>
                <a:cs typeface="Calibri" pitchFamily="34" charset="-120"/>
              </a:rPr>
              <a:t>Một đường ghi duy nhất</a:t>
            </a:r>
            <a:endParaRPr lang="en-US" sz="1350" dirty="0"/>
          </a:p>
        </p:txBody>
      </p:sp>
      <p:sp>
        <p:nvSpPr>
          <p:cNvPr id="10" name="Text 7"/>
          <p:cNvSpPr txBox="1"/>
          <p:nvPr/>
        </p:nvSpPr>
        <p:spPr>
          <a:xfrm>
            <a:off x="896112" y="3319272"/>
            <a:ext cx="4297680" cy="411480"/>
          </a:xfrm>
          <a:prstGeom prst="rect">
            <a:avLst/>
          </a:prstGeom>
          <a:noFill/>
          <a:ln/>
        </p:spPr>
        <p:txBody>
          <a:bodyPr wrap="square" lIns="0" tIns="0" rIns="0" bIns="0" rtlCol="0" anchor="ctr"/>
          <a:lstStyle/>
          <a:p>
            <a:pPr indent="0" marL="0">
              <a:lnSpc>
                <a:spcPct val="110000"/>
              </a:lnSpc>
              <a:buNone/>
            </a:pPr>
            <a:r>
              <a:rPr lang="en-US" sz="1200" dirty="0">
                <a:solidFill>
                  <a:srgbClr val="5A6B70"/>
                </a:solidFill>
                <a:latin typeface="Calibri" pitchFamily="34" charset="0"/>
                <a:ea typeface="Calibri" pitchFamily="34" charset="-122"/>
                <a:cs typeface="Calibri" pitchFamily="34" charset="-120"/>
              </a:rPr>
              <a:t>Toàn bộ việc ghi sang hai hệ thống nguồn đi qua một lớp gọi API</a:t>
            </a:r>
            <a:endParaRPr lang="en-US" sz="1200" dirty="0"/>
          </a:p>
        </p:txBody>
      </p:sp>
      <p:sp>
        <p:nvSpPr>
          <p:cNvPr id="11" name="Shape 8"/>
          <p:cNvSpPr/>
          <p:nvPr/>
        </p:nvSpPr>
        <p:spPr>
          <a:xfrm>
            <a:off x="640080" y="3931920"/>
            <a:ext cx="4846320" cy="914400"/>
          </a:xfrm>
          <a:prstGeom prst="roundRect">
            <a:avLst>
              <a:gd name="adj" fmla="val 6000"/>
            </a:avLst>
          </a:prstGeom>
          <a:solidFill>
            <a:srgbClr val="F2F6F6"/>
          </a:solidFill>
          <a:ln w="12700">
            <a:solidFill>
              <a:srgbClr val="F2F6F6"/>
            </a:solidFill>
            <a:prstDash val="solid"/>
          </a:ln>
        </p:spPr>
      </p:sp>
      <p:sp>
        <p:nvSpPr>
          <p:cNvPr id="12" name="Text 9"/>
          <p:cNvSpPr txBox="1"/>
          <p:nvPr/>
        </p:nvSpPr>
        <p:spPr>
          <a:xfrm>
            <a:off x="896112" y="4059936"/>
            <a:ext cx="4297680" cy="274320"/>
          </a:xfrm>
          <a:prstGeom prst="rect">
            <a:avLst/>
          </a:prstGeom>
          <a:noFill/>
          <a:ln/>
        </p:spPr>
        <p:txBody>
          <a:bodyPr wrap="square" lIns="0" tIns="0" rIns="0" bIns="0" rtlCol="0" anchor="ctr"/>
          <a:lstStyle/>
          <a:p>
            <a:pPr indent="0" marL="0">
              <a:lnSpc>
                <a:spcPct val="125000"/>
              </a:lnSpc>
              <a:buNone/>
            </a:pPr>
            <a:r>
              <a:rPr lang="en-US" sz="1350" b="1" dirty="0">
                <a:solidFill>
                  <a:srgbClr val="028090"/>
                </a:solidFill>
                <a:latin typeface="Calibri" pitchFamily="34" charset="0"/>
                <a:ea typeface="Calibri" pitchFamily="34" charset="-122"/>
                <a:cs typeface="Calibri" pitchFamily="34" charset="-120"/>
              </a:rPr>
              <a:t>Nên chỉ cài một lần</a:t>
            </a:r>
            <a:endParaRPr lang="en-US" sz="1350" dirty="0"/>
          </a:p>
        </p:txBody>
      </p:sp>
      <p:sp>
        <p:nvSpPr>
          <p:cNvPr id="13" name="Text 10"/>
          <p:cNvSpPr txBox="1"/>
          <p:nvPr/>
        </p:nvSpPr>
        <p:spPr>
          <a:xfrm>
            <a:off x="896112" y="4370832"/>
            <a:ext cx="4297680" cy="411480"/>
          </a:xfrm>
          <a:prstGeom prst="rect">
            <a:avLst/>
          </a:prstGeom>
          <a:noFill/>
          <a:ln/>
        </p:spPr>
        <p:txBody>
          <a:bodyPr wrap="square" lIns="0" tIns="0" rIns="0" bIns="0" rtlCol="0" anchor="ctr"/>
          <a:lstStyle/>
          <a:p>
            <a:pPr indent="0" marL="0">
              <a:lnSpc>
                <a:spcPct val="110000"/>
              </a:lnSpc>
              <a:buNone/>
            </a:pPr>
            <a:r>
              <a:rPr lang="en-US" sz="1200" dirty="0">
                <a:solidFill>
                  <a:srgbClr val="5A6B70"/>
                </a:solidFill>
                <a:latin typeface="Calibri" pitchFamily="34" charset="0"/>
                <a:ea typeface="Calibri" pitchFamily="34" charset="-122"/>
                <a:cs typeface="Calibri" pitchFamily="34" charset="-120"/>
              </a:rPr>
              <a:t>Giới hạn tần suất, làm mới token và phân loại lỗi chỉ nằm ở một chỗ</a:t>
            </a:r>
            <a:endParaRPr lang="en-US" sz="1200" dirty="0"/>
          </a:p>
        </p:txBody>
      </p:sp>
      <p:sp>
        <p:nvSpPr>
          <p:cNvPr id="14" name="Shape 11"/>
          <p:cNvSpPr/>
          <p:nvPr/>
        </p:nvSpPr>
        <p:spPr>
          <a:xfrm>
            <a:off x="640080" y="4983480"/>
            <a:ext cx="4846320" cy="914400"/>
          </a:xfrm>
          <a:prstGeom prst="roundRect">
            <a:avLst>
              <a:gd name="adj" fmla="val 6000"/>
            </a:avLst>
          </a:prstGeom>
          <a:solidFill>
            <a:srgbClr val="F2F6F6"/>
          </a:solidFill>
          <a:ln w="12700">
            <a:solidFill>
              <a:srgbClr val="F2F6F6"/>
            </a:solidFill>
            <a:prstDash val="solid"/>
          </a:ln>
        </p:spPr>
      </p:sp>
      <p:sp>
        <p:nvSpPr>
          <p:cNvPr id="15" name="Text 12"/>
          <p:cNvSpPr txBox="1"/>
          <p:nvPr/>
        </p:nvSpPr>
        <p:spPr>
          <a:xfrm>
            <a:off x="896112" y="5111496"/>
            <a:ext cx="4297680" cy="274320"/>
          </a:xfrm>
          <a:prstGeom prst="rect">
            <a:avLst/>
          </a:prstGeom>
          <a:noFill/>
          <a:ln/>
        </p:spPr>
        <p:txBody>
          <a:bodyPr wrap="square" lIns="0" tIns="0" rIns="0" bIns="0" rtlCol="0" anchor="ctr"/>
          <a:lstStyle/>
          <a:p>
            <a:pPr indent="0" marL="0">
              <a:lnSpc>
                <a:spcPct val="125000"/>
              </a:lnSpc>
              <a:buNone/>
            </a:pPr>
            <a:r>
              <a:rPr lang="en-US" sz="1350" b="1" dirty="0">
                <a:solidFill>
                  <a:srgbClr val="028090"/>
                </a:solidFill>
                <a:latin typeface="Calibri" pitchFamily="34" charset="0"/>
                <a:ea typeface="Calibri" pitchFamily="34" charset="-122"/>
                <a:cs typeface="Calibri" pitchFamily="34" charset="-120"/>
              </a:rPr>
              <a:t>Năm hàm hội tụ</a:t>
            </a:r>
            <a:endParaRPr lang="en-US" sz="1350" dirty="0"/>
          </a:p>
        </p:txBody>
      </p:sp>
      <p:sp>
        <p:nvSpPr>
          <p:cNvPr id="16" name="Text 13"/>
          <p:cNvSpPr txBox="1"/>
          <p:nvPr/>
        </p:nvSpPr>
        <p:spPr>
          <a:xfrm>
            <a:off x="896112" y="5422392"/>
            <a:ext cx="4297680" cy="411480"/>
          </a:xfrm>
          <a:prstGeom prst="rect">
            <a:avLst/>
          </a:prstGeom>
          <a:noFill/>
          <a:ln/>
        </p:spPr>
        <p:txBody>
          <a:bodyPr wrap="square" lIns="0" tIns="0" rIns="0" bIns="0" rtlCol="0" anchor="ctr"/>
          <a:lstStyle/>
          <a:p>
            <a:pPr indent="0" marL="0">
              <a:lnSpc>
                <a:spcPct val="110000"/>
              </a:lnSpc>
              <a:buNone/>
            </a:pPr>
            <a:r>
              <a:rPr lang="en-US" sz="1200" dirty="0">
                <a:solidFill>
                  <a:srgbClr val="5A6B70"/>
                </a:solidFill>
                <a:latin typeface="Calibri" pitchFamily="34" charset="0"/>
                <a:ea typeface="Calibri" pitchFamily="34" charset="-122"/>
                <a:cs typeface="Calibri" pitchFamily="34" charset="-120"/>
              </a:rPr>
              <a:t>ensureUser · ensureCourse · ensureMembership · syncGrade · raiseAdvisingAlert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75488"/>
            <a:ext cx="475488" cy="475488"/>
          </a:xfrm>
          <a:prstGeom prst="roundRect">
            <a:avLst>
              <a:gd name="adj" fmla="val 23077"/>
            </a:avLst>
          </a:prstGeom>
          <a:solidFill>
            <a:srgbClr val="028090"/>
          </a:solidFill>
          <a:ln w="12700">
            <a:solidFill>
              <a:srgbClr val="028090"/>
            </a:solidFill>
            <a:prstDash val="solid"/>
          </a:ln>
        </p:spPr>
      </p:sp>
      <p:sp>
        <p:nvSpPr>
          <p:cNvPr id="3" name="Text 1"/>
          <p:cNvSpPr txBox="1"/>
          <p:nvPr/>
        </p:nvSpPr>
        <p:spPr>
          <a:xfrm>
            <a:off x="640080" y="475488"/>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5</a:t>
            </a:r>
            <a:endParaRPr lang="en-US" sz="1700" dirty="0"/>
          </a:p>
        </p:txBody>
      </p:sp>
      <p:sp>
        <p:nvSpPr>
          <p:cNvPr id="4" name="Text 2"/>
          <p:cNvSpPr txBox="1"/>
          <p:nvPr/>
        </p:nvSpPr>
        <p:spPr>
          <a:xfrm>
            <a:off x="1298448" y="457200"/>
            <a:ext cx="8686800" cy="256032"/>
          </a:xfrm>
          <a:prstGeom prst="rect">
            <a:avLst/>
          </a:prstGeom>
          <a:noFill/>
          <a:ln/>
        </p:spPr>
        <p:txBody>
          <a:bodyPr wrap="square" lIns="0" tIns="0" rIns="0" bIns="0" rtlCol="0" anchor="ctr"/>
          <a:lstStyle/>
          <a:p>
            <a:pPr indent="0" marL="0">
              <a:buNone/>
            </a:pPr>
            <a:r>
              <a:rPr lang="en-US" sz="1100" b="1" spc="160" kern="0" dirty="0">
                <a:solidFill>
                  <a:srgbClr val="02C39A"/>
                </a:solidFill>
                <a:latin typeface="Calibri" pitchFamily="34" charset="0"/>
                <a:ea typeface="Calibri" pitchFamily="34" charset="-122"/>
                <a:cs typeface="Calibri" pitchFamily="34" charset="-120"/>
              </a:rPr>
              <a:t>PHƯƠNG ÁN TÍCH HỢP</a:t>
            </a:r>
            <a:endParaRPr lang="en-US" sz="1100" dirty="0"/>
          </a:p>
        </p:txBody>
      </p:sp>
      <p:sp>
        <p:nvSpPr>
          <p:cNvPr id="5" name="Text 3"/>
          <p:cNvSpPr txBox="1"/>
          <p:nvPr/>
        </p:nvSpPr>
        <p:spPr>
          <a:xfrm>
            <a:off x="1298448" y="694944"/>
            <a:ext cx="10424160" cy="566928"/>
          </a:xfrm>
          <a:prstGeom prst="rect">
            <a:avLst/>
          </a:prstGeom>
          <a:noFill/>
          <a:ln/>
        </p:spPr>
        <p:txBody>
          <a:bodyPr wrap="square" lIns="0" tIns="0" rIns="0" bIns="0" rtlCol="0" anchor="ctr"/>
          <a:lstStyle/>
          <a:p>
            <a:pPr indent="0" marL="0">
              <a:buNone/>
            </a:pPr>
            <a:r>
              <a:rPr lang="en-US" sz="3000" b="1" dirty="0">
                <a:solidFill>
                  <a:srgbClr val="0B2027"/>
                </a:solidFill>
                <a:latin typeface="Cambria" pitchFamily="34" charset="0"/>
                <a:ea typeface="Cambria" pitchFamily="34" charset="-122"/>
                <a:cs typeface="Cambria" pitchFamily="34" charset="-120"/>
              </a:rPr>
              <a:t>Vì sao phải có cả ba lớp</a:t>
            </a:r>
            <a:endParaRPr lang="en-US" sz="3000" dirty="0"/>
          </a:p>
        </p:txBody>
      </p:sp>
      <p:sp>
        <p:nvSpPr>
          <p:cNvPr id="6" name="Shape 4"/>
          <p:cNvSpPr/>
          <p:nvPr/>
        </p:nvSpPr>
        <p:spPr>
          <a:xfrm>
            <a:off x="640080" y="1554480"/>
            <a:ext cx="3383280" cy="3246120"/>
          </a:xfrm>
          <a:prstGeom prst="roundRect">
            <a:avLst>
              <a:gd name="adj" fmla="val 1690"/>
            </a:avLst>
          </a:prstGeom>
          <a:solidFill>
            <a:srgbClr val="F2F6F6"/>
          </a:solidFill>
          <a:ln w="12700">
            <a:solidFill>
              <a:srgbClr val="F2F6F6"/>
            </a:solidFill>
            <a:prstDash val="solid"/>
          </a:ln>
        </p:spPr>
      </p:sp>
      <p:sp>
        <p:nvSpPr>
          <p:cNvPr id="7" name="Shape 5"/>
          <p:cNvSpPr/>
          <p:nvPr/>
        </p:nvSpPr>
        <p:spPr>
          <a:xfrm>
            <a:off x="914400" y="1810512"/>
            <a:ext cx="1371600" cy="329184"/>
          </a:xfrm>
          <a:prstGeom prst="roundRect">
            <a:avLst>
              <a:gd name="adj" fmla="val 22222"/>
            </a:avLst>
          </a:prstGeom>
          <a:solidFill>
            <a:srgbClr val="028090"/>
          </a:solidFill>
          <a:ln w="12700">
            <a:solidFill>
              <a:srgbClr val="028090"/>
            </a:solidFill>
            <a:prstDash val="solid"/>
          </a:ln>
        </p:spPr>
      </p:sp>
      <p:sp>
        <p:nvSpPr>
          <p:cNvPr id="8" name="Text 6"/>
          <p:cNvSpPr txBox="1"/>
          <p:nvPr/>
        </p:nvSpPr>
        <p:spPr>
          <a:xfrm>
            <a:off x="914400" y="1856232"/>
            <a:ext cx="1371600" cy="256032"/>
          </a:xfrm>
          <a:prstGeom prst="rect">
            <a:avLst/>
          </a:prstGeom>
          <a:noFill/>
          <a:ln/>
        </p:spPr>
        <p:txBody>
          <a:bodyPr wrap="square" lIns="0" tIns="0" rIns="0" bIns="0" rtlCol="0" anchor="ctr"/>
          <a:lstStyle/>
          <a:p>
            <a:pPr algn="ctr" indent="0" marL="0">
              <a:lnSpc>
                <a:spcPct val="125000"/>
              </a:lnSpc>
              <a:buNone/>
            </a:pPr>
            <a:r>
              <a:rPr lang="en-US" sz="1200" b="1" dirty="0">
                <a:solidFill>
                  <a:srgbClr val="FFFFFF"/>
                </a:solidFill>
                <a:latin typeface="Calibri" pitchFamily="34" charset="0"/>
                <a:ea typeface="Calibri" pitchFamily="34" charset="-122"/>
                <a:cs typeface="Calibri" pitchFamily="34" charset="-120"/>
              </a:rPr>
              <a:t>Webhook</a:t>
            </a:r>
            <a:endParaRPr lang="en-US" sz="1200" dirty="0"/>
          </a:p>
        </p:txBody>
      </p:sp>
      <p:sp>
        <p:nvSpPr>
          <p:cNvPr id="9" name="Text 7"/>
          <p:cNvSpPr txBox="1"/>
          <p:nvPr/>
        </p:nvSpPr>
        <p:spPr>
          <a:xfrm>
            <a:off x="914400" y="2331720"/>
            <a:ext cx="2834640" cy="548640"/>
          </a:xfrm>
          <a:prstGeom prst="rect">
            <a:avLst/>
          </a:prstGeom>
          <a:noFill/>
          <a:ln/>
        </p:spPr>
        <p:txBody>
          <a:bodyPr wrap="square" lIns="0" tIns="0" rIns="0" bIns="0" rtlCol="0" anchor="ctr"/>
          <a:lstStyle/>
          <a:p>
            <a:pPr indent="0" marL="0">
              <a:lnSpc>
                <a:spcPct val="125000"/>
              </a:lnSpc>
              <a:buNone/>
            </a:pPr>
            <a:r>
              <a:rPr lang="en-US" sz="1350" b="1" dirty="0">
                <a:solidFill>
                  <a:srgbClr val="0B2027"/>
                </a:solidFill>
                <a:latin typeface="Calibri" pitchFamily="34" charset="0"/>
                <a:ea typeface="Calibri" pitchFamily="34" charset="-122"/>
                <a:cs typeface="Calibri" pitchFamily="34" charset="-120"/>
              </a:rPr>
              <a:t>Độ trễ thấp nhất</a:t>
            </a:r>
            <a:endParaRPr lang="en-US" sz="1350" dirty="0"/>
          </a:p>
        </p:txBody>
      </p:sp>
      <p:sp>
        <p:nvSpPr>
          <p:cNvPr id="10" name="Text 8"/>
          <p:cNvSpPr txBox="1"/>
          <p:nvPr/>
        </p:nvSpPr>
        <p:spPr>
          <a:xfrm>
            <a:off x="914400" y="2971800"/>
            <a:ext cx="2834640" cy="914400"/>
          </a:xfrm>
          <a:prstGeom prst="rect">
            <a:avLst/>
          </a:prstGeom>
          <a:noFill/>
          <a:ln/>
        </p:spPr>
        <p:txBody>
          <a:bodyPr wrap="square" lIns="0" tIns="0" rIns="0" bIns="0" rtlCol="0" anchor="ctr"/>
          <a:lstStyle/>
          <a:p>
            <a:pPr indent="0" marL="0">
              <a:lnSpc>
                <a:spcPct val="115000"/>
              </a:lnSpc>
              <a:buNone/>
            </a:pPr>
            <a:r>
              <a:rPr lang="en-US" sz="1250" dirty="0">
                <a:solidFill>
                  <a:srgbClr val="5A6B70"/>
                </a:solidFill>
                <a:latin typeface="Calibri" pitchFamily="34" charset="0"/>
                <a:ea typeface="Calibri" pitchFamily="34" charset="-122"/>
                <a:cs typeface="Calibri" pitchFamily="34" charset="-120"/>
              </a:rPr>
              <a:t>Timeout 4 giây, nguồn không thử lại nên có thể mất sự kiện</a:t>
            </a:r>
            <a:endParaRPr lang="en-US" sz="1250" dirty="0"/>
          </a:p>
        </p:txBody>
      </p:sp>
      <p:sp>
        <p:nvSpPr>
          <p:cNvPr id="11" name="Text 9"/>
          <p:cNvSpPr txBox="1"/>
          <p:nvPr/>
        </p:nvSpPr>
        <p:spPr>
          <a:xfrm>
            <a:off x="914400" y="4160520"/>
            <a:ext cx="2834640" cy="457200"/>
          </a:xfrm>
          <a:prstGeom prst="rect">
            <a:avLst/>
          </a:prstGeom>
          <a:noFill/>
          <a:ln/>
        </p:spPr>
        <p:txBody>
          <a:bodyPr wrap="square" lIns="0" tIns="0" rIns="0" bIns="0" rtlCol="0" anchor="ctr"/>
          <a:lstStyle/>
          <a:p>
            <a:pPr indent="0" marL="0">
              <a:lnSpc>
                <a:spcPct val="125000"/>
              </a:lnSpc>
              <a:buNone/>
            </a:pPr>
            <a:r>
              <a:rPr lang="en-US" sz="1250" i="1" dirty="0">
                <a:solidFill>
                  <a:srgbClr val="028090"/>
                </a:solidFill>
                <a:latin typeface="Calibri" pitchFamily="34" charset="0"/>
                <a:ea typeface="Calibri" pitchFamily="34" charset="-122"/>
                <a:cs typeface="Calibri" pitchFamily="34" charset="-120"/>
              </a:rPr>
              <a:t>Lớp phản ứng nhanh</a:t>
            </a:r>
            <a:endParaRPr lang="en-US" sz="1250" dirty="0"/>
          </a:p>
        </p:txBody>
      </p:sp>
      <p:sp>
        <p:nvSpPr>
          <p:cNvPr id="12" name="Shape 10"/>
          <p:cNvSpPr/>
          <p:nvPr/>
        </p:nvSpPr>
        <p:spPr>
          <a:xfrm>
            <a:off x="4343400" y="1554480"/>
            <a:ext cx="3383280" cy="3246120"/>
          </a:xfrm>
          <a:prstGeom prst="roundRect">
            <a:avLst>
              <a:gd name="adj" fmla="val 1690"/>
            </a:avLst>
          </a:prstGeom>
          <a:solidFill>
            <a:srgbClr val="F2F6F6"/>
          </a:solidFill>
          <a:ln w="12700">
            <a:solidFill>
              <a:srgbClr val="F2F6F6"/>
            </a:solidFill>
            <a:prstDash val="solid"/>
          </a:ln>
        </p:spPr>
      </p:sp>
      <p:sp>
        <p:nvSpPr>
          <p:cNvPr id="13" name="Shape 11"/>
          <p:cNvSpPr/>
          <p:nvPr/>
        </p:nvSpPr>
        <p:spPr>
          <a:xfrm>
            <a:off x="4617720" y="1810512"/>
            <a:ext cx="1371600" cy="329184"/>
          </a:xfrm>
          <a:prstGeom prst="roundRect">
            <a:avLst>
              <a:gd name="adj" fmla="val 22222"/>
            </a:avLst>
          </a:prstGeom>
          <a:solidFill>
            <a:srgbClr val="028090"/>
          </a:solidFill>
          <a:ln w="12700">
            <a:solidFill>
              <a:srgbClr val="028090"/>
            </a:solidFill>
            <a:prstDash val="solid"/>
          </a:ln>
        </p:spPr>
      </p:sp>
      <p:sp>
        <p:nvSpPr>
          <p:cNvPr id="14" name="Text 12"/>
          <p:cNvSpPr txBox="1"/>
          <p:nvPr/>
        </p:nvSpPr>
        <p:spPr>
          <a:xfrm>
            <a:off x="4617720" y="1856232"/>
            <a:ext cx="1371600" cy="256032"/>
          </a:xfrm>
          <a:prstGeom prst="rect">
            <a:avLst/>
          </a:prstGeom>
          <a:noFill/>
          <a:ln/>
        </p:spPr>
        <p:txBody>
          <a:bodyPr wrap="square" lIns="0" tIns="0" rIns="0" bIns="0" rtlCol="0" anchor="ctr"/>
          <a:lstStyle/>
          <a:p>
            <a:pPr algn="ctr" indent="0" marL="0">
              <a:lnSpc>
                <a:spcPct val="125000"/>
              </a:lnSpc>
              <a:buNone/>
            </a:pPr>
            <a:r>
              <a:rPr lang="en-US" sz="1200" b="1" dirty="0">
                <a:solidFill>
                  <a:srgbClr val="FFFFFF"/>
                </a:solidFill>
                <a:latin typeface="Calibri" pitchFamily="34" charset="0"/>
                <a:ea typeface="Calibri" pitchFamily="34" charset="-122"/>
                <a:cs typeface="Calibri" pitchFamily="34" charset="-120"/>
              </a:rPr>
              <a:t>Polling</a:t>
            </a:r>
            <a:endParaRPr lang="en-US" sz="1200" dirty="0"/>
          </a:p>
        </p:txBody>
      </p:sp>
      <p:sp>
        <p:nvSpPr>
          <p:cNvPr id="15" name="Text 13"/>
          <p:cNvSpPr txBox="1"/>
          <p:nvPr/>
        </p:nvSpPr>
        <p:spPr>
          <a:xfrm>
            <a:off x="4617720" y="2331720"/>
            <a:ext cx="2834640" cy="548640"/>
          </a:xfrm>
          <a:prstGeom prst="rect">
            <a:avLst/>
          </a:prstGeom>
          <a:noFill/>
          <a:ln/>
        </p:spPr>
        <p:txBody>
          <a:bodyPr wrap="square" lIns="0" tIns="0" rIns="0" bIns="0" rtlCol="0" anchor="ctr"/>
          <a:lstStyle/>
          <a:p>
            <a:pPr indent="0" marL="0">
              <a:lnSpc>
                <a:spcPct val="125000"/>
              </a:lnSpc>
              <a:buNone/>
            </a:pPr>
            <a:r>
              <a:rPr lang="en-US" sz="1350" b="1" dirty="0">
                <a:solidFill>
                  <a:srgbClr val="0B2027"/>
                </a:solidFill>
                <a:latin typeface="Calibri" pitchFamily="34" charset="0"/>
                <a:ea typeface="Calibri" pitchFamily="34" charset="-122"/>
                <a:cs typeface="Calibri" pitchFamily="34" charset="-120"/>
              </a:rPr>
              <a:t>Đọc bảng sự kiện bền vững</a:t>
            </a:r>
            <a:endParaRPr lang="en-US" sz="1350" dirty="0"/>
          </a:p>
        </p:txBody>
      </p:sp>
      <p:sp>
        <p:nvSpPr>
          <p:cNvPr id="16" name="Text 14"/>
          <p:cNvSpPr txBox="1"/>
          <p:nvPr/>
        </p:nvSpPr>
        <p:spPr>
          <a:xfrm>
            <a:off x="4617720" y="2971800"/>
            <a:ext cx="2834640" cy="914400"/>
          </a:xfrm>
          <a:prstGeom prst="rect">
            <a:avLst/>
          </a:prstGeom>
          <a:noFill/>
          <a:ln/>
        </p:spPr>
        <p:txBody>
          <a:bodyPr wrap="square" lIns="0" tIns="0" rIns="0" bIns="0" rtlCol="0" anchor="ctr"/>
          <a:lstStyle/>
          <a:p>
            <a:pPr indent="0" marL="0">
              <a:lnSpc>
                <a:spcPct val="115000"/>
              </a:lnSpc>
              <a:buNone/>
            </a:pPr>
            <a:r>
              <a:rPr lang="en-US" sz="1250" dirty="0">
                <a:solidFill>
                  <a:srgbClr val="5A6B70"/>
                </a:solidFill>
                <a:latin typeface="Calibri" pitchFamily="34" charset="0"/>
                <a:ea typeface="Calibri" pitchFamily="34" charset="-122"/>
                <a:cs typeface="Calibri" pitchFamily="34" charset="-120"/>
              </a:rPr>
              <a:t>Trễ tối đa một chu kỳ 10 giây</a:t>
            </a:r>
            <a:endParaRPr lang="en-US" sz="1250" dirty="0"/>
          </a:p>
        </p:txBody>
      </p:sp>
      <p:sp>
        <p:nvSpPr>
          <p:cNvPr id="17" name="Text 15"/>
          <p:cNvSpPr txBox="1"/>
          <p:nvPr/>
        </p:nvSpPr>
        <p:spPr>
          <a:xfrm>
            <a:off x="4617720" y="4160520"/>
            <a:ext cx="2834640" cy="457200"/>
          </a:xfrm>
          <a:prstGeom prst="rect">
            <a:avLst/>
          </a:prstGeom>
          <a:noFill/>
          <a:ln/>
        </p:spPr>
        <p:txBody>
          <a:bodyPr wrap="square" lIns="0" tIns="0" rIns="0" bIns="0" rtlCol="0" anchor="ctr"/>
          <a:lstStyle/>
          <a:p>
            <a:pPr indent="0" marL="0">
              <a:lnSpc>
                <a:spcPct val="125000"/>
              </a:lnSpc>
              <a:buNone/>
            </a:pPr>
            <a:r>
              <a:rPr lang="en-US" sz="1250" i="1" dirty="0">
                <a:solidFill>
                  <a:srgbClr val="028090"/>
                </a:solidFill>
                <a:latin typeface="Calibri" pitchFamily="34" charset="0"/>
                <a:ea typeface="Calibri" pitchFamily="34" charset="-122"/>
                <a:cs typeface="Calibri" pitchFamily="34" charset="-120"/>
              </a:rPr>
              <a:t>Xương sống bảo đảm đầy đủ</a:t>
            </a:r>
            <a:endParaRPr lang="en-US" sz="1250" dirty="0"/>
          </a:p>
        </p:txBody>
      </p:sp>
      <p:sp>
        <p:nvSpPr>
          <p:cNvPr id="18" name="Shape 16"/>
          <p:cNvSpPr/>
          <p:nvPr/>
        </p:nvSpPr>
        <p:spPr>
          <a:xfrm>
            <a:off x="8046720" y="1554480"/>
            <a:ext cx="3383280" cy="3246120"/>
          </a:xfrm>
          <a:prstGeom prst="roundRect">
            <a:avLst>
              <a:gd name="adj" fmla="val 1690"/>
            </a:avLst>
          </a:prstGeom>
          <a:solidFill>
            <a:srgbClr val="F2F6F6"/>
          </a:solidFill>
          <a:ln w="12700">
            <a:solidFill>
              <a:srgbClr val="F2F6F6"/>
            </a:solidFill>
            <a:prstDash val="solid"/>
          </a:ln>
        </p:spPr>
      </p:sp>
      <p:sp>
        <p:nvSpPr>
          <p:cNvPr id="19" name="Shape 17"/>
          <p:cNvSpPr/>
          <p:nvPr/>
        </p:nvSpPr>
        <p:spPr>
          <a:xfrm>
            <a:off x="8321040" y="1810512"/>
            <a:ext cx="1371600" cy="329184"/>
          </a:xfrm>
          <a:prstGeom prst="roundRect">
            <a:avLst>
              <a:gd name="adj" fmla="val 22222"/>
            </a:avLst>
          </a:prstGeom>
          <a:solidFill>
            <a:srgbClr val="028090"/>
          </a:solidFill>
          <a:ln w="12700">
            <a:solidFill>
              <a:srgbClr val="028090"/>
            </a:solidFill>
            <a:prstDash val="solid"/>
          </a:ln>
        </p:spPr>
      </p:sp>
      <p:sp>
        <p:nvSpPr>
          <p:cNvPr id="20" name="Text 18"/>
          <p:cNvSpPr txBox="1"/>
          <p:nvPr/>
        </p:nvSpPr>
        <p:spPr>
          <a:xfrm>
            <a:off x="8321040" y="1856232"/>
            <a:ext cx="1371600" cy="256032"/>
          </a:xfrm>
          <a:prstGeom prst="rect">
            <a:avLst/>
          </a:prstGeom>
          <a:noFill/>
          <a:ln/>
        </p:spPr>
        <p:txBody>
          <a:bodyPr wrap="square" lIns="0" tIns="0" rIns="0" bIns="0" rtlCol="0" anchor="ctr"/>
          <a:lstStyle/>
          <a:p>
            <a:pPr algn="ctr" indent="0" marL="0">
              <a:lnSpc>
                <a:spcPct val="125000"/>
              </a:lnSpc>
              <a:buNone/>
            </a:pPr>
            <a:r>
              <a:rPr lang="en-US" sz="1200" b="1" dirty="0">
                <a:solidFill>
                  <a:srgbClr val="FFFFFF"/>
                </a:solidFill>
                <a:latin typeface="Calibri" pitchFamily="34" charset="0"/>
                <a:ea typeface="Calibri" pitchFamily="34" charset="-122"/>
                <a:cs typeface="Calibri" pitchFamily="34" charset="-120"/>
              </a:rPr>
              <a:t>Đối soát</a:t>
            </a:r>
            <a:endParaRPr lang="en-US" sz="1200" dirty="0"/>
          </a:p>
        </p:txBody>
      </p:sp>
      <p:sp>
        <p:nvSpPr>
          <p:cNvPr id="21" name="Text 19"/>
          <p:cNvSpPr txBox="1"/>
          <p:nvPr/>
        </p:nvSpPr>
        <p:spPr>
          <a:xfrm>
            <a:off x="8321040" y="2331720"/>
            <a:ext cx="2834640" cy="548640"/>
          </a:xfrm>
          <a:prstGeom prst="rect">
            <a:avLst/>
          </a:prstGeom>
          <a:noFill/>
          <a:ln/>
        </p:spPr>
        <p:txBody>
          <a:bodyPr wrap="square" lIns="0" tIns="0" rIns="0" bIns="0" rtlCol="0" anchor="ctr"/>
          <a:lstStyle/>
          <a:p>
            <a:pPr indent="0" marL="0">
              <a:lnSpc>
                <a:spcPct val="125000"/>
              </a:lnSpc>
              <a:buNone/>
            </a:pPr>
            <a:r>
              <a:rPr lang="en-US" sz="1350" b="1" dirty="0">
                <a:solidFill>
                  <a:srgbClr val="0B2027"/>
                </a:solidFill>
                <a:latin typeface="Calibri" pitchFamily="34" charset="0"/>
                <a:ea typeface="Calibri" pitchFamily="34" charset="-122"/>
                <a:cs typeface="Calibri" pitchFamily="34" charset="-120"/>
              </a:rPr>
              <a:t>Chữa được cả phần lệch không có sự kiện</a:t>
            </a:r>
            <a:endParaRPr lang="en-US" sz="1350" dirty="0"/>
          </a:p>
        </p:txBody>
      </p:sp>
      <p:sp>
        <p:nvSpPr>
          <p:cNvPr id="22" name="Text 20"/>
          <p:cNvSpPr txBox="1"/>
          <p:nvPr/>
        </p:nvSpPr>
        <p:spPr>
          <a:xfrm>
            <a:off x="8321040" y="2971800"/>
            <a:ext cx="2834640" cy="914400"/>
          </a:xfrm>
          <a:prstGeom prst="rect">
            <a:avLst/>
          </a:prstGeom>
          <a:noFill/>
          <a:ln/>
        </p:spPr>
        <p:txBody>
          <a:bodyPr wrap="square" lIns="0" tIns="0" rIns="0" bIns="0" rtlCol="0" anchor="ctr"/>
          <a:lstStyle/>
          <a:p>
            <a:pPr indent="0" marL="0">
              <a:lnSpc>
                <a:spcPct val="115000"/>
              </a:lnSpc>
              <a:buNone/>
            </a:pPr>
            <a:r>
              <a:rPr lang="en-US" sz="1250" dirty="0">
                <a:solidFill>
                  <a:srgbClr val="5A6B70"/>
                </a:solidFill>
                <a:latin typeface="Calibri" pitchFamily="34" charset="0"/>
                <a:ea typeface="Calibri" pitchFamily="34" charset="-122"/>
                <a:cs typeface="Calibri" pitchFamily="34" charset="-120"/>
              </a:rPr>
              <a:t>Tốn request, không tức thời</a:t>
            </a:r>
            <a:endParaRPr lang="en-US" sz="1250" dirty="0"/>
          </a:p>
        </p:txBody>
      </p:sp>
      <p:sp>
        <p:nvSpPr>
          <p:cNvPr id="23" name="Text 21"/>
          <p:cNvSpPr txBox="1"/>
          <p:nvPr/>
        </p:nvSpPr>
        <p:spPr>
          <a:xfrm>
            <a:off x="8321040" y="4160520"/>
            <a:ext cx="2834640" cy="457200"/>
          </a:xfrm>
          <a:prstGeom prst="rect">
            <a:avLst/>
          </a:prstGeom>
          <a:noFill/>
          <a:ln/>
        </p:spPr>
        <p:txBody>
          <a:bodyPr wrap="square" lIns="0" tIns="0" rIns="0" bIns="0" rtlCol="0" anchor="ctr"/>
          <a:lstStyle/>
          <a:p>
            <a:pPr indent="0" marL="0">
              <a:lnSpc>
                <a:spcPct val="125000"/>
              </a:lnSpc>
              <a:buNone/>
            </a:pPr>
            <a:r>
              <a:rPr lang="en-US" sz="1250" i="1" dirty="0">
                <a:solidFill>
                  <a:srgbClr val="028090"/>
                </a:solidFill>
                <a:latin typeface="Calibri" pitchFamily="34" charset="0"/>
                <a:ea typeface="Calibri" pitchFamily="34" charset="-122"/>
                <a:cs typeface="Calibri" pitchFamily="34" charset="-120"/>
              </a:rPr>
              <a:t>Lưới an toàn cuối cùng</a:t>
            </a:r>
            <a:endParaRPr lang="en-US" sz="1250" dirty="0"/>
          </a:p>
        </p:txBody>
      </p:sp>
      <p:sp>
        <p:nvSpPr>
          <p:cNvPr id="24" name="Text 22"/>
          <p:cNvSpPr txBox="1"/>
          <p:nvPr/>
        </p:nvSpPr>
        <p:spPr>
          <a:xfrm>
            <a:off x="640080" y="5120640"/>
            <a:ext cx="10881360" cy="868680"/>
          </a:xfrm>
          <a:prstGeom prst="rect">
            <a:avLst/>
          </a:prstGeom>
          <a:noFill/>
          <a:ln/>
        </p:spPr>
        <p:txBody>
          <a:bodyPr wrap="square" lIns="0" tIns="0" rIns="0" bIns="0" rtlCol="0" anchor="ctr"/>
          <a:lstStyle/>
          <a:p>
            <a:pPr indent="0" marL="0">
              <a:lnSpc>
                <a:spcPct val="125000"/>
              </a:lnSpc>
              <a:buNone/>
            </a:pPr>
            <a:r>
              <a:rPr lang="en-US" sz="1500" b="1" dirty="0">
                <a:solidFill>
                  <a:srgbClr val="0B2027"/>
                </a:solidFill>
                <a:latin typeface="Calibri" pitchFamily="34" charset="0"/>
                <a:ea typeface="Calibri" pitchFamily="34" charset="-122"/>
                <a:cs typeface="Calibri" pitchFamily="34" charset="-120"/>
              </a:rPr>
              <a:t>Chỉ webhook thì mất sự kiện. Chỉ polling thì không chữa được dữ liệu có sẵn từ trước khi dịch vụ chạy — mà đó chính là kịch bản chấm T11. Vì vậy cả ba đều bắt buộc.</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75488"/>
            <a:ext cx="475488" cy="475488"/>
          </a:xfrm>
          <a:prstGeom prst="roundRect">
            <a:avLst>
              <a:gd name="adj" fmla="val 23077"/>
            </a:avLst>
          </a:prstGeom>
          <a:solidFill>
            <a:srgbClr val="028090"/>
          </a:solidFill>
          <a:ln w="12700">
            <a:solidFill>
              <a:srgbClr val="028090"/>
            </a:solidFill>
            <a:prstDash val="solid"/>
          </a:ln>
        </p:spPr>
      </p:sp>
      <p:sp>
        <p:nvSpPr>
          <p:cNvPr id="3" name="Text 1"/>
          <p:cNvSpPr txBox="1"/>
          <p:nvPr/>
        </p:nvSpPr>
        <p:spPr>
          <a:xfrm>
            <a:off x="640080" y="475488"/>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6</a:t>
            </a:r>
            <a:endParaRPr lang="en-US" sz="1700" dirty="0"/>
          </a:p>
        </p:txBody>
      </p:sp>
      <p:sp>
        <p:nvSpPr>
          <p:cNvPr id="4" name="Text 2"/>
          <p:cNvSpPr txBox="1"/>
          <p:nvPr/>
        </p:nvSpPr>
        <p:spPr>
          <a:xfrm>
            <a:off x="1298448" y="457200"/>
            <a:ext cx="8686800" cy="256032"/>
          </a:xfrm>
          <a:prstGeom prst="rect">
            <a:avLst/>
          </a:prstGeom>
          <a:noFill/>
          <a:ln/>
        </p:spPr>
        <p:txBody>
          <a:bodyPr wrap="square" lIns="0" tIns="0" rIns="0" bIns="0" rtlCol="0" anchor="ctr"/>
          <a:lstStyle/>
          <a:p>
            <a:pPr indent="0" marL="0">
              <a:buNone/>
            </a:pPr>
            <a:r>
              <a:rPr lang="en-US" sz="1100" b="1" spc="160" kern="0" dirty="0">
                <a:solidFill>
                  <a:srgbClr val="02C39A"/>
                </a:solidFill>
                <a:latin typeface="Calibri" pitchFamily="34" charset="0"/>
                <a:ea typeface="Calibri" pitchFamily="34" charset="-122"/>
                <a:cs typeface="Calibri" pitchFamily="34" charset="-120"/>
              </a:rPr>
              <a:t>TRANSACTIONAL INBOX</a:t>
            </a:r>
            <a:endParaRPr lang="en-US" sz="1100" dirty="0"/>
          </a:p>
        </p:txBody>
      </p:sp>
      <p:sp>
        <p:nvSpPr>
          <p:cNvPr id="5" name="Text 3"/>
          <p:cNvSpPr txBox="1"/>
          <p:nvPr/>
        </p:nvSpPr>
        <p:spPr>
          <a:xfrm>
            <a:off x="1298448" y="694944"/>
            <a:ext cx="10424160" cy="566928"/>
          </a:xfrm>
          <a:prstGeom prst="rect">
            <a:avLst/>
          </a:prstGeom>
          <a:noFill/>
          <a:ln/>
        </p:spPr>
        <p:txBody>
          <a:bodyPr wrap="square" lIns="0" tIns="0" rIns="0" bIns="0" rtlCol="0" anchor="ctr"/>
          <a:lstStyle/>
          <a:p>
            <a:pPr indent="0" marL="0">
              <a:buNone/>
            </a:pPr>
            <a:r>
              <a:rPr lang="en-US" sz="3000" b="1" dirty="0">
                <a:solidFill>
                  <a:srgbClr val="0B2027"/>
                </a:solidFill>
                <a:latin typeface="Cambria" pitchFamily="34" charset="0"/>
                <a:ea typeface="Cambria" pitchFamily="34" charset="-122"/>
                <a:cs typeface="Cambria" pitchFamily="34" charset="-120"/>
              </a:rPr>
              <a:t>Một ràng buộc gánh toàn bộ việc chống trùng</a:t>
            </a:r>
            <a:endParaRPr lang="en-US" sz="3000" dirty="0"/>
          </a:p>
        </p:txBody>
      </p:sp>
      <p:sp>
        <p:nvSpPr>
          <p:cNvPr id="6" name="Text 4"/>
          <p:cNvSpPr txBox="1"/>
          <p:nvPr/>
        </p:nvSpPr>
        <p:spPr>
          <a:xfrm>
            <a:off x="640080" y="1508760"/>
            <a:ext cx="5120640" cy="1234440"/>
          </a:xfrm>
          <a:prstGeom prst="rect">
            <a:avLst/>
          </a:prstGeom>
          <a:noFill/>
          <a:ln/>
        </p:spPr>
        <p:txBody>
          <a:bodyPr wrap="square" lIns="0" tIns="0" rIns="0" bIns="0" rtlCol="0" anchor="ctr"/>
          <a:lstStyle/>
          <a:p>
            <a:pPr indent="0" marL="0">
              <a:lnSpc>
                <a:spcPct val="125000"/>
              </a:lnSpc>
              <a:buNone/>
            </a:pPr>
            <a:r>
              <a:rPr lang="en-US" sz="1500" dirty="0">
                <a:solidFill>
                  <a:srgbClr val="0B2027"/>
                </a:solidFill>
                <a:latin typeface="Calibri" pitchFamily="34" charset="0"/>
                <a:ea typeface="Calibri" pitchFamily="34" charset="-122"/>
                <a:cs typeface="Calibri" pitchFamily="34" charset="-120"/>
              </a:rPr>
              <a:t>Cả ba nguồn kích hoạt đều không gọi API đích. Chúng chỉ ghi vào một bảng duy nhất.</a:t>
            </a:r>
            <a:endParaRPr lang="en-US" sz="1500" dirty="0"/>
          </a:p>
        </p:txBody>
      </p:sp>
      <p:sp>
        <p:nvSpPr>
          <p:cNvPr id="7" name="Shape 5"/>
          <p:cNvSpPr/>
          <p:nvPr/>
        </p:nvSpPr>
        <p:spPr>
          <a:xfrm>
            <a:off x="640080" y="2880360"/>
            <a:ext cx="5120640" cy="1371600"/>
          </a:xfrm>
          <a:prstGeom prst="roundRect">
            <a:avLst>
              <a:gd name="adj" fmla="val 4000"/>
            </a:avLst>
          </a:prstGeom>
          <a:solidFill>
            <a:srgbClr val="0E2A33"/>
          </a:solidFill>
          <a:ln w="12700">
            <a:solidFill>
              <a:srgbClr val="0E2A33"/>
            </a:solidFill>
            <a:prstDash val="solid"/>
          </a:ln>
        </p:spPr>
      </p:sp>
      <p:sp>
        <p:nvSpPr>
          <p:cNvPr id="8" name="Text 6"/>
          <p:cNvSpPr txBox="1"/>
          <p:nvPr/>
        </p:nvSpPr>
        <p:spPr>
          <a:xfrm>
            <a:off x="804672" y="2990088"/>
            <a:ext cx="4791456" cy="1152144"/>
          </a:xfrm>
          <a:prstGeom prst="rect">
            <a:avLst/>
          </a:prstGeom>
          <a:noFill/>
          <a:ln/>
        </p:spPr>
        <p:txBody>
          <a:bodyPr wrap="square" lIns="0" tIns="0" rIns="0" bIns="0" rtlCol="0" anchor="ctr"/>
          <a:lstStyle/>
          <a:p>
            <a:pPr indent="0" marL="0">
              <a:lnSpc>
                <a:spcPct val="118000"/>
              </a:lnSpc>
              <a:buNone/>
            </a:pPr>
            <a:r>
              <a:rPr lang="en-US" sz="1150" dirty="0">
                <a:solidFill>
                  <a:srgbClr val="CFF3EA"/>
                </a:solidFill>
                <a:latin typeface="Courier New" pitchFamily="34" charset="0"/>
                <a:ea typeface="Courier New" pitchFamily="34" charset="-122"/>
                <a:cs typeface="Courier New" pitchFamily="34" charset="-120"/>
              </a:rPr>
              <a:t>CREATE TABLE inbox_event (</a:t>
            </a:r>
            <a:endParaRPr lang="en-US" sz="1150" dirty="0"/>
          </a:p>
          <a:p>
            <a:pPr indent="0" marL="0">
              <a:lnSpc>
                <a:spcPct val="118000"/>
              </a:lnSpc>
              <a:buNone/>
            </a:pPr>
            <a:r>
              <a:rPr lang="en-US" sz="1150" dirty="0">
                <a:solidFill>
                  <a:srgbClr val="CFF3EA"/>
                </a:solidFill>
                <a:latin typeface="Courier New" pitchFamily="34" charset="0"/>
                <a:ea typeface="Courier New" pitchFamily="34" charset="-122"/>
                <a:cs typeface="Courier New" pitchFamily="34" charset="-120"/>
              </a:rPr>
              <a:t>  ...</a:t>
            </a:r>
            <a:endParaRPr lang="en-US" sz="1150" dirty="0"/>
          </a:p>
          <a:p>
            <a:pPr indent="0" marL="0">
              <a:lnSpc>
                <a:spcPct val="118000"/>
              </a:lnSpc>
              <a:buNone/>
            </a:pPr>
            <a:r>
              <a:rPr lang="en-US" sz="1150" dirty="0">
                <a:solidFill>
                  <a:srgbClr val="CFF3EA"/>
                </a:solidFill>
                <a:latin typeface="Courier New" pitchFamily="34" charset="0"/>
                <a:ea typeface="Courier New" pitchFamily="34" charset="-122"/>
                <a:cs typeface="Courier New" pitchFamily="34" charset="-120"/>
              </a:rPr>
              <a:t>  CONSTRAINT uk_inbox</a:t>
            </a:r>
            <a:endParaRPr lang="en-US" sz="1150" dirty="0"/>
          </a:p>
          <a:p>
            <a:pPr indent="0" marL="0">
              <a:lnSpc>
                <a:spcPct val="118000"/>
              </a:lnSpc>
              <a:buNone/>
            </a:pPr>
            <a:r>
              <a:rPr lang="en-US" sz="1150" dirty="0">
                <a:solidFill>
                  <a:srgbClr val="CFF3EA"/>
                </a:solidFill>
                <a:latin typeface="Courier New" pitchFamily="34" charset="0"/>
                <a:ea typeface="Courier New" pitchFamily="34" charset="-122"/>
                <a:cs typeface="Courier New" pitchFamily="34" charset="-120"/>
              </a:rPr>
              <a:t>    UNIQUE (source_system, event_id)</a:t>
            </a:r>
            <a:endParaRPr lang="en-US" sz="1150" dirty="0"/>
          </a:p>
          <a:p>
            <a:pPr indent="0" marL="0">
              <a:lnSpc>
                <a:spcPct val="118000"/>
              </a:lnSpc>
              <a:buNone/>
            </a:pPr>
            <a:r>
              <a:rPr lang="en-US" sz="1150" dirty="0">
                <a:solidFill>
                  <a:srgbClr val="CFF3EA"/>
                </a:solidFill>
                <a:latin typeface="Courier New" pitchFamily="34" charset="0"/>
                <a:ea typeface="Courier New" pitchFamily="34" charset="-122"/>
                <a:cs typeface="Courier New" pitchFamily="34" charset="-120"/>
              </a:rPr>
              <a:t>);</a:t>
            </a:r>
            <a:endParaRPr lang="en-US" sz="1150" dirty="0"/>
          </a:p>
        </p:txBody>
      </p:sp>
      <p:sp>
        <p:nvSpPr>
          <p:cNvPr id="9" name="Text 7"/>
          <p:cNvSpPr txBox="1"/>
          <p:nvPr/>
        </p:nvSpPr>
        <p:spPr>
          <a:xfrm>
            <a:off x="640080" y="4480560"/>
            <a:ext cx="5120640" cy="1371600"/>
          </a:xfrm>
          <a:prstGeom prst="rect">
            <a:avLst/>
          </a:prstGeom>
          <a:noFill/>
          <a:ln/>
        </p:spPr>
        <p:txBody>
          <a:bodyPr wrap="square" lIns="0" tIns="0" rIns="0" bIns="0" rtlCol="0" anchor="ctr"/>
          <a:lstStyle/>
          <a:p>
            <a:pPr indent="0" marL="0">
              <a:lnSpc>
                <a:spcPct val="125000"/>
              </a:lnSpc>
              <a:buNone/>
            </a:pPr>
            <a:r>
              <a:rPr lang="en-US" sz="1500" dirty="0">
                <a:solidFill>
                  <a:srgbClr val="5A6B70"/>
                </a:solidFill>
                <a:latin typeface="Calibri" pitchFamily="34" charset="0"/>
                <a:ea typeface="Calibri" pitchFamily="34" charset="-122"/>
                <a:cs typeface="Calibri" pitchFamily="34" charset="-120"/>
              </a:rPr>
              <a:t>Giao lại cùng một mã sự kiện sẽ vi phạm ràng buộc, dịch vụ bắt lỗi và trả về DUPLICATE. Không có sự kiện thứ hai nào được tạo ra.</a:t>
            </a:r>
            <a:endParaRPr lang="en-US" sz="1500" dirty="0"/>
          </a:p>
        </p:txBody>
      </p:sp>
      <p:sp>
        <p:nvSpPr>
          <p:cNvPr id="10" name="Shape 8"/>
          <p:cNvSpPr/>
          <p:nvPr/>
        </p:nvSpPr>
        <p:spPr>
          <a:xfrm>
            <a:off x="6400800" y="1508760"/>
            <a:ext cx="5120640" cy="4343400"/>
          </a:xfrm>
          <a:prstGeom prst="roundRect">
            <a:avLst>
              <a:gd name="adj" fmla="val 1263"/>
            </a:avLst>
          </a:prstGeom>
          <a:solidFill>
            <a:srgbClr val="0E2A33"/>
          </a:solidFill>
          <a:ln w="12700">
            <a:solidFill>
              <a:srgbClr val="0E2A33"/>
            </a:solidFill>
            <a:prstDash val="solid"/>
          </a:ln>
        </p:spPr>
      </p:sp>
      <p:sp>
        <p:nvSpPr>
          <p:cNvPr id="11" name="Text 9"/>
          <p:cNvSpPr txBox="1"/>
          <p:nvPr/>
        </p:nvSpPr>
        <p:spPr>
          <a:xfrm>
            <a:off x="6720840" y="1783080"/>
            <a:ext cx="4480560" cy="292608"/>
          </a:xfrm>
          <a:prstGeom prst="rect">
            <a:avLst/>
          </a:prstGeom>
          <a:noFill/>
          <a:ln/>
        </p:spPr>
        <p:txBody>
          <a:bodyPr wrap="square" lIns="0" tIns="0" rIns="0" bIns="0" rtlCol="0" anchor="ctr"/>
          <a:lstStyle/>
          <a:p>
            <a:pPr indent="0" marL="0">
              <a:lnSpc>
                <a:spcPct val="125000"/>
              </a:lnSpc>
              <a:buNone/>
            </a:pPr>
            <a:r>
              <a:rPr lang="en-US" sz="1100" b="1" dirty="0">
                <a:solidFill>
                  <a:srgbClr val="02C39A"/>
                </a:solidFill>
                <a:latin typeface="Calibri" pitchFamily="34" charset="0"/>
                <a:ea typeface="Calibri" pitchFamily="34" charset="-122"/>
                <a:cs typeface="Calibri" pitchFamily="34" charset="-120"/>
              </a:rPr>
              <a:t>HAI LỚP BẢO VỆ ĐỘC LẬP</a:t>
            </a:r>
            <a:endParaRPr lang="en-US" sz="1100" dirty="0"/>
          </a:p>
        </p:txBody>
      </p:sp>
      <p:sp>
        <p:nvSpPr>
          <p:cNvPr id="12" name="Text 10"/>
          <p:cNvSpPr txBox="1"/>
          <p:nvPr/>
        </p:nvSpPr>
        <p:spPr>
          <a:xfrm>
            <a:off x="6720840" y="2286000"/>
            <a:ext cx="4480560" cy="292608"/>
          </a:xfrm>
          <a:prstGeom prst="rect">
            <a:avLst/>
          </a:prstGeom>
          <a:noFill/>
          <a:ln/>
        </p:spPr>
        <p:txBody>
          <a:bodyPr wrap="square" lIns="0" tIns="0" rIns="0" bIns="0" rtlCol="0" anchor="ctr"/>
          <a:lstStyle/>
          <a:p>
            <a:pPr indent="0" marL="0">
              <a:lnSpc>
                <a:spcPct val="125000"/>
              </a:lnSpc>
              <a:buNone/>
            </a:pPr>
            <a:r>
              <a:rPr lang="en-US" sz="1400" b="1" dirty="0">
                <a:solidFill>
                  <a:srgbClr val="FFFFFF"/>
                </a:solidFill>
                <a:latin typeface="Calibri" pitchFamily="34" charset="0"/>
                <a:ea typeface="Calibri" pitchFamily="34" charset="-122"/>
                <a:cs typeface="Calibri" pitchFamily="34" charset="-120"/>
              </a:rPr>
              <a:t>Tầng tiếp nhận</a:t>
            </a:r>
            <a:endParaRPr lang="en-US" sz="1400" dirty="0"/>
          </a:p>
        </p:txBody>
      </p:sp>
      <p:sp>
        <p:nvSpPr>
          <p:cNvPr id="13" name="Text 11"/>
          <p:cNvSpPr txBox="1"/>
          <p:nvPr/>
        </p:nvSpPr>
        <p:spPr>
          <a:xfrm>
            <a:off x="6720840" y="2651760"/>
            <a:ext cx="4480560" cy="1005840"/>
          </a:xfrm>
          <a:prstGeom prst="rect">
            <a:avLst/>
          </a:prstGeom>
          <a:noFill/>
          <a:ln/>
        </p:spPr>
        <p:txBody>
          <a:bodyPr wrap="square" lIns="0" tIns="0" rIns="0" bIns="0" rtlCol="0" anchor="ctr"/>
          <a:lstStyle/>
          <a:p>
            <a:pPr indent="0" marL="0">
              <a:lnSpc>
                <a:spcPct val="120000"/>
              </a:lnSpc>
              <a:buNone/>
            </a:pPr>
            <a:r>
              <a:rPr lang="en-US" sz="1250" dirty="0">
                <a:solidFill>
                  <a:srgbClr val="A9C3C7"/>
                </a:solidFill>
                <a:latin typeface="Calibri" pitchFamily="34" charset="0"/>
                <a:ea typeface="Calibri" pitchFamily="34" charset="-122"/>
                <a:cs typeface="Calibri" pitchFamily="34" charset="-120"/>
              </a:rPr>
              <a:t>Ràng buộc UNIQUE chặn cùng một mã sự kiện giao nhiều lần</a:t>
            </a:r>
            <a:endParaRPr lang="en-US" sz="1250" dirty="0"/>
          </a:p>
        </p:txBody>
      </p:sp>
      <p:sp>
        <p:nvSpPr>
          <p:cNvPr id="14" name="Text 12"/>
          <p:cNvSpPr txBox="1"/>
          <p:nvPr/>
        </p:nvSpPr>
        <p:spPr>
          <a:xfrm>
            <a:off x="6720840" y="3703320"/>
            <a:ext cx="4480560" cy="292608"/>
          </a:xfrm>
          <a:prstGeom prst="rect">
            <a:avLst/>
          </a:prstGeom>
          <a:noFill/>
          <a:ln/>
        </p:spPr>
        <p:txBody>
          <a:bodyPr wrap="square" lIns="0" tIns="0" rIns="0" bIns="0" rtlCol="0" anchor="ctr"/>
          <a:lstStyle/>
          <a:p>
            <a:pPr indent="0" marL="0">
              <a:lnSpc>
                <a:spcPct val="125000"/>
              </a:lnSpc>
              <a:buNone/>
            </a:pPr>
            <a:r>
              <a:rPr lang="en-US" sz="1400" b="1" dirty="0">
                <a:solidFill>
                  <a:srgbClr val="FFFFFF"/>
                </a:solidFill>
                <a:latin typeface="Calibri" pitchFamily="34" charset="0"/>
                <a:ea typeface="Calibri" pitchFamily="34" charset="-122"/>
                <a:cs typeface="Calibri" pitchFamily="34" charset="-120"/>
              </a:rPr>
              <a:t>Tầng xử lý</a:t>
            </a:r>
            <a:endParaRPr lang="en-US" sz="1400" dirty="0"/>
          </a:p>
        </p:txBody>
      </p:sp>
      <p:sp>
        <p:nvSpPr>
          <p:cNvPr id="15" name="Text 13"/>
          <p:cNvSpPr txBox="1"/>
          <p:nvPr/>
        </p:nvSpPr>
        <p:spPr>
          <a:xfrm>
            <a:off x="6720840" y="4069080"/>
            <a:ext cx="4480560" cy="1005840"/>
          </a:xfrm>
          <a:prstGeom prst="rect">
            <a:avLst/>
          </a:prstGeom>
          <a:noFill/>
          <a:ln/>
        </p:spPr>
        <p:txBody>
          <a:bodyPr wrap="square" lIns="0" tIns="0" rIns="0" bIns="0" rtlCol="0" anchor="ctr"/>
          <a:lstStyle/>
          <a:p>
            <a:pPr indent="0" marL="0">
              <a:lnSpc>
                <a:spcPct val="120000"/>
              </a:lnSpc>
              <a:buNone/>
            </a:pPr>
            <a:r>
              <a:rPr lang="en-US" sz="1250" dirty="0">
                <a:solidFill>
                  <a:srgbClr val="A9C3C7"/>
                </a:solidFill>
                <a:latin typeface="Calibri" pitchFamily="34" charset="0"/>
                <a:ea typeface="Calibri" pitchFamily="34" charset="-122"/>
                <a:cs typeface="Calibri" pitchFamily="34" charset="-120"/>
              </a:rPr>
              <a:t>Hàm hội tụ đọc trạng thái đích trước khi ghi — chặn cả sự kiện khác mã nhưng nội dung tương đương</a:t>
            </a:r>
            <a:endParaRPr lang="en-US" sz="1250" dirty="0"/>
          </a:p>
        </p:txBody>
      </p:sp>
      <p:sp>
        <p:nvSpPr>
          <p:cNvPr id="16" name="Text 14"/>
          <p:cNvSpPr txBox="1"/>
          <p:nvPr/>
        </p:nvSpPr>
        <p:spPr>
          <a:xfrm>
            <a:off x="6720840" y="5212080"/>
            <a:ext cx="4480560" cy="457200"/>
          </a:xfrm>
          <a:prstGeom prst="rect">
            <a:avLst/>
          </a:prstGeom>
          <a:noFill/>
          <a:ln/>
        </p:spPr>
        <p:txBody>
          <a:bodyPr wrap="square" lIns="0" tIns="0" rIns="0" bIns="0" rtlCol="0" anchor="ctr"/>
          <a:lstStyle/>
          <a:p>
            <a:pPr indent="0" marL="0">
              <a:lnSpc>
                <a:spcPct val="125000"/>
              </a:lnSpc>
              <a:buNone/>
            </a:pPr>
            <a:r>
              <a:rPr lang="en-US" sz="1300" b="1" dirty="0">
                <a:solidFill>
                  <a:srgbClr val="02C39A"/>
                </a:solidFill>
                <a:latin typeface="Calibri" pitchFamily="34" charset="0"/>
                <a:ea typeface="Calibri" pitchFamily="34" charset="-122"/>
                <a:cs typeface="Calibri" pitchFamily="34" charset="-120"/>
              </a:rPr>
              <a:t>Bằng chứng: 4 lần action = NOOP trong nhật ký chạy thật.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75488"/>
            <a:ext cx="475488" cy="475488"/>
          </a:xfrm>
          <a:prstGeom prst="roundRect">
            <a:avLst>
              <a:gd name="adj" fmla="val 23077"/>
            </a:avLst>
          </a:prstGeom>
          <a:solidFill>
            <a:srgbClr val="028090"/>
          </a:solidFill>
          <a:ln w="12700">
            <a:solidFill>
              <a:srgbClr val="028090"/>
            </a:solidFill>
            <a:prstDash val="solid"/>
          </a:ln>
        </p:spPr>
      </p:sp>
      <p:sp>
        <p:nvSpPr>
          <p:cNvPr id="3" name="Text 1"/>
          <p:cNvSpPr txBox="1"/>
          <p:nvPr/>
        </p:nvSpPr>
        <p:spPr>
          <a:xfrm>
            <a:off x="640080" y="475488"/>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7</a:t>
            </a:r>
            <a:endParaRPr lang="en-US" sz="1700" dirty="0"/>
          </a:p>
        </p:txBody>
      </p:sp>
      <p:sp>
        <p:nvSpPr>
          <p:cNvPr id="4" name="Text 2"/>
          <p:cNvSpPr txBox="1"/>
          <p:nvPr/>
        </p:nvSpPr>
        <p:spPr>
          <a:xfrm>
            <a:off x="1298448" y="457200"/>
            <a:ext cx="8686800" cy="256032"/>
          </a:xfrm>
          <a:prstGeom prst="rect">
            <a:avLst/>
          </a:prstGeom>
          <a:noFill/>
          <a:ln/>
        </p:spPr>
        <p:txBody>
          <a:bodyPr wrap="square" lIns="0" tIns="0" rIns="0" bIns="0" rtlCol="0" anchor="ctr"/>
          <a:lstStyle/>
          <a:p>
            <a:pPr indent="0" marL="0">
              <a:buNone/>
            </a:pPr>
            <a:r>
              <a:rPr lang="en-US" sz="1100" b="1" spc="160" kern="0" dirty="0">
                <a:solidFill>
                  <a:srgbClr val="02C39A"/>
                </a:solidFill>
                <a:latin typeface="Calibri" pitchFamily="34" charset="0"/>
                <a:ea typeface="Calibri" pitchFamily="34" charset="-122"/>
                <a:cs typeface="Calibri" pitchFamily="34" charset="-120"/>
              </a:rPr>
              <a:t>ÁNH XẠ ID</a:t>
            </a:r>
            <a:endParaRPr lang="en-US" sz="1100" dirty="0"/>
          </a:p>
        </p:txBody>
      </p:sp>
      <p:sp>
        <p:nvSpPr>
          <p:cNvPr id="5" name="Text 3"/>
          <p:cNvSpPr txBox="1"/>
          <p:nvPr/>
        </p:nvSpPr>
        <p:spPr>
          <a:xfrm>
            <a:off x="1298448" y="694944"/>
            <a:ext cx="10424160" cy="566928"/>
          </a:xfrm>
          <a:prstGeom prst="rect">
            <a:avLst/>
          </a:prstGeom>
          <a:noFill/>
          <a:ln/>
        </p:spPr>
        <p:txBody>
          <a:bodyPr wrap="square" lIns="0" tIns="0" rIns="0" bIns="0" rtlCol="0" anchor="ctr"/>
          <a:lstStyle/>
          <a:p>
            <a:pPr indent="0" marL="0">
              <a:buNone/>
            </a:pPr>
            <a:r>
              <a:rPr lang="en-US" sz="3000" b="1" dirty="0">
                <a:solidFill>
                  <a:srgbClr val="0B2027"/>
                </a:solidFill>
                <a:latin typeface="Cambria" pitchFamily="34" charset="0"/>
                <a:ea typeface="Cambria" pitchFamily="34" charset="-122"/>
                <a:cs typeface="Cambria" pitchFamily="34" charset="-120"/>
              </a:rPr>
              <a:t>Bảng ánh xạ chỉ là bộ nhớ đệm</a:t>
            </a:r>
            <a:endParaRPr lang="en-US" sz="3000" dirty="0"/>
          </a:p>
        </p:txBody>
      </p:sp>
      <p:sp>
        <p:nvSpPr>
          <p:cNvPr id="6" name="Text 4"/>
          <p:cNvSpPr txBox="1"/>
          <p:nvPr/>
        </p:nvSpPr>
        <p:spPr>
          <a:xfrm>
            <a:off x="640080" y="1481328"/>
            <a:ext cx="10881360" cy="365760"/>
          </a:xfrm>
          <a:prstGeom prst="rect">
            <a:avLst/>
          </a:prstGeom>
          <a:noFill/>
          <a:ln/>
        </p:spPr>
        <p:txBody>
          <a:bodyPr wrap="square" lIns="0" tIns="0" rIns="0" bIns="0" rtlCol="0" anchor="ctr"/>
          <a:lstStyle/>
          <a:p>
            <a:pPr indent="0" marL="0">
              <a:lnSpc>
                <a:spcPct val="125000"/>
              </a:lnSpc>
              <a:buNone/>
            </a:pPr>
            <a:r>
              <a:rPr lang="en-US" sz="1500" dirty="0">
                <a:solidFill>
                  <a:srgbClr val="5A6B70"/>
                </a:solidFill>
                <a:latin typeface="Calibri" pitchFamily="34" charset="0"/>
                <a:ea typeface="Calibri" pitchFamily="34" charset="-122"/>
                <a:cs typeface="Calibri" pitchFamily="34" charset="-120"/>
              </a:rPr>
              <a:t>UniSIS dùng mã chuỗi, UniLearn sinh ID số nội bộ. Câu hỏi thật là: cái gì mới là nguồn sự thật của mối liên kết?</a:t>
            </a:r>
            <a:endParaRPr lang="en-US" sz="1500" dirty="0"/>
          </a:p>
        </p:txBody>
      </p:sp>
      <p:sp>
        <p:nvSpPr>
          <p:cNvPr id="7" name="Shape 5"/>
          <p:cNvSpPr/>
          <p:nvPr/>
        </p:nvSpPr>
        <p:spPr>
          <a:xfrm>
            <a:off x="640080" y="2103120"/>
            <a:ext cx="5257800" cy="2057400"/>
          </a:xfrm>
          <a:prstGeom prst="roundRect">
            <a:avLst>
              <a:gd name="adj" fmla="val 2667"/>
            </a:avLst>
          </a:prstGeom>
          <a:solidFill>
            <a:srgbClr val="F2F6F6"/>
          </a:solidFill>
          <a:ln w="12700">
            <a:solidFill>
              <a:srgbClr val="F2F6F6"/>
            </a:solidFill>
            <a:prstDash val="solid"/>
          </a:ln>
        </p:spPr>
      </p:sp>
      <p:sp>
        <p:nvSpPr>
          <p:cNvPr id="8" name="Text 6"/>
          <p:cNvSpPr txBox="1"/>
          <p:nvPr/>
        </p:nvSpPr>
        <p:spPr>
          <a:xfrm>
            <a:off x="960120" y="2377440"/>
            <a:ext cx="4617720" cy="640080"/>
          </a:xfrm>
          <a:prstGeom prst="rect">
            <a:avLst/>
          </a:prstGeom>
          <a:noFill/>
          <a:ln/>
        </p:spPr>
        <p:txBody>
          <a:bodyPr wrap="square" lIns="0" tIns="0" rIns="0" bIns="0" rtlCol="0" anchor="ctr"/>
          <a:lstStyle/>
          <a:p>
            <a:pPr indent="0" marL="0">
              <a:lnSpc>
                <a:spcPct val="110000"/>
              </a:lnSpc>
              <a:buNone/>
            </a:pPr>
            <a:r>
              <a:rPr lang="en-US" sz="1500" b="1" dirty="0">
                <a:solidFill>
                  <a:srgbClr val="5A6B70"/>
                </a:solidFill>
                <a:latin typeface="Cambria" pitchFamily="34" charset="0"/>
                <a:ea typeface="Cambria" pitchFamily="34" charset="-122"/>
                <a:cs typeface="Cambria" pitchFamily="34" charset="-120"/>
              </a:rPr>
              <a:t>Bảng ánh xạ cục bộ là nguồn sự thật</a:t>
            </a:r>
            <a:endParaRPr lang="en-US" sz="1500" dirty="0"/>
          </a:p>
        </p:txBody>
      </p:sp>
      <p:sp>
        <p:nvSpPr>
          <p:cNvPr id="9" name="Text 7"/>
          <p:cNvSpPr txBox="1"/>
          <p:nvPr/>
        </p:nvSpPr>
        <p:spPr>
          <a:xfrm>
            <a:off x="960120" y="3108960"/>
            <a:ext cx="4617720" cy="914400"/>
          </a:xfrm>
          <a:prstGeom prst="rect">
            <a:avLst/>
          </a:prstGeom>
          <a:noFill/>
          <a:ln/>
        </p:spPr>
        <p:txBody>
          <a:bodyPr wrap="square" lIns="0" tIns="0" rIns="0" bIns="0" rtlCol="0" anchor="ctr"/>
          <a:lstStyle/>
          <a:p>
            <a:pPr indent="0" marL="0">
              <a:lnSpc>
                <a:spcPct val="120000"/>
              </a:lnSpc>
              <a:buNone/>
            </a:pPr>
            <a:r>
              <a:rPr lang="en-US" sz="1250" dirty="0">
                <a:solidFill>
                  <a:srgbClr val="0B2027"/>
                </a:solidFill>
                <a:latin typeface="Calibri" pitchFamily="34" charset="0"/>
                <a:ea typeface="Calibri" pitchFamily="34" charset="-122"/>
                <a:cs typeface="Calibri" pitchFamily="34" charset="-120"/>
              </a:rPr>
              <a:t>Mất một bản ghi là mất liên kết. Hệ thống sẽ tạo bản trùng. Không chịu được việc xóa cơ sở dữ liệu tích hợp.</a:t>
            </a:r>
            <a:endParaRPr lang="en-US" sz="1250" dirty="0"/>
          </a:p>
        </p:txBody>
      </p:sp>
      <p:sp>
        <p:nvSpPr>
          <p:cNvPr id="10" name="Shape 8"/>
          <p:cNvSpPr/>
          <p:nvPr/>
        </p:nvSpPr>
        <p:spPr>
          <a:xfrm>
            <a:off x="6263640" y="2103120"/>
            <a:ext cx="5257800" cy="2057400"/>
          </a:xfrm>
          <a:prstGeom prst="roundRect">
            <a:avLst>
              <a:gd name="adj" fmla="val 2667"/>
            </a:avLst>
          </a:prstGeom>
          <a:solidFill>
            <a:srgbClr val="E7F5F2"/>
          </a:solidFill>
          <a:ln w="12700">
            <a:solidFill>
              <a:srgbClr val="E7F5F2"/>
            </a:solidFill>
            <a:prstDash val="solid"/>
          </a:ln>
        </p:spPr>
      </p:sp>
      <p:sp>
        <p:nvSpPr>
          <p:cNvPr id="11" name="Text 9"/>
          <p:cNvSpPr txBox="1"/>
          <p:nvPr/>
        </p:nvSpPr>
        <p:spPr>
          <a:xfrm>
            <a:off x="6583680" y="2377440"/>
            <a:ext cx="4617720" cy="640080"/>
          </a:xfrm>
          <a:prstGeom prst="rect">
            <a:avLst/>
          </a:prstGeom>
          <a:noFill/>
          <a:ln/>
        </p:spPr>
        <p:txBody>
          <a:bodyPr wrap="square" lIns="0" tIns="0" rIns="0" bIns="0" rtlCol="0" anchor="ctr"/>
          <a:lstStyle/>
          <a:p>
            <a:pPr indent="0" marL="0">
              <a:lnSpc>
                <a:spcPct val="110000"/>
              </a:lnSpc>
              <a:buNone/>
            </a:pPr>
            <a:r>
              <a:rPr lang="en-US" sz="1500" b="1" dirty="0">
                <a:solidFill>
                  <a:srgbClr val="028090"/>
                </a:solidFill>
                <a:latin typeface="Cambria" pitchFamily="34" charset="0"/>
                <a:ea typeface="Cambria" pitchFamily="34" charset="-122"/>
                <a:cs typeface="Cambria" pitchFamily="34" charset="-120"/>
              </a:rPr>
              <a:t>Khóa nghiệp vụ ở hệ thống đích là nguồn sự thật</a:t>
            </a:r>
            <a:endParaRPr lang="en-US" sz="1500" dirty="0"/>
          </a:p>
        </p:txBody>
      </p:sp>
      <p:sp>
        <p:nvSpPr>
          <p:cNvPr id="12" name="Text 10"/>
          <p:cNvSpPr txBox="1"/>
          <p:nvPr/>
        </p:nvSpPr>
        <p:spPr>
          <a:xfrm>
            <a:off x="6583680" y="3108960"/>
            <a:ext cx="4617720" cy="914400"/>
          </a:xfrm>
          <a:prstGeom prst="rect">
            <a:avLst/>
          </a:prstGeom>
          <a:noFill/>
          <a:ln/>
        </p:spPr>
        <p:txBody>
          <a:bodyPr wrap="square" lIns="0" tIns="0" rIns="0" bIns="0" rtlCol="0" anchor="ctr"/>
          <a:lstStyle/>
          <a:p>
            <a:pPr indent="0" marL="0">
              <a:lnSpc>
                <a:spcPct val="120000"/>
              </a:lnSpc>
              <a:buNone/>
            </a:pPr>
            <a:r>
              <a:rPr lang="en-US" sz="1250" dirty="0">
                <a:solidFill>
                  <a:srgbClr val="0B2027"/>
                </a:solidFill>
                <a:latin typeface="Calibri" pitchFamily="34" charset="0"/>
                <a:ea typeface="Calibri" pitchFamily="34" charset="-122"/>
                <a:cs typeface="Calibri" pitchFamily="34" charset="-120"/>
              </a:rPr>
              <a:t>Tự khôi phục được. Chịu được mất dữ liệu cục bộ. Đối soát dùng chung một khóa. Đổi lại tốn thêm một lượt đọc khi đệm trống.</a:t>
            </a:r>
            <a:endParaRPr lang="en-US" sz="1250" dirty="0"/>
          </a:p>
        </p:txBody>
      </p:sp>
      <p:sp>
        <p:nvSpPr>
          <p:cNvPr id="13" name="Shape 11"/>
          <p:cNvSpPr/>
          <p:nvPr/>
        </p:nvSpPr>
        <p:spPr>
          <a:xfrm>
            <a:off x="640080" y="4434840"/>
            <a:ext cx="10881360" cy="1463040"/>
          </a:xfrm>
          <a:prstGeom prst="roundRect">
            <a:avLst>
              <a:gd name="adj" fmla="val 3750"/>
            </a:avLst>
          </a:prstGeom>
          <a:solidFill>
            <a:srgbClr val="0E2A33"/>
          </a:solidFill>
          <a:ln w="12700">
            <a:solidFill>
              <a:srgbClr val="0E2A33"/>
            </a:solidFill>
            <a:prstDash val="solid"/>
          </a:ln>
        </p:spPr>
      </p:sp>
      <p:sp>
        <p:nvSpPr>
          <p:cNvPr id="14" name="Text 12"/>
          <p:cNvSpPr txBox="1"/>
          <p:nvPr/>
        </p:nvSpPr>
        <p:spPr>
          <a:xfrm>
            <a:off x="1005840" y="4663440"/>
            <a:ext cx="10149840" cy="320040"/>
          </a:xfrm>
          <a:prstGeom prst="rect">
            <a:avLst/>
          </a:prstGeom>
          <a:noFill/>
          <a:ln/>
        </p:spPr>
        <p:txBody>
          <a:bodyPr wrap="square" lIns="0" tIns="0" rIns="0" bIns="0" rtlCol="0" anchor="ctr"/>
          <a:lstStyle/>
          <a:p>
            <a:pPr indent="0" marL="0">
              <a:lnSpc>
                <a:spcPct val="125000"/>
              </a:lnSpc>
              <a:buNone/>
            </a:pPr>
            <a:r>
              <a:rPr lang="en-US" sz="1200" b="1" dirty="0">
                <a:solidFill>
                  <a:srgbClr val="02C39A"/>
                </a:solidFill>
                <a:latin typeface="Calibri" pitchFamily="34" charset="0"/>
                <a:ea typeface="Calibri" pitchFamily="34" charset="-122"/>
                <a:cs typeface="Calibri" pitchFamily="34" charset="-120"/>
              </a:rPr>
              <a:t>ĐỀ TÀI CHỌN CÁCH THỨ HAI</a:t>
            </a:r>
            <a:endParaRPr lang="en-US" sz="1200" dirty="0"/>
          </a:p>
        </p:txBody>
      </p:sp>
      <p:sp>
        <p:nvSpPr>
          <p:cNvPr id="15" name="Text 13"/>
          <p:cNvSpPr txBox="1"/>
          <p:nvPr/>
        </p:nvSpPr>
        <p:spPr>
          <a:xfrm>
            <a:off x="1005840" y="5047488"/>
            <a:ext cx="10149840" cy="731520"/>
          </a:xfrm>
          <a:prstGeom prst="rect">
            <a:avLst/>
          </a:prstGeom>
          <a:noFill/>
          <a:ln/>
        </p:spPr>
        <p:txBody>
          <a:bodyPr wrap="square" lIns="0" tIns="0" rIns="0" bIns="0" rtlCol="0" anchor="ctr"/>
          <a:lstStyle/>
          <a:p>
            <a:pPr indent="0" marL="0">
              <a:lnSpc>
                <a:spcPct val="120000"/>
              </a:lnSpc>
              <a:buNone/>
            </a:pPr>
            <a:r>
              <a:rPr lang="en-US" sz="1350" dirty="0">
                <a:solidFill>
                  <a:srgbClr val="CFE7E4"/>
                </a:solidFill>
                <a:latin typeface="Calibri" pitchFamily="34" charset="0"/>
                <a:ea typeface="Calibri" pitchFamily="34" charset="-122"/>
                <a:cs typeface="Calibri" pitchFamily="34" charset="-120"/>
              </a:rPr>
              <a:t>Khóa nghiệp vụ thật sự là externalRef và externalCode — do chính hệ thống đích lưu. Xóa bảng ánh xạ thì hàm hội tụ hỏi lại hệ thống đích, tìm thấy đối tượng, ghi lại ánh xạ và đi tiếp. Không tạo bản trùng. Các ca I10, I25, I39 kiểm chứng.</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75488"/>
            <a:ext cx="475488" cy="475488"/>
          </a:xfrm>
          <a:prstGeom prst="roundRect">
            <a:avLst>
              <a:gd name="adj" fmla="val 23077"/>
            </a:avLst>
          </a:prstGeom>
          <a:solidFill>
            <a:srgbClr val="028090"/>
          </a:solidFill>
          <a:ln w="12700">
            <a:solidFill>
              <a:srgbClr val="028090"/>
            </a:solidFill>
            <a:prstDash val="solid"/>
          </a:ln>
        </p:spPr>
      </p:sp>
      <p:sp>
        <p:nvSpPr>
          <p:cNvPr id="3" name="Text 1"/>
          <p:cNvSpPr txBox="1"/>
          <p:nvPr/>
        </p:nvSpPr>
        <p:spPr>
          <a:xfrm>
            <a:off x="640080" y="475488"/>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8</a:t>
            </a:r>
            <a:endParaRPr lang="en-US" sz="1700" dirty="0"/>
          </a:p>
        </p:txBody>
      </p:sp>
      <p:sp>
        <p:nvSpPr>
          <p:cNvPr id="4" name="Text 2"/>
          <p:cNvSpPr txBox="1"/>
          <p:nvPr/>
        </p:nvSpPr>
        <p:spPr>
          <a:xfrm>
            <a:off x="1298448" y="457200"/>
            <a:ext cx="8686800" cy="256032"/>
          </a:xfrm>
          <a:prstGeom prst="rect">
            <a:avLst/>
          </a:prstGeom>
          <a:noFill/>
          <a:ln/>
        </p:spPr>
        <p:txBody>
          <a:bodyPr wrap="square" lIns="0" tIns="0" rIns="0" bIns="0" rtlCol="0" anchor="ctr"/>
          <a:lstStyle/>
          <a:p>
            <a:pPr indent="0" marL="0">
              <a:buNone/>
            </a:pPr>
            <a:r>
              <a:rPr lang="en-US" sz="1100" b="1" spc="160" kern="0" dirty="0">
                <a:solidFill>
                  <a:srgbClr val="02C39A"/>
                </a:solidFill>
                <a:latin typeface="Calibri" pitchFamily="34" charset="0"/>
                <a:ea typeface="Calibri" pitchFamily="34" charset="-122"/>
                <a:cs typeface="Calibri" pitchFamily="34" charset="-120"/>
              </a:rPr>
              <a:t>HỢP ĐỒNG LỖI</a:t>
            </a:r>
            <a:endParaRPr lang="en-US" sz="1100" dirty="0"/>
          </a:p>
        </p:txBody>
      </p:sp>
      <p:sp>
        <p:nvSpPr>
          <p:cNvPr id="5" name="Text 3"/>
          <p:cNvSpPr txBox="1"/>
          <p:nvPr/>
        </p:nvSpPr>
        <p:spPr>
          <a:xfrm>
            <a:off x="1298448" y="694944"/>
            <a:ext cx="10424160" cy="566928"/>
          </a:xfrm>
          <a:prstGeom prst="rect">
            <a:avLst/>
          </a:prstGeom>
          <a:noFill/>
          <a:ln/>
        </p:spPr>
        <p:txBody>
          <a:bodyPr wrap="square" lIns="0" tIns="0" rIns="0" bIns="0" rtlCol="0" anchor="ctr"/>
          <a:lstStyle/>
          <a:p>
            <a:pPr indent="0" marL="0">
              <a:buNone/>
            </a:pPr>
            <a:r>
              <a:rPr lang="en-US" sz="3000" b="1" dirty="0">
                <a:solidFill>
                  <a:srgbClr val="0B2027"/>
                </a:solidFill>
                <a:latin typeface="Cambria" pitchFamily="34" charset="0"/>
                <a:ea typeface="Cambria" pitchFamily="34" charset="-122"/>
                <a:cs typeface="Cambria" pitchFamily="34" charset="-120"/>
              </a:rPr>
              <a:t>Phân loại lỗi quyết định thử lại hay dừng</a:t>
            </a:r>
            <a:endParaRPr lang="en-US" sz="3000" dirty="0"/>
          </a:p>
        </p:txBody>
      </p:sp>
      <p:sp>
        <p:nvSpPr>
          <p:cNvPr id="6" name="Shape 4"/>
          <p:cNvSpPr/>
          <p:nvPr/>
        </p:nvSpPr>
        <p:spPr>
          <a:xfrm>
            <a:off x="640080" y="1572768"/>
            <a:ext cx="8138160" cy="420624"/>
          </a:xfrm>
          <a:prstGeom prst="roundRect">
            <a:avLst>
              <a:gd name="adj" fmla="val 13043"/>
            </a:avLst>
          </a:prstGeom>
          <a:solidFill>
            <a:srgbClr val="FFFFFF"/>
          </a:solidFill>
          <a:ln w="12700">
            <a:solidFill>
              <a:srgbClr val="FFFFFF"/>
            </a:solidFill>
            <a:prstDash val="solid"/>
          </a:ln>
        </p:spPr>
      </p:sp>
      <p:sp>
        <p:nvSpPr>
          <p:cNvPr id="7" name="Text 5"/>
          <p:cNvSpPr txBox="1"/>
          <p:nvPr/>
        </p:nvSpPr>
        <p:spPr>
          <a:xfrm>
            <a:off x="841248" y="1673352"/>
            <a:ext cx="1188720" cy="237744"/>
          </a:xfrm>
          <a:prstGeom prst="rect">
            <a:avLst/>
          </a:prstGeom>
          <a:noFill/>
          <a:ln/>
        </p:spPr>
        <p:txBody>
          <a:bodyPr wrap="square" lIns="0" tIns="0" rIns="0" bIns="0" rtlCol="0" anchor="ctr"/>
          <a:lstStyle/>
          <a:p>
            <a:pPr indent="0" marL="0">
              <a:lnSpc>
                <a:spcPct val="125000"/>
              </a:lnSpc>
              <a:buNone/>
            </a:pPr>
            <a:r>
              <a:rPr lang="en-US" sz="1300" b="1" dirty="0">
                <a:solidFill>
                  <a:srgbClr val="028090"/>
                </a:solidFill>
                <a:latin typeface="Calibri" pitchFamily="34" charset="0"/>
                <a:ea typeface="Calibri" pitchFamily="34" charset="-122"/>
                <a:cs typeface="Calibri" pitchFamily="34" charset="-120"/>
              </a:rPr>
              <a:t>401</a:t>
            </a:r>
            <a:endParaRPr lang="en-US" sz="1300" dirty="0"/>
          </a:p>
        </p:txBody>
      </p:sp>
      <p:sp>
        <p:nvSpPr>
          <p:cNvPr id="8" name="Text 6"/>
          <p:cNvSpPr txBox="1"/>
          <p:nvPr/>
        </p:nvSpPr>
        <p:spPr>
          <a:xfrm>
            <a:off x="2103120" y="1673352"/>
            <a:ext cx="2377440" cy="237744"/>
          </a:xfrm>
          <a:prstGeom prst="rect">
            <a:avLst/>
          </a:prstGeom>
          <a:noFill/>
          <a:ln/>
        </p:spPr>
        <p:txBody>
          <a:bodyPr wrap="square" lIns="0" tIns="0" rIns="0" bIns="0" rtlCol="0" anchor="ctr"/>
          <a:lstStyle/>
          <a:p>
            <a:pPr indent="0" marL="0">
              <a:lnSpc>
                <a:spcPct val="125000"/>
              </a:lnSpc>
              <a:buNone/>
            </a:pPr>
            <a:r>
              <a:rPr lang="en-US" sz="1250" dirty="0">
                <a:solidFill>
                  <a:srgbClr val="0B2027"/>
                </a:solidFill>
                <a:latin typeface="Calibri" pitchFamily="34" charset="0"/>
                <a:ea typeface="Calibri" pitchFamily="34" charset="-122"/>
                <a:cs typeface="Calibri" pitchFamily="34" charset="-120"/>
              </a:rPr>
              <a:t>Token hết hạn</a:t>
            </a:r>
            <a:endParaRPr lang="en-US" sz="1250" dirty="0"/>
          </a:p>
        </p:txBody>
      </p:sp>
      <p:sp>
        <p:nvSpPr>
          <p:cNvPr id="9" name="Text 7"/>
          <p:cNvSpPr txBox="1"/>
          <p:nvPr/>
        </p:nvSpPr>
        <p:spPr>
          <a:xfrm>
            <a:off x="4572000" y="1673352"/>
            <a:ext cx="4023360" cy="237744"/>
          </a:xfrm>
          <a:prstGeom prst="rect">
            <a:avLst/>
          </a:prstGeom>
          <a:noFill/>
          <a:ln/>
        </p:spPr>
        <p:txBody>
          <a:bodyPr wrap="square" lIns="0" tIns="0" rIns="0" bIns="0" rtlCol="0" anchor="ctr"/>
          <a:lstStyle/>
          <a:p>
            <a:pPr indent="0" marL="0">
              <a:lnSpc>
                <a:spcPct val="125000"/>
              </a:lnSpc>
              <a:buNone/>
            </a:pPr>
            <a:r>
              <a:rPr lang="en-US" sz="1250" dirty="0">
                <a:solidFill>
                  <a:srgbClr val="5A6B70"/>
                </a:solidFill>
                <a:latin typeface="Calibri" pitchFamily="34" charset="0"/>
                <a:ea typeface="Calibri" pitchFamily="34" charset="-122"/>
                <a:cs typeface="Calibri" pitchFamily="34" charset="-120"/>
              </a:rPr>
              <a:t>Tự lấy token mới, thử lại một lần</a:t>
            </a:r>
            <a:endParaRPr lang="en-US" sz="1250" dirty="0"/>
          </a:p>
        </p:txBody>
      </p:sp>
      <p:sp>
        <p:nvSpPr>
          <p:cNvPr id="10" name="Shape 8"/>
          <p:cNvSpPr/>
          <p:nvPr/>
        </p:nvSpPr>
        <p:spPr>
          <a:xfrm>
            <a:off x="640080" y="2084832"/>
            <a:ext cx="8138160" cy="420624"/>
          </a:xfrm>
          <a:prstGeom prst="roundRect">
            <a:avLst>
              <a:gd name="adj" fmla="val 13043"/>
            </a:avLst>
          </a:prstGeom>
          <a:solidFill>
            <a:srgbClr val="F2F6F6"/>
          </a:solidFill>
          <a:ln w="12700">
            <a:solidFill>
              <a:srgbClr val="F2F6F6"/>
            </a:solidFill>
            <a:prstDash val="solid"/>
          </a:ln>
        </p:spPr>
      </p:sp>
      <p:sp>
        <p:nvSpPr>
          <p:cNvPr id="11" name="Text 9"/>
          <p:cNvSpPr txBox="1"/>
          <p:nvPr/>
        </p:nvSpPr>
        <p:spPr>
          <a:xfrm>
            <a:off x="841248" y="2185416"/>
            <a:ext cx="1188720" cy="237744"/>
          </a:xfrm>
          <a:prstGeom prst="rect">
            <a:avLst/>
          </a:prstGeom>
          <a:noFill/>
          <a:ln/>
        </p:spPr>
        <p:txBody>
          <a:bodyPr wrap="square" lIns="0" tIns="0" rIns="0" bIns="0" rtlCol="0" anchor="ctr"/>
          <a:lstStyle/>
          <a:p>
            <a:pPr indent="0" marL="0">
              <a:lnSpc>
                <a:spcPct val="125000"/>
              </a:lnSpc>
              <a:buNone/>
            </a:pPr>
            <a:r>
              <a:rPr lang="en-US" sz="1300" b="1" dirty="0">
                <a:solidFill>
                  <a:srgbClr val="B8620B"/>
                </a:solidFill>
                <a:latin typeface="Calibri" pitchFamily="34" charset="0"/>
                <a:ea typeface="Calibri" pitchFamily="34" charset="-122"/>
                <a:cs typeface="Calibri" pitchFamily="34" charset="-120"/>
              </a:rPr>
              <a:t>403</a:t>
            </a:r>
            <a:endParaRPr lang="en-US" sz="1300" dirty="0"/>
          </a:p>
        </p:txBody>
      </p:sp>
      <p:sp>
        <p:nvSpPr>
          <p:cNvPr id="12" name="Text 10"/>
          <p:cNvSpPr txBox="1"/>
          <p:nvPr/>
        </p:nvSpPr>
        <p:spPr>
          <a:xfrm>
            <a:off x="2103120" y="2185416"/>
            <a:ext cx="2377440" cy="237744"/>
          </a:xfrm>
          <a:prstGeom prst="rect">
            <a:avLst/>
          </a:prstGeom>
          <a:noFill/>
          <a:ln/>
        </p:spPr>
        <p:txBody>
          <a:bodyPr wrap="square" lIns="0" tIns="0" rIns="0" bIns="0" rtlCol="0" anchor="ctr"/>
          <a:lstStyle/>
          <a:p>
            <a:pPr indent="0" marL="0">
              <a:lnSpc>
                <a:spcPct val="125000"/>
              </a:lnSpc>
              <a:buNone/>
            </a:pPr>
            <a:r>
              <a:rPr lang="en-US" sz="1250" dirty="0">
                <a:solidFill>
                  <a:srgbClr val="0B2027"/>
                </a:solidFill>
                <a:latin typeface="Calibri" pitchFamily="34" charset="0"/>
                <a:ea typeface="Calibri" pitchFamily="34" charset="-122"/>
                <a:cs typeface="Calibri" pitchFamily="34" charset="-120"/>
              </a:rPr>
              <a:t>Không đủ quyền</a:t>
            </a:r>
            <a:endParaRPr lang="en-US" sz="1250" dirty="0"/>
          </a:p>
        </p:txBody>
      </p:sp>
      <p:sp>
        <p:nvSpPr>
          <p:cNvPr id="13" name="Text 11"/>
          <p:cNvSpPr txBox="1"/>
          <p:nvPr/>
        </p:nvSpPr>
        <p:spPr>
          <a:xfrm>
            <a:off x="4572000" y="2185416"/>
            <a:ext cx="4023360" cy="237744"/>
          </a:xfrm>
          <a:prstGeom prst="rect">
            <a:avLst/>
          </a:prstGeom>
          <a:noFill/>
          <a:ln/>
        </p:spPr>
        <p:txBody>
          <a:bodyPr wrap="square" lIns="0" tIns="0" rIns="0" bIns="0" rtlCol="0" anchor="ctr"/>
          <a:lstStyle/>
          <a:p>
            <a:pPr indent="0" marL="0">
              <a:lnSpc>
                <a:spcPct val="125000"/>
              </a:lnSpc>
              <a:buNone/>
            </a:pPr>
            <a:r>
              <a:rPr lang="en-US" sz="1250" dirty="0">
                <a:solidFill>
                  <a:srgbClr val="5A6B70"/>
                </a:solidFill>
                <a:latin typeface="Calibri" pitchFamily="34" charset="0"/>
                <a:ea typeface="Calibri" pitchFamily="34" charset="-122"/>
                <a:cs typeface="Calibri" pitchFamily="34" charset="-120"/>
              </a:rPr>
              <a:t>Dừng, dead-letter — thử lại vô ích</a:t>
            </a:r>
            <a:endParaRPr lang="en-US" sz="1250" dirty="0"/>
          </a:p>
        </p:txBody>
      </p:sp>
      <p:sp>
        <p:nvSpPr>
          <p:cNvPr id="14" name="Shape 12"/>
          <p:cNvSpPr/>
          <p:nvPr/>
        </p:nvSpPr>
        <p:spPr>
          <a:xfrm>
            <a:off x="640080" y="2596896"/>
            <a:ext cx="8138160" cy="420624"/>
          </a:xfrm>
          <a:prstGeom prst="roundRect">
            <a:avLst>
              <a:gd name="adj" fmla="val 13043"/>
            </a:avLst>
          </a:prstGeom>
          <a:solidFill>
            <a:srgbClr val="FFFFFF"/>
          </a:solidFill>
          <a:ln w="12700">
            <a:solidFill>
              <a:srgbClr val="FFFFFF"/>
            </a:solidFill>
            <a:prstDash val="solid"/>
          </a:ln>
        </p:spPr>
      </p:sp>
      <p:sp>
        <p:nvSpPr>
          <p:cNvPr id="15" name="Text 13"/>
          <p:cNvSpPr txBox="1"/>
          <p:nvPr/>
        </p:nvSpPr>
        <p:spPr>
          <a:xfrm>
            <a:off x="841248" y="2697480"/>
            <a:ext cx="1188720" cy="237744"/>
          </a:xfrm>
          <a:prstGeom prst="rect">
            <a:avLst/>
          </a:prstGeom>
          <a:noFill/>
          <a:ln/>
        </p:spPr>
        <p:txBody>
          <a:bodyPr wrap="square" lIns="0" tIns="0" rIns="0" bIns="0" rtlCol="0" anchor="ctr"/>
          <a:lstStyle/>
          <a:p>
            <a:pPr indent="0" marL="0">
              <a:lnSpc>
                <a:spcPct val="125000"/>
              </a:lnSpc>
              <a:buNone/>
            </a:pPr>
            <a:r>
              <a:rPr lang="en-US" sz="1300" b="1" dirty="0">
                <a:solidFill>
                  <a:srgbClr val="028090"/>
                </a:solidFill>
                <a:latin typeface="Calibri" pitchFamily="34" charset="0"/>
                <a:ea typeface="Calibri" pitchFamily="34" charset="-122"/>
                <a:cs typeface="Calibri" pitchFamily="34" charset="-120"/>
              </a:rPr>
              <a:t>404</a:t>
            </a:r>
            <a:endParaRPr lang="en-US" sz="1300" dirty="0"/>
          </a:p>
        </p:txBody>
      </p:sp>
      <p:sp>
        <p:nvSpPr>
          <p:cNvPr id="16" name="Text 14"/>
          <p:cNvSpPr txBox="1"/>
          <p:nvPr/>
        </p:nvSpPr>
        <p:spPr>
          <a:xfrm>
            <a:off x="2103120" y="2697480"/>
            <a:ext cx="2377440" cy="237744"/>
          </a:xfrm>
          <a:prstGeom prst="rect">
            <a:avLst/>
          </a:prstGeom>
          <a:noFill/>
          <a:ln/>
        </p:spPr>
        <p:txBody>
          <a:bodyPr wrap="square" lIns="0" tIns="0" rIns="0" bIns="0" rtlCol="0" anchor="ctr"/>
          <a:lstStyle/>
          <a:p>
            <a:pPr indent="0" marL="0">
              <a:lnSpc>
                <a:spcPct val="125000"/>
              </a:lnSpc>
              <a:buNone/>
            </a:pPr>
            <a:r>
              <a:rPr lang="en-US" sz="1250" dirty="0">
                <a:solidFill>
                  <a:srgbClr val="0B2027"/>
                </a:solidFill>
                <a:latin typeface="Calibri" pitchFamily="34" charset="0"/>
                <a:ea typeface="Calibri" pitchFamily="34" charset="-122"/>
                <a:cs typeface="Calibri" pitchFamily="34" charset="-120"/>
              </a:rPr>
              <a:t>Không tìm thấy</a:t>
            </a:r>
            <a:endParaRPr lang="en-US" sz="1250" dirty="0"/>
          </a:p>
        </p:txBody>
      </p:sp>
      <p:sp>
        <p:nvSpPr>
          <p:cNvPr id="17" name="Text 15"/>
          <p:cNvSpPr txBox="1"/>
          <p:nvPr/>
        </p:nvSpPr>
        <p:spPr>
          <a:xfrm>
            <a:off x="4572000" y="2697480"/>
            <a:ext cx="4023360" cy="237744"/>
          </a:xfrm>
          <a:prstGeom prst="rect">
            <a:avLst/>
          </a:prstGeom>
          <a:noFill/>
          <a:ln/>
        </p:spPr>
        <p:txBody>
          <a:bodyPr wrap="square" lIns="0" tIns="0" rIns="0" bIns="0" rtlCol="0" anchor="ctr"/>
          <a:lstStyle/>
          <a:p>
            <a:pPr indent="0" marL="0">
              <a:lnSpc>
                <a:spcPct val="125000"/>
              </a:lnSpc>
              <a:buNone/>
            </a:pPr>
            <a:r>
              <a:rPr lang="en-US" sz="1250" dirty="0">
                <a:solidFill>
                  <a:srgbClr val="5A6B70"/>
                </a:solidFill>
                <a:latin typeface="Calibri" pitchFamily="34" charset="0"/>
                <a:ea typeface="Calibri" pitchFamily="34" charset="-122"/>
                <a:cs typeface="Calibri" pitchFamily="34" charset="-120"/>
              </a:rPr>
              <a:t>Tùy ngữ cảnh — xóa trả 404 là đã đúng</a:t>
            </a:r>
            <a:endParaRPr lang="en-US" sz="1250" dirty="0"/>
          </a:p>
        </p:txBody>
      </p:sp>
      <p:sp>
        <p:nvSpPr>
          <p:cNvPr id="18" name="Shape 16"/>
          <p:cNvSpPr/>
          <p:nvPr/>
        </p:nvSpPr>
        <p:spPr>
          <a:xfrm>
            <a:off x="640080" y="3108960"/>
            <a:ext cx="8138160" cy="420624"/>
          </a:xfrm>
          <a:prstGeom prst="roundRect">
            <a:avLst>
              <a:gd name="adj" fmla="val 13043"/>
            </a:avLst>
          </a:prstGeom>
          <a:solidFill>
            <a:srgbClr val="F2F6F6"/>
          </a:solidFill>
          <a:ln w="12700">
            <a:solidFill>
              <a:srgbClr val="F2F6F6"/>
            </a:solidFill>
            <a:prstDash val="solid"/>
          </a:ln>
        </p:spPr>
      </p:sp>
      <p:sp>
        <p:nvSpPr>
          <p:cNvPr id="19" name="Text 17"/>
          <p:cNvSpPr txBox="1"/>
          <p:nvPr/>
        </p:nvSpPr>
        <p:spPr>
          <a:xfrm>
            <a:off x="841248" y="3209544"/>
            <a:ext cx="1188720" cy="237744"/>
          </a:xfrm>
          <a:prstGeom prst="rect">
            <a:avLst/>
          </a:prstGeom>
          <a:noFill/>
          <a:ln/>
        </p:spPr>
        <p:txBody>
          <a:bodyPr wrap="square" lIns="0" tIns="0" rIns="0" bIns="0" rtlCol="0" anchor="ctr"/>
          <a:lstStyle/>
          <a:p>
            <a:pPr indent="0" marL="0">
              <a:lnSpc>
                <a:spcPct val="125000"/>
              </a:lnSpc>
              <a:buNone/>
            </a:pPr>
            <a:r>
              <a:rPr lang="en-US" sz="1300" b="1" dirty="0">
                <a:solidFill>
                  <a:srgbClr val="028090"/>
                </a:solidFill>
                <a:latin typeface="Calibri" pitchFamily="34" charset="0"/>
                <a:ea typeface="Calibri" pitchFamily="34" charset="-122"/>
                <a:cs typeface="Calibri" pitchFamily="34" charset="-120"/>
              </a:rPr>
              <a:t>409</a:t>
            </a:r>
            <a:endParaRPr lang="en-US" sz="1300" dirty="0"/>
          </a:p>
        </p:txBody>
      </p:sp>
      <p:sp>
        <p:nvSpPr>
          <p:cNvPr id="20" name="Text 18"/>
          <p:cNvSpPr txBox="1"/>
          <p:nvPr/>
        </p:nvSpPr>
        <p:spPr>
          <a:xfrm>
            <a:off x="2103120" y="3209544"/>
            <a:ext cx="2377440" cy="237744"/>
          </a:xfrm>
          <a:prstGeom prst="rect">
            <a:avLst/>
          </a:prstGeom>
          <a:noFill/>
          <a:ln/>
        </p:spPr>
        <p:txBody>
          <a:bodyPr wrap="square" lIns="0" tIns="0" rIns="0" bIns="0" rtlCol="0" anchor="ctr"/>
          <a:lstStyle/>
          <a:p>
            <a:pPr indent="0" marL="0">
              <a:lnSpc>
                <a:spcPct val="125000"/>
              </a:lnSpc>
              <a:buNone/>
            </a:pPr>
            <a:r>
              <a:rPr lang="en-US" sz="1250" dirty="0">
                <a:solidFill>
                  <a:srgbClr val="0B2027"/>
                </a:solidFill>
                <a:latin typeface="Calibri" pitchFamily="34" charset="0"/>
                <a:ea typeface="Calibri" pitchFamily="34" charset="-122"/>
                <a:cs typeface="Calibri" pitchFamily="34" charset="-120"/>
              </a:rPr>
              <a:t>Xung đột</a:t>
            </a:r>
            <a:endParaRPr lang="en-US" sz="1250" dirty="0"/>
          </a:p>
        </p:txBody>
      </p:sp>
      <p:sp>
        <p:nvSpPr>
          <p:cNvPr id="21" name="Text 19"/>
          <p:cNvSpPr txBox="1"/>
          <p:nvPr/>
        </p:nvSpPr>
        <p:spPr>
          <a:xfrm>
            <a:off x="4572000" y="3209544"/>
            <a:ext cx="4023360" cy="237744"/>
          </a:xfrm>
          <a:prstGeom prst="rect">
            <a:avLst/>
          </a:prstGeom>
          <a:noFill/>
          <a:ln/>
        </p:spPr>
        <p:txBody>
          <a:bodyPr wrap="square" lIns="0" tIns="0" rIns="0" bIns="0" rtlCol="0" anchor="ctr"/>
          <a:lstStyle/>
          <a:p>
            <a:pPr indent="0" marL="0">
              <a:lnSpc>
                <a:spcPct val="125000"/>
              </a:lnSpc>
              <a:buNone/>
            </a:pPr>
            <a:r>
              <a:rPr lang="en-US" sz="1250" dirty="0">
                <a:solidFill>
                  <a:srgbClr val="5A6B70"/>
                </a:solidFill>
                <a:latin typeface="Calibri" pitchFamily="34" charset="0"/>
                <a:ea typeface="Calibri" pitchFamily="34" charset="-122"/>
                <a:cs typeface="Calibri" pitchFamily="34" charset="-120"/>
              </a:rPr>
              <a:t>Thành công idempotent — thứ cần tạo đã có</a:t>
            </a:r>
            <a:endParaRPr lang="en-US" sz="1250" dirty="0"/>
          </a:p>
        </p:txBody>
      </p:sp>
      <p:sp>
        <p:nvSpPr>
          <p:cNvPr id="22" name="Shape 20"/>
          <p:cNvSpPr/>
          <p:nvPr/>
        </p:nvSpPr>
        <p:spPr>
          <a:xfrm>
            <a:off x="640080" y="3621024"/>
            <a:ext cx="8138160" cy="420624"/>
          </a:xfrm>
          <a:prstGeom prst="roundRect">
            <a:avLst>
              <a:gd name="adj" fmla="val 13043"/>
            </a:avLst>
          </a:prstGeom>
          <a:solidFill>
            <a:srgbClr val="FFFFFF"/>
          </a:solidFill>
          <a:ln w="12700">
            <a:solidFill>
              <a:srgbClr val="FFFFFF"/>
            </a:solidFill>
            <a:prstDash val="solid"/>
          </a:ln>
        </p:spPr>
      </p:sp>
      <p:sp>
        <p:nvSpPr>
          <p:cNvPr id="23" name="Text 21"/>
          <p:cNvSpPr txBox="1"/>
          <p:nvPr/>
        </p:nvSpPr>
        <p:spPr>
          <a:xfrm>
            <a:off x="841248" y="3721608"/>
            <a:ext cx="1188720" cy="237744"/>
          </a:xfrm>
          <a:prstGeom prst="rect">
            <a:avLst/>
          </a:prstGeom>
          <a:noFill/>
          <a:ln/>
        </p:spPr>
        <p:txBody>
          <a:bodyPr wrap="square" lIns="0" tIns="0" rIns="0" bIns="0" rtlCol="0" anchor="ctr"/>
          <a:lstStyle/>
          <a:p>
            <a:pPr indent="0" marL="0">
              <a:lnSpc>
                <a:spcPct val="125000"/>
              </a:lnSpc>
              <a:buNone/>
            </a:pPr>
            <a:r>
              <a:rPr lang="en-US" sz="1300" b="1" dirty="0">
                <a:solidFill>
                  <a:srgbClr val="B8620B"/>
                </a:solidFill>
                <a:latin typeface="Calibri" pitchFamily="34" charset="0"/>
                <a:ea typeface="Calibri" pitchFamily="34" charset="-122"/>
                <a:cs typeface="Calibri" pitchFamily="34" charset="-120"/>
              </a:rPr>
              <a:t>422</a:t>
            </a:r>
            <a:endParaRPr lang="en-US" sz="1300" dirty="0"/>
          </a:p>
        </p:txBody>
      </p:sp>
      <p:sp>
        <p:nvSpPr>
          <p:cNvPr id="24" name="Text 22"/>
          <p:cNvSpPr txBox="1"/>
          <p:nvPr/>
        </p:nvSpPr>
        <p:spPr>
          <a:xfrm>
            <a:off x="2103120" y="3721608"/>
            <a:ext cx="2377440" cy="237744"/>
          </a:xfrm>
          <a:prstGeom prst="rect">
            <a:avLst/>
          </a:prstGeom>
          <a:noFill/>
          <a:ln/>
        </p:spPr>
        <p:txBody>
          <a:bodyPr wrap="square" lIns="0" tIns="0" rIns="0" bIns="0" rtlCol="0" anchor="ctr"/>
          <a:lstStyle/>
          <a:p>
            <a:pPr indent="0" marL="0">
              <a:lnSpc>
                <a:spcPct val="125000"/>
              </a:lnSpc>
              <a:buNone/>
            </a:pPr>
            <a:r>
              <a:rPr lang="en-US" sz="1250" dirty="0">
                <a:solidFill>
                  <a:srgbClr val="0B2027"/>
                </a:solidFill>
                <a:latin typeface="Calibri" pitchFamily="34" charset="0"/>
                <a:ea typeface="Calibri" pitchFamily="34" charset="-122"/>
                <a:cs typeface="Calibri" pitchFamily="34" charset="-120"/>
              </a:rPr>
              <a:t>Lỗi dữ liệu</a:t>
            </a:r>
            <a:endParaRPr lang="en-US" sz="1250" dirty="0"/>
          </a:p>
        </p:txBody>
      </p:sp>
      <p:sp>
        <p:nvSpPr>
          <p:cNvPr id="25" name="Text 23"/>
          <p:cNvSpPr txBox="1"/>
          <p:nvPr/>
        </p:nvSpPr>
        <p:spPr>
          <a:xfrm>
            <a:off x="4572000" y="3721608"/>
            <a:ext cx="4023360" cy="237744"/>
          </a:xfrm>
          <a:prstGeom prst="rect">
            <a:avLst/>
          </a:prstGeom>
          <a:noFill/>
          <a:ln/>
        </p:spPr>
        <p:txBody>
          <a:bodyPr wrap="square" lIns="0" tIns="0" rIns="0" bIns="0" rtlCol="0" anchor="ctr"/>
          <a:lstStyle/>
          <a:p>
            <a:pPr indent="0" marL="0">
              <a:lnSpc>
                <a:spcPct val="125000"/>
              </a:lnSpc>
              <a:buNone/>
            </a:pPr>
            <a:r>
              <a:rPr lang="en-US" sz="1250" dirty="0">
                <a:solidFill>
                  <a:srgbClr val="5A6B70"/>
                </a:solidFill>
                <a:latin typeface="Calibri" pitchFamily="34" charset="0"/>
                <a:ea typeface="Calibri" pitchFamily="34" charset="-122"/>
                <a:cs typeface="Calibri" pitchFamily="34" charset="-120"/>
              </a:rPr>
              <a:t>Dead-letter NGAY, không thử lại</a:t>
            </a:r>
            <a:endParaRPr lang="en-US" sz="1250" dirty="0"/>
          </a:p>
        </p:txBody>
      </p:sp>
      <p:sp>
        <p:nvSpPr>
          <p:cNvPr id="26" name="Shape 24"/>
          <p:cNvSpPr/>
          <p:nvPr/>
        </p:nvSpPr>
        <p:spPr>
          <a:xfrm>
            <a:off x="640080" y="4133088"/>
            <a:ext cx="8138160" cy="420624"/>
          </a:xfrm>
          <a:prstGeom prst="roundRect">
            <a:avLst>
              <a:gd name="adj" fmla="val 13043"/>
            </a:avLst>
          </a:prstGeom>
          <a:solidFill>
            <a:srgbClr val="F2F6F6"/>
          </a:solidFill>
          <a:ln w="12700">
            <a:solidFill>
              <a:srgbClr val="F2F6F6"/>
            </a:solidFill>
            <a:prstDash val="solid"/>
          </a:ln>
        </p:spPr>
      </p:sp>
      <p:sp>
        <p:nvSpPr>
          <p:cNvPr id="27" name="Text 25"/>
          <p:cNvSpPr txBox="1"/>
          <p:nvPr/>
        </p:nvSpPr>
        <p:spPr>
          <a:xfrm>
            <a:off x="841248" y="4233672"/>
            <a:ext cx="1188720" cy="237744"/>
          </a:xfrm>
          <a:prstGeom prst="rect">
            <a:avLst/>
          </a:prstGeom>
          <a:noFill/>
          <a:ln/>
        </p:spPr>
        <p:txBody>
          <a:bodyPr wrap="square" lIns="0" tIns="0" rIns="0" bIns="0" rtlCol="0" anchor="ctr"/>
          <a:lstStyle/>
          <a:p>
            <a:pPr indent="0" marL="0">
              <a:lnSpc>
                <a:spcPct val="125000"/>
              </a:lnSpc>
              <a:buNone/>
            </a:pPr>
            <a:r>
              <a:rPr lang="en-US" sz="1300" b="1" dirty="0">
                <a:solidFill>
                  <a:srgbClr val="B8620B"/>
                </a:solidFill>
                <a:latin typeface="Calibri" pitchFamily="34" charset="0"/>
                <a:ea typeface="Calibri" pitchFamily="34" charset="-122"/>
                <a:cs typeface="Calibri" pitchFamily="34" charset="-120"/>
              </a:rPr>
              <a:t>429</a:t>
            </a:r>
            <a:endParaRPr lang="en-US" sz="1300" dirty="0"/>
          </a:p>
        </p:txBody>
      </p:sp>
      <p:sp>
        <p:nvSpPr>
          <p:cNvPr id="28" name="Text 26"/>
          <p:cNvSpPr txBox="1"/>
          <p:nvPr/>
        </p:nvSpPr>
        <p:spPr>
          <a:xfrm>
            <a:off x="2103120" y="4233672"/>
            <a:ext cx="2377440" cy="237744"/>
          </a:xfrm>
          <a:prstGeom prst="rect">
            <a:avLst/>
          </a:prstGeom>
          <a:noFill/>
          <a:ln/>
        </p:spPr>
        <p:txBody>
          <a:bodyPr wrap="square" lIns="0" tIns="0" rIns="0" bIns="0" rtlCol="0" anchor="ctr"/>
          <a:lstStyle/>
          <a:p>
            <a:pPr indent="0" marL="0">
              <a:lnSpc>
                <a:spcPct val="125000"/>
              </a:lnSpc>
              <a:buNone/>
            </a:pPr>
            <a:r>
              <a:rPr lang="en-US" sz="1250" dirty="0">
                <a:solidFill>
                  <a:srgbClr val="0B2027"/>
                </a:solidFill>
                <a:latin typeface="Calibri" pitchFamily="34" charset="0"/>
                <a:ea typeface="Calibri" pitchFamily="34" charset="-122"/>
                <a:cs typeface="Calibri" pitchFamily="34" charset="-120"/>
              </a:rPr>
              <a:t>Vượt giới hạn tần suất</a:t>
            </a:r>
            <a:endParaRPr lang="en-US" sz="1250" dirty="0"/>
          </a:p>
        </p:txBody>
      </p:sp>
      <p:sp>
        <p:nvSpPr>
          <p:cNvPr id="29" name="Text 27"/>
          <p:cNvSpPr txBox="1"/>
          <p:nvPr/>
        </p:nvSpPr>
        <p:spPr>
          <a:xfrm>
            <a:off x="4572000" y="4233672"/>
            <a:ext cx="4023360" cy="237744"/>
          </a:xfrm>
          <a:prstGeom prst="rect">
            <a:avLst/>
          </a:prstGeom>
          <a:noFill/>
          <a:ln/>
        </p:spPr>
        <p:txBody>
          <a:bodyPr wrap="square" lIns="0" tIns="0" rIns="0" bIns="0" rtlCol="0" anchor="ctr"/>
          <a:lstStyle/>
          <a:p>
            <a:pPr indent="0" marL="0">
              <a:lnSpc>
                <a:spcPct val="125000"/>
              </a:lnSpc>
              <a:buNone/>
            </a:pPr>
            <a:r>
              <a:rPr lang="en-US" sz="1250" dirty="0">
                <a:solidFill>
                  <a:srgbClr val="5A6B70"/>
                </a:solidFill>
                <a:latin typeface="Calibri" pitchFamily="34" charset="0"/>
                <a:ea typeface="Calibri" pitchFamily="34" charset="-122"/>
                <a:cs typeface="Calibri" pitchFamily="34" charset="-120"/>
              </a:rPr>
              <a:t>Đọc Retry-After, không đốt ngân sách</a:t>
            </a:r>
            <a:endParaRPr lang="en-US" sz="1250" dirty="0"/>
          </a:p>
        </p:txBody>
      </p:sp>
      <p:sp>
        <p:nvSpPr>
          <p:cNvPr id="30" name="Shape 28"/>
          <p:cNvSpPr/>
          <p:nvPr/>
        </p:nvSpPr>
        <p:spPr>
          <a:xfrm>
            <a:off x="640080" y="4645152"/>
            <a:ext cx="8138160" cy="420624"/>
          </a:xfrm>
          <a:prstGeom prst="roundRect">
            <a:avLst>
              <a:gd name="adj" fmla="val 13043"/>
            </a:avLst>
          </a:prstGeom>
          <a:solidFill>
            <a:srgbClr val="FFFFFF"/>
          </a:solidFill>
          <a:ln w="12700">
            <a:solidFill>
              <a:srgbClr val="FFFFFF"/>
            </a:solidFill>
            <a:prstDash val="solid"/>
          </a:ln>
        </p:spPr>
      </p:sp>
      <p:sp>
        <p:nvSpPr>
          <p:cNvPr id="31" name="Text 29"/>
          <p:cNvSpPr txBox="1"/>
          <p:nvPr/>
        </p:nvSpPr>
        <p:spPr>
          <a:xfrm>
            <a:off x="841248" y="4745736"/>
            <a:ext cx="1188720" cy="237744"/>
          </a:xfrm>
          <a:prstGeom prst="rect">
            <a:avLst/>
          </a:prstGeom>
          <a:noFill/>
          <a:ln/>
        </p:spPr>
        <p:txBody>
          <a:bodyPr wrap="square" lIns="0" tIns="0" rIns="0" bIns="0" rtlCol="0" anchor="ctr"/>
          <a:lstStyle/>
          <a:p>
            <a:pPr indent="0" marL="0">
              <a:lnSpc>
                <a:spcPct val="125000"/>
              </a:lnSpc>
              <a:buNone/>
            </a:pPr>
            <a:r>
              <a:rPr lang="en-US" sz="1300" b="1" dirty="0">
                <a:solidFill>
                  <a:srgbClr val="028090"/>
                </a:solidFill>
                <a:latin typeface="Calibri" pitchFamily="34" charset="0"/>
                <a:ea typeface="Calibri" pitchFamily="34" charset="-122"/>
                <a:cs typeface="Calibri" pitchFamily="34" charset="-120"/>
              </a:rPr>
              <a:t>5xx</a:t>
            </a:r>
            <a:endParaRPr lang="en-US" sz="1300" dirty="0"/>
          </a:p>
        </p:txBody>
      </p:sp>
      <p:sp>
        <p:nvSpPr>
          <p:cNvPr id="32" name="Text 30"/>
          <p:cNvSpPr txBox="1"/>
          <p:nvPr/>
        </p:nvSpPr>
        <p:spPr>
          <a:xfrm>
            <a:off x="2103120" y="4745736"/>
            <a:ext cx="2377440" cy="237744"/>
          </a:xfrm>
          <a:prstGeom prst="rect">
            <a:avLst/>
          </a:prstGeom>
          <a:noFill/>
          <a:ln/>
        </p:spPr>
        <p:txBody>
          <a:bodyPr wrap="square" lIns="0" tIns="0" rIns="0" bIns="0" rtlCol="0" anchor="ctr"/>
          <a:lstStyle/>
          <a:p>
            <a:pPr indent="0" marL="0">
              <a:lnSpc>
                <a:spcPct val="125000"/>
              </a:lnSpc>
              <a:buNone/>
            </a:pPr>
            <a:r>
              <a:rPr lang="en-US" sz="1250" dirty="0">
                <a:solidFill>
                  <a:srgbClr val="0B2027"/>
                </a:solidFill>
                <a:latin typeface="Calibri" pitchFamily="34" charset="0"/>
                <a:ea typeface="Calibri" pitchFamily="34" charset="-122"/>
                <a:cs typeface="Calibri" pitchFamily="34" charset="-120"/>
              </a:rPr>
              <a:t>Lỗi tạm thời</a:t>
            </a:r>
            <a:endParaRPr lang="en-US" sz="1250" dirty="0"/>
          </a:p>
        </p:txBody>
      </p:sp>
      <p:sp>
        <p:nvSpPr>
          <p:cNvPr id="33" name="Text 31"/>
          <p:cNvSpPr txBox="1"/>
          <p:nvPr/>
        </p:nvSpPr>
        <p:spPr>
          <a:xfrm>
            <a:off x="4572000" y="4745736"/>
            <a:ext cx="4023360" cy="237744"/>
          </a:xfrm>
          <a:prstGeom prst="rect">
            <a:avLst/>
          </a:prstGeom>
          <a:noFill/>
          <a:ln/>
        </p:spPr>
        <p:txBody>
          <a:bodyPr wrap="square" lIns="0" tIns="0" rIns="0" bIns="0" rtlCol="0" anchor="ctr"/>
          <a:lstStyle/>
          <a:p>
            <a:pPr indent="0" marL="0">
              <a:lnSpc>
                <a:spcPct val="125000"/>
              </a:lnSpc>
              <a:buNone/>
            </a:pPr>
            <a:r>
              <a:rPr lang="en-US" sz="1250" dirty="0">
                <a:solidFill>
                  <a:srgbClr val="5A6B70"/>
                </a:solidFill>
                <a:latin typeface="Calibri" pitchFamily="34" charset="0"/>
                <a:ea typeface="Calibri" pitchFamily="34" charset="-122"/>
                <a:cs typeface="Calibri" pitchFamily="34" charset="-120"/>
              </a:rPr>
              <a:t>Backoff 1-2-4-8-16-32 giây, tối đa 6 lượt</a:t>
            </a:r>
            <a:endParaRPr lang="en-US" sz="1250" dirty="0"/>
          </a:p>
        </p:txBody>
      </p:sp>
      <p:sp>
        <p:nvSpPr>
          <p:cNvPr id="34" name="Shape 32"/>
          <p:cNvSpPr/>
          <p:nvPr/>
        </p:nvSpPr>
        <p:spPr>
          <a:xfrm>
            <a:off x="640080" y="5157216"/>
            <a:ext cx="8138160" cy="420624"/>
          </a:xfrm>
          <a:prstGeom prst="roundRect">
            <a:avLst>
              <a:gd name="adj" fmla="val 13043"/>
            </a:avLst>
          </a:prstGeom>
          <a:solidFill>
            <a:srgbClr val="F2F6F6"/>
          </a:solidFill>
          <a:ln w="12700">
            <a:solidFill>
              <a:srgbClr val="F2F6F6"/>
            </a:solidFill>
            <a:prstDash val="solid"/>
          </a:ln>
        </p:spPr>
      </p:sp>
      <p:sp>
        <p:nvSpPr>
          <p:cNvPr id="35" name="Text 33"/>
          <p:cNvSpPr txBox="1"/>
          <p:nvPr/>
        </p:nvSpPr>
        <p:spPr>
          <a:xfrm>
            <a:off x="841248" y="5257800"/>
            <a:ext cx="1188720" cy="237744"/>
          </a:xfrm>
          <a:prstGeom prst="rect">
            <a:avLst/>
          </a:prstGeom>
          <a:noFill/>
          <a:ln/>
        </p:spPr>
        <p:txBody>
          <a:bodyPr wrap="square" lIns="0" tIns="0" rIns="0" bIns="0" rtlCol="0" anchor="ctr"/>
          <a:lstStyle/>
          <a:p>
            <a:pPr indent="0" marL="0">
              <a:lnSpc>
                <a:spcPct val="125000"/>
              </a:lnSpc>
              <a:buNone/>
            </a:pPr>
            <a:r>
              <a:rPr lang="en-US" sz="1300" b="1" dirty="0">
                <a:solidFill>
                  <a:srgbClr val="028090"/>
                </a:solidFill>
                <a:latin typeface="Calibri" pitchFamily="34" charset="0"/>
                <a:ea typeface="Calibri" pitchFamily="34" charset="-122"/>
                <a:cs typeface="Calibri" pitchFamily="34" charset="-120"/>
              </a:rPr>
              <a:t>Mất kết nối</a:t>
            </a:r>
            <a:endParaRPr lang="en-US" sz="1300" dirty="0"/>
          </a:p>
        </p:txBody>
      </p:sp>
      <p:sp>
        <p:nvSpPr>
          <p:cNvPr id="36" name="Text 34"/>
          <p:cNvSpPr txBox="1"/>
          <p:nvPr/>
        </p:nvSpPr>
        <p:spPr>
          <a:xfrm>
            <a:off x="2103120" y="5257800"/>
            <a:ext cx="2377440" cy="237744"/>
          </a:xfrm>
          <a:prstGeom prst="rect">
            <a:avLst/>
          </a:prstGeom>
          <a:noFill/>
          <a:ln/>
        </p:spPr>
        <p:txBody>
          <a:bodyPr wrap="square" lIns="0" tIns="0" rIns="0" bIns="0" rtlCol="0" anchor="ctr"/>
          <a:lstStyle/>
          <a:p>
            <a:pPr indent="0" marL="0">
              <a:lnSpc>
                <a:spcPct val="125000"/>
              </a:lnSpc>
              <a:buNone/>
            </a:pPr>
            <a:r>
              <a:rPr lang="en-US" sz="1250" dirty="0">
                <a:solidFill>
                  <a:srgbClr val="0B2027"/>
                </a:solidFill>
                <a:latin typeface="Calibri" pitchFamily="34" charset="0"/>
                <a:ea typeface="Calibri" pitchFamily="34" charset="-122"/>
                <a:cs typeface="Calibri" pitchFamily="34" charset="-120"/>
              </a:rPr>
              <a:t>Lỗi tạm thời</a:t>
            </a:r>
            <a:endParaRPr lang="en-US" sz="1250" dirty="0"/>
          </a:p>
        </p:txBody>
      </p:sp>
      <p:sp>
        <p:nvSpPr>
          <p:cNvPr id="37" name="Text 35"/>
          <p:cNvSpPr txBox="1"/>
          <p:nvPr/>
        </p:nvSpPr>
        <p:spPr>
          <a:xfrm>
            <a:off x="4572000" y="5257800"/>
            <a:ext cx="4023360" cy="237744"/>
          </a:xfrm>
          <a:prstGeom prst="rect">
            <a:avLst/>
          </a:prstGeom>
          <a:noFill/>
          <a:ln/>
        </p:spPr>
        <p:txBody>
          <a:bodyPr wrap="square" lIns="0" tIns="0" rIns="0" bIns="0" rtlCol="0" anchor="ctr"/>
          <a:lstStyle/>
          <a:p>
            <a:pPr indent="0" marL="0">
              <a:lnSpc>
                <a:spcPct val="125000"/>
              </a:lnSpc>
              <a:buNone/>
            </a:pPr>
            <a:r>
              <a:rPr lang="en-US" sz="1250" dirty="0">
                <a:solidFill>
                  <a:srgbClr val="5A6B70"/>
                </a:solidFill>
                <a:latin typeface="Calibri" pitchFamily="34" charset="0"/>
                <a:ea typeface="Calibri" pitchFamily="34" charset="-122"/>
                <a:cs typeface="Calibri" pitchFamily="34" charset="-120"/>
              </a:rPr>
              <a:t>Xử lý như 5xx</a:t>
            </a:r>
            <a:endParaRPr lang="en-US" sz="1250" dirty="0"/>
          </a:p>
        </p:txBody>
      </p:sp>
      <p:sp>
        <p:nvSpPr>
          <p:cNvPr id="38" name="Shape 36"/>
          <p:cNvSpPr/>
          <p:nvPr/>
        </p:nvSpPr>
        <p:spPr>
          <a:xfrm>
            <a:off x="9144000" y="1572768"/>
            <a:ext cx="2377440" cy="4526280"/>
          </a:xfrm>
          <a:prstGeom prst="roundRect">
            <a:avLst>
              <a:gd name="adj" fmla="val 2308"/>
            </a:avLst>
          </a:prstGeom>
          <a:solidFill>
            <a:srgbClr val="0E2A33"/>
          </a:solidFill>
          <a:ln w="12700">
            <a:solidFill>
              <a:srgbClr val="0E2A33"/>
            </a:solidFill>
            <a:prstDash val="solid"/>
          </a:ln>
        </p:spPr>
      </p:sp>
      <p:sp>
        <p:nvSpPr>
          <p:cNvPr id="39" name="Text 37"/>
          <p:cNvSpPr txBox="1"/>
          <p:nvPr/>
        </p:nvSpPr>
        <p:spPr>
          <a:xfrm>
            <a:off x="9400032" y="1874520"/>
            <a:ext cx="1874520" cy="1828800"/>
          </a:xfrm>
          <a:prstGeom prst="rect">
            <a:avLst/>
          </a:prstGeom>
          <a:noFill/>
          <a:ln/>
        </p:spPr>
        <p:txBody>
          <a:bodyPr wrap="square" lIns="0" tIns="0" rIns="0" bIns="0" rtlCol="0" anchor="ctr"/>
          <a:lstStyle/>
          <a:p>
            <a:pPr indent="0" marL="0">
              <a:lnSpc>
                <a:spcPct val="125000"/>
              </a:lnSpc>
              <a:buNone/>
            </a:pPr>
            <a:r>
              <a:rPr lang="en-US" sz="1250" dirty="0">
                <a:solidFill>
                  <a:srgbClr val="CFE7E4"/>
                </a:solidFill>
                <a:latin typeface="Calibri" pitchFamily="34" charset="0"/>
                <a:ea typeface="Calibri" pitchFamily="34" charset="-122"/>
                <a:cs typeface="Calibri" pitchFamily="34" charset="-120"/>
              </a:rPr>
              <a:t>Hai dòng 404 và 409 đi ngược trực giác.</a:t>
            </a:r>
            <a:endParaRPr lang="en-US" sz="1250" dirty="0"/>
          </a:p>
          <a:p>
            <a:pPr indent="0" marL="0">
              <a:lnSpc>
                <a:spcPct val="125000"/>
              </a:lnSpc>
              <a:buNone/>
            </a:pPr>
            <a:endParaRPr lang="en-US" sz="1250" dirty="0"/>
          </a:p>
          <a:p>
            <a:pPr indent="0" marL="0">
              <a:lnSpc>
                <a:spcPct val="125000"/>
              </a:lnSpc>
              <a:buNone/>
            </a:pPr>
            <a:r>
              <a:rPr lang="en-US" sz="1250" dirty="0">
                <a:solidFill>
                  <a:srgbClr val="CFE7E4"/>
                </a:solidFill>
                <a:latin typeface="Calibri" pitchFamily="34" charset="0"/>
                <a:ea typeface="Calibri" pitchFamily="34" charset="-122"/>
                <a:cs typeface="Calibri" pitchFamily="34" charset="-120"/>
              </a:rPr>
              <a:t>Câu hỏi không phải lời gọi có thành công không, mà trạng thái cuối có đúng không.</a:t>
            </a:r>
            <a:endParaRPr lang="en-US" sz="1250" dirty="0"/>
          </a:p>
        </p:txBody>
      </p:sp>
      <p:sp>
        <p:nvSpPr>
          <p:cNvPr id="40" name="Text 38"/>
          <p:cNvSpPr txBox="1"/>
          <p:nvPr/>
        </p:nvSpPr>
        <p:spPr>
          <a:xfrm>
            <a:off x="9400032" y="3977640"/>
            <a:ext cx="1874520" cy="1737360"/>
          </a:xfrm>
          <a:prstGeom prst="rect">
            <a:avLst/>
          </a:prstGeom>
          <a:noFill/>
          <a:ln/>
        </p:spPr>
        <p:txBody>
          <a:bodyPr wrap="square" lIns="0" tIns="0" rIns="0" bIns="0" rtlCol="0" anchor="ctr"/>
          <a:lstStyle/>
          <a:p>
            <a:pPr indent="0" marL="0">
              <a:lnSpc>
                <a:spcPct val="125000"/>
              </a:lnSpc>
              <a:buNone/>
            </a:pPr>
            <a:r>
              <a:rPr lang="en-US" sz="1250" i="1" dirty="0">
                <a:solidFill>
                  <a:srgbClr val="02C39A"/>
                </a:solidFill>
                <a:latin typeface="Calibri" pitchFamily="34" charset="0"/>
                <a:ea typeface="Calibri" pitchFamily="34" charset="-122"/>
                <a:cs typeface="Calibri" pitchFamily="34" charset="-120"/>
              </a:rPr>
              <a:t>Dòng cuối từng sai thật: mất kết nối bị coi là lỗi dữ liệu và đẩy thẳng dead-letter.</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75488"/>
            <a:ext cx="475488" cy="475488"/>
          </a:xfrm>
          <a:prstGeom prst="roundRect">
            <a:avLst>
              <a:gd name="adj" fmla="val 23077"/>
            </a:avLst>
          </a:prstGeom>
          <a:solidFill>
            <a:srgbClr val="028090"/>
          </a:solidFill>
          <a:ln w="12700">
            <a:solidFill>
              <a:srgbClr val="028090"/>
            </a:solidFill>
            <a:prstDash val="solid"/>
          </a:ln>
        </p:spPr>
      </p:sp>
      <p:sp>
        <p:nvSpPr>
          <p:cNvPr id="3" name="Text 1"/>
          <p:cNvSpPr txBox="1"/>
          <p:nvPr/>
        </p:nvSpPr>
        <p:spPr>
          <a:xfrm>
            <a:off x="640080" y="475488"/>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9</a:t>
            </a:r>
            <a:endParaRPr lang="en-US" sz="1700" dirty="0"/>
          </a:p>
        </p:txBody>
      </p:sp>
      <p:sp>
        <p:nvSpPr>
          <p:cNvPr id="4" name="Text 2"/>
          <p:cNvSpPr txBox="1"/>
          <p:nvPr/>
        </p:nvSpPr>
        <p:spPr>
          <a:xfrm>
            <a:off x="1298448" y="457200"/>
            <a:ext cx="8686800" cy="256032"/>
          </a:xfrm>
          <a:prstGeom prst="rect">
            <a:avLst/>
          </a:prstGeom>
          <a:noFill/>
          <a:ln/>
        </p:spPr>
        <p:txBody>
          <a:bodyPr wrap="square" lIns="0" tIns="0" rIns="0" bIns="0" rtlCol="0" anchor="ctr"/>
          <a:lstStyle/>
          <a:p>
            <a:pPr indent="0" marL="0">
              <a:buNone/>
            </a:pPr>
            <a:r>
              <a:rPr lang="en-US" sz="1100" b="1" spc="160" kern="0" dirty="0">
                <a:solidFill>
                  <a:srgbClr val="02C39A"/>
                </a:solidFill>
                <a:latin typeface="Calibri" pitchFamily="34" charset="0"/>
                <a:ea typeface="Calibri" pitchFamily="34" charset="-122"/>
                <a:cs typeface="Calibri" pitchFamily="34" charset="-120"/>
              </a:rPr>
              <a:t>CHỊU LỖI TẠM THỜI</a:t>
            </a:r>
            <a:endParaRPr lang="en-US" sz="1100" dirty="0"/>
          </a:p>
        </p:txBody>
      </p:sp>
      <p:sp>
        <p:nvSpPr>
          <p:cNvPr id="5" name="Text 3"/>
          <p:cNvSpPr txBox="1"/>
          <p:nvPr/>
        </p:nvSpPr>
        <p:spPr>
          <a:xfrm>
            <a:off x="1298448" y="694944"/>
            <a:ext cx="10424160" cy="566928"/>
          </a:xfrm>
          <a:prstGeom prst="rect">
            <a:avLst/>
          </a:prstGeom>
          <a:noFill/>
          <a:ln/>
        </p:spPr>
        <p:txBody>
          <a:bodyPr wrap="square" lIns="0" tIns="0" rIns="0" bIns="0" rtlCol="0" anchor="ctr"/>
          <a:lstStyle/>
          <a:p>
            <a:pPr indent="0" marL="0">
              <a:buNone/>
            </a:pPr>
            <a:r>
              <a:rPr lang="en-US" sz="3000" b="1" dirty="0">
                <a:solidFill>
                  <a:srgbClr val="0B2027"/>
                </a:solidFill>
                <a:latin typeface="Cambria" pitchFamily="34" charset="0"/>
                <a:ea typeface="Cambria" pitchFamily="34" charset="-122"/>
                <a:cs typeface="Cambria" pitchFamily="34" charset="-120"/>
              </a:rPr>
              <a:t>Trạng thái thử lại nằm trong cơ sở dữ liệu</a:t>
            </a:r>
            <a:endParaRPr lang="en-US" sz="3000" dirty="0"/>
          </a:p>
        </p:txBody>
      </p:sp>
      <p:pic>
        <p:nvPicPr>
          <p:cNvPr id="6" name="Image 0" descr="C:/Users/ADMIN/IdeaProjects/uni-integration-service/docs/diagrams/hinh-3-sd-retry.png">    </p:cNvPr>
          <p:cNvPicPr>
            <a:picLocks noChangeAspect="1"/>
          </p:cNvPicPr>
          <p:nvPr/>
        </p:nvPicPr>
        <p:blipFill>
          <a:blip r:embed="rId1"/>
          <a:stretch>
            <a:fillRect/>
          </a:stretch>
        </p:blipFill>
        <p:spPr>
          <a:xfrm>
            <a:off x="6766560" y="1371600"/>
            <a:ext cx="4206240" cy="4846320"/>
          </a:xfrm>
          <a:prstGeom prst="rect">
            <a:avLst/>
          </a:prstGeom>
        </p:spPr>
      </p:pic>
      <p:sp>
        <p:nvSpPr>
          <p:cNvPr id="7" name="Text 4"/>
          <p:cNvSpPr txBox="1"/>
          <p:nvPr/>
        </p:nvSpPr>
        <p:spPr>
          <a:xfrm>
            <a:off x="640080" y="1554480"/>
            <a:ext cx="5669280" cy="1188720"/>
          </a:xfrm>
          <a:prstGeom prst="rect">
            <a:avLst/>
          </a:prstGeom>
          <a:noFill/>
          <a:ln/>
        </p:spPr>
        <p:txBody>
          <a:bodyPr wrap="square" lIns="0" tIns="0" rIns="0" bIns="0" rtlCol="0" anchor="ctr"/>
          <a:lstStyle/>
          <a:p>
            <a:pPr indent="0" marL="0">
              <a:lnSpc>
                <a:spcPct val="125000"/>
              </a:lnSpc>
              <a:buNone/>
            </a:pPr>
            <a:r>
              <a:rPr lang="en-US" sz="1500" dirty="0">
                <a:solidFill>
                  <a:srgbClr val="0B2027"/>
                </a:solidFill>
                <a:latin typeface="Calibri" pitchFamily="34" charset="0"/>
                <a:ea typeface="Calibri" pitchFamily="34" charset="-122"/>
                <a:cs typeface="Calibri" pitchFamily="34" charset="-120"/>
              </a:rPr>
              <a:t>Không nằm trong bộ nhớ. Dịch vụ khởi động lại giữa chừng thì công việc dở dang vẫn còn nguyên và được tiếp tục.</a:t>
            </a:r>
            <a:endParaRPr lang="en-US" sz="1500" dirty="0"/>
          </a:p>
        </p:txBody>
      </p:sp>
      <p:sp>
        <p:nvSpPr>
          <p:cNvPr id="8" name="Shape 5"/>
          <p:cNvSpPr/>
          <p:nvPr/>
        </p:nvSpPr>
        <p:spPr>
          <a:xfrm>
            <a:off x="640080" y="2926080"/>
            <a:ext cx="5669280" cy="548640"/>
          </a:xfrm>
          <a:prstGeom prst="roundRect">
            <a:avLst>
              <a:gd name="adj" fmla="val 10000"/>
            </a:avLst>
          </a:prstGeom>
          <a:solidFill>
            <a:srgbClr val="F2F6F6"/>
          </a:solidFill>
          <a:ln w="12700">
            <a:solidFill>
              <a:srgbClr val="F2F6F6"/>
            </a:solidFill>
            <a:prstDash val="solid"/>
          </a:ln>
        </p:spPr>
      </p:sp>
      <p:sp>
        <p:nvSpPr>
          <p:cNvPr id="9" name="Text 6"/>
          <p:cNvSpPr txBox="1"/>
          <p:nvPr/>
        </p:nvSpPr>
        <p:spPr>
          <a:xfrm>
            <a:off x="868680" y="3072384"/>
            <a:ext cx="1463040" cy="274320"/>
          </a:xfrm>
          <a:prstGeom prst="rect">
            <a:avLst/>
          </a:prstGeom>
          <a:noFill/>
          <a:ln/>
        </p:spPr>
        <p:txBody>
          <a:bodyPr wrap="square" lIns="0" tIns="0" rIns="0" bIns="0" rtlCol="0" anchor="ctr"/>
          <a:lstStyle/>
          <a:p>
            <a:pPr indent="0" marL="0">
              <a:lnSpc>
                <a:spcPct val="125000"/>
              </a:lnSpc>
              <a:buNone/>
            </a:pPr>
            <a:r>
              <a:rPr lang="en-US" sz="1250" b="1" dirty="0">
                <a:solidFill>
                  <a:srgbClr val="028090"/>
                </a:solidFill>
                <a:latin typeface="Calibri" pitchFamily="34" charset="0"/>
                <a:ea typeface="Calibri" pitchFamily="34" charset="-122"/>
                <a:cs typeface="Calibri" pitchFamily="34" charset="-120"/>
              </a:rPr>
              <a:t>Dãy chờ</a:t>
            </a:r>
            <a:endParaRPr lang="en-US" sz="1250" dirty="0"/>
          </a:p>
        </p:txBody>
      </p:sp>
      <p:sp>
        <p:nvSpPr>
          <p:cNvPr id="10" name="Text 7"/>
          <p:cNvSpPr txBox="1"/>
          <p:nvPr/>
        </p:nvSpPr>
        <p:spPr>
          <a:xfrm>
            <a:off x="2423160" y="3072384"/>
            <a:ext cx="3749040" cy="274320"/>
          </a:xfrm>
          <a:prstGeom prst="rect">
            <a:avLst/>
          </a:prstGeom>
          <a:noFill/>
          <a:ln/>
        </p:spPr>
        <p:txBody>
          <a:bodyPr wrap="square" lIns="0" tIns="0" rIns="0" bIns="0" rtlCol="0" anchor="ctr"/>
          <a:lstStyle/>
          <a:p>
            <a:pPr indent="0" marL="0">
              <a:lnSpc>
                <a:spcPct val="125000"/>
              </a:lnSpc>
              <a:buNone/>
            </a:pPr>
            <a:r>
              <a:rPr lang="en-US" sz="1250" dirty="0">
                <a:solidFill>
                  <a:srgbClr val="0B2027"/>
                </a:solidFill>
                <a:latin typeface="Calibri" pitchFamily="34" charset="0"/>
                <a:ea typeface="Calibri" pitchFamily="34" charset="-122"/>
                <a:cs typeface="Calibri" pitchFamily="34" charset="-120"/>
              </a:rPr>
              <a:t>1 - 2 - 4 - 8 - 16 - 32 giây</a:t>
            </a:r>
            <a:endParaRPr lang="en-US" sz="1250" dirty="0"/>
          </a:p>
        </p:txBody>
      </p:sp>
      <p:sp>
        <p:nvSpPr>
          <p:cNvPr id="11" name="Shape 8"/>
          <p:cNvSpPr/>
          <p:nvPr/>
        </p:nvSpPr>
        <p:spPr>
          <a:xfrm>
            <a:off x="640080" y="3584448"/>
            <a:ext cx="5669280" cy="548640"/>
          </a:xfrm>
          <a:prstGeom prst="roundRect">
            <a:avLst>
              <a:gd name="adj" fmla="val 10000"/>
            </a:avLst>
          </a:prstGeom>
          <a:solidFill>
            <a:srgbClr val="F2F6F6"/>
          </a:solidFill>
          <a:ln w="12700">
            <a:solidFill>
              <a:srgbClr val="F2F6F6"/>
            </a:solidFill>
            <a:prstDash val="solid"/>
          </a:ln>
        </p:spPr>
      </p:sp>
      <p:sp>
        <p:nvSpPr>
          <p:cNvPr id="12" name="Text 9"/>
          <p:cNvSpPr txBox="1"/>
          <p:nvPr/>
        </p:nvSpPr>
        <p:spPr>
          <a:xfrm>
            <a:off x="868680" y="3730752"/>
            <a:ext cx="1463040" cy="274320"/>
          </a:xfrm>
          <a:prstGeom prst="rect">
            <a:avLst/>
          </a:prstGeom>
          <a:noFill/>
          <a:ln/>
        </p:spPr>
        <p:txBody>
          <a:bodyPr wrap="square" lIns="0" tIns="0" rIns="0" bIns="0" rtlCol="0" anchor="ctr"/>
          <a:lstStyle/>
          <a:p>
            <a:pPr indent="0" marL="0">
              <a:lnSpc>
                <a:spcPct val="125000"/>
              </a:lnSpc>
              <a:buNone/>
            </a:pPr>
            <a:r>
              <a:rPr lang="en-US" sz="1250" b="1" dirty="0">
                <a:solidFill>
                  <a:srgbClr val="028090"/>
                </a:solidFill>
                <a:latin typeface="Calibri" pitchFamily="34" charset="0"/>
                <a:ea typeface="Calibri" pitchFamily="34" charset="-122"/>
                <a:cs typeface="Calibri" pitchFamily="34" charset="-120"/>
              </a:rPr>
              <a:t>Ngân sách</a:t>
            </a:r>
            <a:endParaRPr lang="en-US" sz="1250" dirty="0"/>
          </a:p>
        </p:txBody>
      </p:sp>
      <p:sp>
        <p:nvSpPr>
          <p:cNvPr id="13" name="Text 10"/>
          <p:cNvSpPr txBox="1"/>
          <p:nvPr/>
        </p:nvSpPr>
        <p:spPr>
          <a:xfrm>
            <a:off x="2423160" y="3730752"/>
            <a:ext cx="3749040" cy="274320"/>
          </a:xfrm>
          <a:prstGeom prst="rect">
            <a:avLst/>
          </a:prstGeom>
          <a:noFill/>
          <a:ln/>
        </p:spPr>
        <p:txBody>
          <a:bodyPr wrap="square" lIns="0" tIns="0" rIns="0" bIns="0" rtlCol="0" anchor="ctr"/>
          <a:lstStyle/>
          <a:p>
            <a:pPr indent="0" marL="0">
              <a:lnSpc>
                <a:spcPct val="125000"/>
              </a:lnSpc>
              <a:buNone/>
            </a:pPr>
            <a:r>
              <a:rPr lang="en-US" sz="1250" dirty="0">
                <a:solidFill>
                  <a:srgbClr val="0B2027"/>
                </a:solidFill>
                <a:latin typeface="Calibri" pitchFamily="34" charset="0"/>
                <a:ea typeface="Calibri" pitchFamily="34" charset="-122"/>
                <a:cs typeface="Calibri" pitchFamily="34" charset="-120"/>
              </a:rPr>
              <a:t>Tối đa 6 lượt, phủ 63 giây</a:t>
            </a:r>
            <a:endParaRPr lang="en-US" sz="1250" dirty="0"/>
          </a:p>
        </p:txBody>
      </p:sp>
      <p:sp>
        <p:nvSpPr>
          <p:cNvPr id="14" name="Shape 11"/>
          <p:cNvSpPr/>
          <p:nvPr/>
        </p:nvSpPr>
        <p:spPr>
          <a:xfrm>
            <a:off x="640080" y="4242816"/>
            <a:ext cx="5669280" cy="548640"/>
          </a:xfrm>
          <a:prstGeom prst="roundRect">
            <a:avLst>
              <a:gd name="adj" fmla="val 10000"/>
            </a:avLst>
          </a:prstGeom>
          <a:solidFill>
            <a:srgbClr val="F2F6F6"/>
          </a:solidFill>
          <a:ln w="12700">
            <a:solidFill>
              <a:srgbClr val="F2F6F6"/>
            </a:solidFill>
            <a:prstDash val="solid"/>
          </a:ln>
        </p:spPr>
      </p:sp>
      <p:sp>
        <p:nvSpPr>
          <p:cNvPr id="15" name="Text 12"/>
          <p:cNvSpPr txBox="1"/>
          <p:nvPr/>
        </p:nvSpPr>
        <p:spPr>
          <a:xfrm>
            <a:off x="868680" y="4389120"/>
            <a:ext cx="1463040" cy="274320"/>
          </a:xfrm>
          <a:prstGeom prst="rect">
            <a:avLst/>
          </a:prstGeom>
          <a:noFill/>
          <a:ln/>
        </p:spPr>
        <p:txBody>
          <a:bodyPr wrap="square" lIns="0" tIns="0" rIns="0" bIns="0" rtlCol="0" anchor="ctr"/>
          <a:lstStyle/>
          <a:p>
            <a:pPr indent="0" marL="0">
              <a:lnSpc>
                <a:spcPct val="125000"/>
              </a:lnSpc>
              <a:buNone/>
            </a:pPr>
            <a:r>
              <a:rPr lang="en-US" sz="1250" b="1" dirty="0">
                <a:solidFill>
                  <a:srgbClr val="028090"/>
                </a:solidFill>
                <a:latin typeface="Calibri" pitchFamily="34" charset="0"/>
                <a:ea typeface="Calibri" pitchFamily="34" charset="-122"/>
                <a:cs typeface="Calibri" pitchFamily="34" charset="-120"/>
              </a:rPr>
              <a:t>Cạn lượt</a:t>
            </a:r>
            <a:endParaRPr lang="en-US" sz="1250" dirty="0"/>
          </a:p>
        </p:txBody>
      </p:sp>
      <p:sp>
        <p:nvSpPr>
          <p:cNvPr id="16" name="Text 13"/>
          <p:cNvSpPr txBox="1"/>
          <p:nvPr/>
        </p:nvSpPr>
        <p:spPr>
          <a:xfrm>
            <a:off x="2423160" y="4389120"/>
            <a:ext cx="3749040" cy="274320"/>
          </a:xfrm>
          <a:prstGeom prst="rect">
            <a:avLst/>
          </a:prstGeom>
          <a:noFill/>
          <a:ln/>
        </p:spPr>
        <p:txBody>
          <a:bodyPr wrap="square" lIns="0" tIns="0" rIns="0" bIns="0" rtlCol="0" anchor="ctr"/>
          <a:lstStyle/>
          <a:p>
            <a:pPr indent="0" marL="0">
              <a:lnSpc>
                <a:spcPct val="125000"/>
              </a:lnSpc>
              <a:buNone/>
            </a:pPr>
            <a:r>
              <a:rPr lang="en-US" sz="1250" dirty="0">
                <a:solidFill>
                  <a:srgbClr val="0B2027"/>
                </a:solidFill>
                <a:latin typeface="Calibri" pitchFamily="34" charset="0"/>
                <a:ea typeface="Calibri" pitchFamily="34" charset="-122"/>
                <a:cs typeface="Calibri" pitchFamily="34" charset="-120"/>
              </a:rPr>
              <a:t>Chuyển dead-letter, không thử vô hạn</a:t>
            </a:r>
            <a:endParaRPr lang="en-US" sz="1250" dirty="0"/>
          </a:p>
        </p:txBody>
      </p:sp>
      <p:sp>
        <p:nvSpPr>
          <p:cNvPr id="17" name="Shape 14"/>
          <p:cNvSpPr/>
          <p:nvPr/>
        </p:nvSpPr>
        <p:spPr>
          <a:xfrm>
            <a:off x="640080" y="4901184"/>
            <a:ext cx="5669280" cy="548640"/>
          </a:xfrm>
          <a:prstGeom prst="roundRect">
            <a:avLst>
              <a:gd name="adj" fmla="val 10000"/>
            </a:avLst>
          </a:prstGeom>
          <a:solidFill>
            <a:srgbClr val="E7F5F2"/>
          </a:solidFill>
          <a:ln w="12700">
            <a:solidFill>
              <a:srgbClr val="E7F5F2"/>
            </a:solidFill>
            <a:prstDash val="solid"/>
          </a:ln>
        </p:spPr>
      </p:sp>
      <p:sp>
        <p:nvSpPr>
          <p:cNvPr id="18" name="Text 15"/>
          <p:cNvSpPr txBox="1"/>
          <p:nvPr/>
        </p:nvSpPr>
        <p:spPr>
          <a:xfrm>
            <a:off x="868680" y="5047488"/>
            <a:ext cx="1463040" cy="274320"/>
          </a:xfrm>
          <a:prstGeom prst="rect">
            <a:avLst/>
          </a:prstGeom>
          <a:noFill/>
          <a:ln/>
        </p:spPr>
        <p:txBody>
          <a:bodyPr wrap="square" lIns="0" tIns="0" rIns="0" bIns="0" rtlCol="0" anchor="ctr"/>
          <a:lstStyle/>
          <a:p>
            <a:pPr indent="0" marL="0">
              <a:lnSpc>
                <a:spcPct val="125000"/>
              </a:lnSpc>
              <a:buNone/>
            </a:pPr>
            <a:r>
              <a:rPr lang="en-US" sz="1250" b="1" dirty="0">
                <a:solidFill>
                  <a:srgbClr val="028090"/>
                </a:solidFill>
                <a:latin typeface="Calibri" pitchFamily="34" charset="0"/>
                <a:ea typeface="Calibri" pitchFamily="34" charset="-122"/>
                <a:cs typeface="Calibri" pitchFamily="34" charset="-120"/>
              </a:rPr>
              <a:t>Riêng 429</a:t>
            </a:r>
            <a:endParaRPr lang="en-US" sz="1250" dirty="0"/>
          </a:p>
        </p:txBody>
      </p:sp>
      <p:sp>
        <p:nvSpPr>
          <p:cNvPr id="19" name="Text 16"/>
          <p:cNvSpPr txBox="1"/>
          <p:nvPr/>
        </p:nvSpPr>
        <p:spPr>
          <a:xfrm>
            <a:off x="2423160" y="5047488"/>
            <a:ext cx="3749040" cy="274320"/>
          </a:xfrm>
          <a:prstGeom prst="rect">
            <a:avLst/>
          </a:prstGeom>
          <a:noFill/>
          <a:ln/>
        </p:spPr>
        <p:txBody>
          <a:bodyPr wrap="square" lIns="0" tIns="0" rIns="0" bIns="0" rtlCol="0" anchor="ctr"/>
          <a:lstStyle/>
          <a:p>
            <a:pPr indent="0" marL="0">
              <a:lnSpc>
                <a:spcPct val="125000"/>
              </a:lnSpc>
              <a:buNone/>
            </a:pPr>
            <a:r>
              <a:rPr lang="en-US" sz="1250" dirty="0">
                <a:solidFill>
                  <a:srgbClr val="0B2027"/>
                </a:solidFill>
                <a:latin typeface="Calibri" pitchFamily="34" charset="0"/>
                <a:ea typeface="Calibri" pitchFamily="34" charset="-122"/>
                <a:cs typeface="Calibri" pitchFamily="34" charset="-120"/>
              </a:rPr>
              <a:t>Đọc Retry-After, KHÔNG tính vào ngân sách</a:t>
            </a:r>
            <a:endParaRPr lang="en-US" sz="1250" dirty="0"/>
          </a:p>
        </p:txBody>
      </p:sp>
      <p:sp>
        <p:nvSpPr>
          <p:cNvPr id="20" name="Text 17"/>
          <p:cNvSpPr txBox="1"/>
          <p:nvPr/>
        </p:nvSpPr>
        <p:spPr>
          <a:xfrm>
            <a:off x="640080" y="5669280"/>
            <a:ext cx="5669280" cy="640080"/>
          </a:xfrm>
          <a:prstGeom prst="rect">
            <a:avLst/>
          </a:prstGeom>
          <a:noFill/>
          <a:ln/>
        </p:spPr>
        <p:txBody>
          <a:bodyPr wrap="square" lIns="0" tIns="0" rIns="0" bIns="0" rtlCol="0" anchor="ctr"/>
          <a:lstStyle/>
          <a:p>
            <a:pPr indent="0" marL="0">
              <a:lnSpc>
                <a:spcPct val="125000"/>
              </a:lnSpc>
              <a:buNone/>
            </a:pPr>
            <a:r>
              <a:rPr lang="en-US" sz="1250" i="1" dirty="0">
                <a:solidFill>
                  <a:srgbClr val="5A6B70"/>
                </a:solidFill>
                <a:latin typeface="Calibri" pitchFamily="34" charset="0"/>
                <a:ea typeface="Calibri" pitchFamily="34" charset="-122"/>
                <a:cs typeface="Calibri" pitchFamily="34" charset="-120"/>
              </a:rPr>
              <a:t>429 không phải sự cố của hệ thống đích mà là tín hiệu điều tiết — đốt ngân sách vì nó sẽ làm hỏng những lần thử lại thật sự cần thiết.</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75488"/>
            <a:ext cx="475488" cy="475488"/>
          </a:xfrm>
          <a:prstGeom prst="roundRect">
            <a:avLst>
              <a:gd name="adj" fmla="val 23077"/>
            </a:avLst>
          </a:prstGeom>
          <a:solidFill>
            <a:srgbClr val="028090"/>
          </a:solidFill>
          <a:ln w="12700">
            <a:solidFill>
              <a:srgbClr val="028090"/>
            </a:solidFill>
            <a:prstDash val="solid"/>
          </a:ln>
        </p:spPr>
      </p:sp>
      <p:sp>
        <p:nvSpPr>
          <p:cNvPr id="3" name="Text 1"/>
          <p:cNvSpPr txBox="1"/>
          <p:nvPr/>
        </p:nvSpPr>
        <p:spPr>
          <a:xfrm>
            <a:off x="640080" y="475488"/>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10</a:t>
            </a:r>
            <a:endParaRPr lang="en-US" sz="1700" dirty="0"/>
          </a:p>
        </p:txBody>
      </p:sp>
      <p:sp>
        <p:nvSpPr>
          <p:cNvPr id="4" name="Text 2"/>
          <p:cNvSpPr txBox="1"/>
          <p:nvPr/>
        </p:nvSpPr>
        <p:spPr>
          <a:xfrm>
            <a:off x="1298448" y="457200"/>
            <a:ext cx="8686800" cy="256032"/>
          </a:xfrm>
          <a:prstGeom prst="rect">
            <a:avLst/>
          </a:prstGeom>
          <a:noFill/>
          <a:ln/>
        </p:spPr>
        <p:txBody>
          <a:bodyPr wrap="square" lIns="0" tIns="0" rIns="0" bIns="0" rtlCol="0" anchor="ctr"/>
          <a:lstStyle/>
          <a:p>
            <a:pPr indent="0" marL="0">
              <a:buNone/>
            </a:pPr>
            <a:r>
              <a:rPr lang="en-US" sz="1100" b="1" spc="160" kern="0" dirty="0">
                <a:solidFill>
                  <a:srgbClr val="02C39A"/>
                </a:solidFill>
                <a:latin typeface="Calibri" pitchFamily="34" charset="0"/>
                <a:ea typeface="Calibri" pitchFamily="34" charset="-122"/>
                <a:cs typeface="Calibri" pitchFamily="34" charset="-120"/>
              </a:rPr>
              <a:t>TÌNH HUỐNG KHÓ NHẤT</a:t>
            </a:r>
            <a:endParaRPr lang="en-US" sz="1100" dirty="0"/>
          </a:p>
        </p:txBody>
      </p:sp>
      <p:sp>
        <p:nvSpPr>
          <p:cNvPr id="5" name="Text 3"/>
          <p:cNvSpPr txBox="1"/>
          <p:nvPr/>
        </p:nvSpPr>
        <p:spPr>
          <a:xfrm>
            <a:off x="1298448" y="694944"/>
            <a:ext cx="10424160" cy="566928"/>
          </a:xfrm>
          <a:prstGeom prst="rect">
            <a:avLst/>
          </a:prstGeom>
          <a:noFill/>
          <a:ln/>
        </p:spPr>
        <p:txBody>
          <a:bodyPr wrap="square" lIns="0" tIns="0" rIns="0" bIns="0" rtlCol="0" anchor="ctr"/>
          <a:lstStyle/>
          <a:p>
            <a:pPr indent="0" marL="0">
              <a:buNone/>
            </a:pPr>
            <a:r>
              <a:rPr lang="en-US" sz="3000" b="1" dirty="0">
                <a:solidFill>
                  <a:srgbClr val="0B2027"/>
                </a:solidFill>
                <a:latin typeface="Cambria" pitchFamily="34" charset="0"/>
                <a:ea typeface="Cambria" pitchFamily="34" charset="-122"/>
                <a:cs typeface="Cambria" pitchFamily="34" charset="-120"/>
              </a:rPr>
              <a:t>Sự kiện đến trước khi phụ thuộc tồn tại</a:t>
            </a:r>
            <a:endParaRPr lang="en-US" sz="3000" dirty="0"/>
          </a:p>
        </p:txBody>
      </p:sp>
      <p:pic>
        <p:nvPicPr>
          <p:cNvPr id="6" name="Image 0" descr="C:/Users/ADMIN/IdeaProjects/uni-integration-service/docs/diagrams/hinh-2-sd-enrollment.png">    </p:cNvPr>
          <p:cNvPicPr>
            <a:picLocks noChangeAspect="1"/>
          </p:cNvPicPr>
          <p:nvPr/>
        </p:nvPicPr>
        <p:blipFill>
          <a:blip r:embed="rId1"/>
          <a:stretch>
            <a:fillRect/>
          </a:stretch>
        </p:blipFill>
        <p:spPr>
          <a:xfrm>
            <a:off x="6537960" y="1371600"/>
            <a:ext cx="4754880" cy="4828032"/>
          </a:xfrm>
          <a:prstGeom prst="rect">
            <a:avLst/>
          </a:prstGeom>
        </p:spPr>
      </p:pic>
      <p:sp>
        <p:nvSpPr>
          <p:cNvPr id="7" name="Text 4"/>
          <p:cNvSpPr txBox="1"/>
          <p:nvPr/>
        </p:nvSpPr>
        <p:spPr>
          <a:xfrm>
            <a:off x="640080" y="1554480"/>
            <a:ext cx="5486400" cy="1005840"/>
          </a:xfrm>
          <a:prstGeom prst="rect">
            <a:avLst/>
          </a:prstGeom>
          <a:noFill/>
          <a:ln/>
        </p:spPr>
        <p:txBody>
          <a:bodyPr wrap="square" lIns="0" tIns="0" rIns="0" bIns="0" rtlCol="0" anchor="ctr"/>
          <a:lstStyle/>
          <a:p>
            <a:pPr indent="0" marL="0">
              <a:lnSpc>
                <a:spcPct val="125000"/>
              </a:lnSpc>
              <a:buNone/>
            </a:pPr>
            <a:r>
              <a:rPr lang="en-US" sz="1500" dirty="0">
                <a:solidFill>
                  <a:srgbClr val="0B2027"/>
                </a:solidFill>
                <a:latin typeface="Calibri" pitchFamily="34" charset="0"/>
                <a:ea typeface="Calibri" pitchFamily="34" charset="-122"/>
                <a:cs typeface="Calibri" pitchFamily="34" charset="-120"/>
              </a:rPr>
              <a:t>Sự kiện đăng ký học có thể đến khi LMS chưa có User hoặc chưa có Course. Đề bài nói rõ: tuyệt đối không được bỏ sự kiện.</a:t>
            </a:r>
            <a:endParaRPr lang="en-US" sz="1500" dirty="0"/>
          </a:p>
        </p:txBody>
      </p:sp>
      <p:sp>
        <p:nvSpPr>
          <p:cNvPr id="8" name="Shape 5"/>
          <p:cNvSpPr/>
          <p:nvPr/>
        </p:nvSpPr>
        <p:spPr>
          <a:xfrm>
            <a:off x="640080" y="2743200"/>
            <a:ext cx="5486400" cy="777240"/>
          </a:xfrm>
          <a:prstGeom prst="roundRect">
            <a:avLst>
              <a:gd name="adj" fmla="val 7059"/>
            </a:avLst>
          </a:prstGeom>
          <a:solidFill>
            <a:srgbClr val="F2F6F6"/>
          </a:solidFill>
          <a:ln w="12700">
            <a:solidFill>
              <a:srgbClr val="F2F6F6"/>
            </a:solidFill>
            <a:prstDash val="solid"/>
          </a:ln>
        </p:spPr>
      </p:sp>
      <p:sp>
        <p:nvSpPr>
          <p:cNvPr id="9" name="Text 6"/>
          <p:cNvSpPr txBox="1"/>
          <p:nvPr/>
        </p:nvSpPr>
        <p:spPr>
          <a:xfrm>
            <a:off x="868680" y="2852928"/>
            <a:ext cx="5029200" cy="256032"/>
          </a:xfrm>
          <a:prstGeom prst="rect">
            <a:avLst/>
          </a:prstGeom>
          <a:noFill/>
          <a:ln/>
        </p:spPr>
        <p:txBody>
          <a:bodyPr wrap="square" lIns="0" tIns="0" rIns="0" bIns="0" rtlCol="0" anchor="ctr"/>
          <a:lstStyle/>
          <a:p>
            <a:pPr indent="0" marL="0">
              <a:lnSpc>
                <a:spcPct val="125000"/>
              </a:lnSpc>
              <a:buNone/>
            </a:pPr>
            <a:r>
              <a:rPr lang="en-US" sz="1350" b="1" dirty="0">
                <a:solidFill>
                  <a:srgbClr val="B8620B"/>
                </a:solidFill>
                <a:latin typeface="Calibri" pitchFamily="34" charset="0"/>
                <a:ea typeface="Calibri" pitchFamily="34" charset="-122"/>
                <a:cs typeface="Calibri" pitchFamily="34" charset="-120"/>
              </a:rPr>
              <a:t>Bỏ sự kiện</a:t>
            </a:r>
            <a:endParaRPr lang="en-US" sz="1350" dirty="0"/>
          </a:p>
        </p:txBody>
      </p:sp>
      <p:sp>
        <p:nvSpPr>
          <p:cNvPr id="10" name="Text 7"/>
          <p:cNvSpPr txBox="1"/>
          <p:nvPr/>
        </p:nvSpPr>
        <p:spPr>
          <a:xfrm>
            <a:off x="868680" y="3145536"/>
            <a:ext cx="5029200" cy="320040"/>
          </a:xfrm>
          <a:prstGeom prst="rect">
            <a:avLst/>
          </a:prstGeom>
          <a:noFill/>
          <a:ln/>
        </p:spPr>
        <p:txBody>
          <a:bodyPr wrap="square" lIns="0" tIns="0" rIns="0" bIns="0" rtlCol="0" anchor="ctr"/>
          <a:lstStyle/>
          <a:p>
            <a:pPr indent="0" marL="0">
              <a:lnSpc>
                <a:spcPct val="125000"/>
              </a:lnSpc>
              <a:buNone/>
            </a:pPr>
            <a:r>
              <a:rPr lang="en-US" sz="1200" dirty="0">
                <a:solidFill>
                  <a:srgbClr val="5A6B70"/>
                </a:solidFill>
                <a:latin typeface="Calibri" pitchFamily="34" charset="0"/>
                <a:ea typeface="Calibri" pitchFamily="34" charset="-122"/>
                <a:cs typeface="Calibri" pitchFamily="34" charset="-120"/>
              </a:rPr>
              <a:t>Vi phạm yêu cầu</a:t>
            </a:r>
            <a:endParaRPr lang="en-US" sz="1200" dirty="0"/>
          </a:p>
        </p:txBody>
      </p:sp>
      <p:sp>
        <p:nvSpPr>
          <p:cNvPr id="11" name="Shape 8"/>
          <p:cNvSpPr/>
          <p:nvPr/>
        </p:nvSpPr>
        <p:spPr>
          <a:xfrm>
            <a:off x="640080" y="3657600"/>
            <a:ext cx="5486400" cy="777240"/>
          </a:xfrm>
          <a:prstGeom prst="roundRect">
            <a:avLst>
              <a:gd name="adj" fmla="val 7059"/>
            </a:avLst>
          </a:prstGeom>
          <a:solidFill>
            <a:srgbClr val="F2F6F6"/>
          </a:solidFill>
          <a:ln w="12700">
            <a:solidFill>
              <a:srgbClr val="F2F6F6"/>
            </a:solidFill>
            <a:prstDash val="solid"/>
          </a:ln>
        </p:spPr>
      </p:sp>
      <p:sp>
        <p:nvSpPr>
          <p:cNvPr id="12" name="Text 9"/>
          <p:cNvSpPr txBox="1"/>
          <p:nvPr/>
        </p:nvSpPr>
        <p:spPr>
          <a:xfrm>
            <a:off x="868680" y="3767328"/>
            <a:ext cx="5029200" cy="256032"/>
          </a:xfrm>
          <a:prstGeom prst="rect">
            <a:avLst/>
          </a:prstGeom>
          <a:noFill/>
          <a:ln/>
        </p:spPr>
        <p:txBody>
          <a:bodyPr wrap="square" lIns="0" tIns="0" rIns="0" bIns="0" rtlCol="0" anchor="ctr"/>
          <a:lstStyle/>
          <a:p>
            <a:pPr indent="0" marL="0">
              <a:lnSpc>
                <a:spcPct val="125000"/>
              </a:lnSpc>
              <a:buNone/>
            </a:pPr>
            <a:r>
              <a:rPr lang="en-US" sz="1350" b="1" dirty="0">
                <a:solidFill>
                  <a:srgbClr val="5A6B70"/>
                </a:solidFill>
                <a:latin typeface="Calibri" pitchFamily="34" charset="0"/>
                <a:ea typeface="Calibri" pitchFamily="34" charset="-122"/>
                <a:cs typeface="Calibri" pitchFamily="34" charset="-120"/>
              </a:rPr>
              <a:t>Hàng chờ phụ thuộc</a:t>
            </a:r>
            <a:endParaRPr lang="en-US" sz="1350" dirty="0"/>
          </a:p>
        </p:txBody>
      </p:sp>
      <p:sp>
        <p:nvSpPr>
          <p:cNvPr id="13" name="Text 10"/>
          <p:cNvSpPr txBox="1"/>
          <p:nvPr/>
        </p:nvSpPr>
        <p:spPr>
          <a:xfrm>
            <a:off x="868680" y="4059936"/>
            <a:ext cx="5029200" cy="320040"/>
          </a:xfrm>
          <a:prstGeom prst="rect">
            <a:avLst/>
          </a:prstGeom>
          <a:noFill/>
          <a:ln/>
        </p:spPr>
        <p:txBody>
          <a:bodyPr wrap="square" lIns="0" tIns="0" rIns="0" bIns="0" rtlCol="0" anchor="ctr"/>
          <a:lstStyle/>
          <a:p>
            <a:pPr indent="0" marL="0">
              <a:lnSpc>
                <a:spcPct val="125000"/>
              </a:lnSpc>
              <a:buNone/>
            </a:pPr>
            <a:r>
              <a:rPr lang="en-US" sz="1200" dirty="0">
                <a:solidFill>
                  <a:srgbClr val="5A6B70"/>
                </a:solidFill>
                <a:latin typeface="Calibri" pitchFamily="34" charset="0"/>
                <a:ea typeface="Calibri" pitchFamily="34" charset="-122"/>
                <a:cs typeface="Calibri" pitchFamily="34" charset="-120"/>
              </a:rPr>
              <a:t>Đúng nhưng phức tạp: thêm trạng thái, thêm cơ chế đánh thức</a:t>
            </a:r>
            <a:endParaRPr lang="en-US" sz="1200" dirty="0"/>
          </a:p>
        </p:txBody>
      </p:sp>
      <p:sp>
        <p:nvSpPr>
          <p:cNvPr id="14" name="Shape 11"/>
          <p:cNvSpPr/>
          <p:nvPr/>
        </p:nvSpPr>
        <p:spPr>
          <a:xfrm>
            <a:off x="640080" y="4572000"/>
            <a:ext cx="5486400" cy="777240"/>
          </a:xfrm>
          <a:prstGeom prst="roundRect">
            <a:avLst>
              <a:gd name="adj" fmla="val 7059"/>
            </a:avLst>
          </a:prstGeom>
          <a:solidFill>
            <a:srgbClr val="E7F5F2"/>
          </a:solidFill>
          <a:ln w="12700">
            <a:solidFill>
              <a:srgbClr val="E7F5F2"/>
            </a:solidFill>
            <a:prstDash val="solid"/>
          </a:ln>
        </p:spPr>
      </p:sp>
      <p:sp>
        <p:nvSpPr>
          <p:cNvPr id="15" name="Text 12"/>
          <p:cNvSpPr txBox="1"/>
          <p:nvPr/>
        </p:nvSpPr>
        <p:spPr>
          <a:xfrm>
            <a:off x="868680" y="4681728"/>
            <a:ext cx="5029200" cy="256032"/>
          </a:xfrm>
          <a:prstGeom prst="rect">
            <a:avLst/>
          </a:prstGeom>
          <a:noFill/>
          <a:ln/>
        </p:spPr>
        <p:txBody>
          <a:bodyPr wrap="square" lIns="0" tIns="0" rIns="0" bIns="0" rtlCol="0" anchor="ctr"/>
          <a:lstStyle/>
          <a:p>
            <a:pPr indent="0" marL="0">
              <a:lnSpc>
                <a:spcPct val="125000"/>
              </a:lnSpc>
              <a:buNone/>
            </a:pPr>
            <a:r>
              <a:rPr lang="en-US" sz="1350" b="1" dirty="0">
                <a:solidFill>
                  <a:srgbClr val="028090"/>
                </a:solidFill>
                <a:latin typeface="Calibri" pitchFamily="34" charset="0"/>
                <a:ea typeface="Calibri" pitchFamily="34" charset="-122"/>
                <a:cs typeface="Calibri" pitchFamily="34" charset="-120"/>
              </a:rPr>
              <a:t>Khôi phục ngay trong lượt</a:t>
            </a:r>
            <a:endParaRPr lang="en-US" sz="1350" dirty="0"/>
          </a:p>
        </p:txBody>
      </p:sp>
      <p:sp>
        <p:nvSpPr>
          <p:cNvPr id="16" name="Text 13"/>
          <p:cNvSpPr txBox="1"/>
          <p:nvPr/>
        </p:nvSpPr>
        <p:spPr>
          <a:xfrm>
            <a:off x="868680" y="4974336"/>
            <a:ext cx="5029200" cy="320040"/>
          </a:xfrm>
          <a:prstGeom prst="rect">
            <a:avLst/>
          </a:prstGeom>
          <a:noFill/>
          <a:ln/>
        </p:spPr>
        <p:txBody>
          <a:bodyPr wrap="square" lIns="0" tIns="0" rIns="0" bIns="0" rtlCol="0" anchor="ctr"/>
          <a:lstStyle/>
          <a:p>
            <a:pPr indent="0" marL="0">
              <a:lnSpc>
                <a:spcPct val="125000"/>
              </a:lnSpc>
              <a:buNone/>
            </a:pPr>
            <a:r>
              <a:rPr lang="en-US" sz="1200" dirty="0">
                <a:solidFill>
                  <a:srgbClr val="5A6B70"/>
                </a:solidFill>
                <a:latin typeface="Calibri" pitchFamily="34" charset="0"/>
                <a:ea typeface="Calibri" pitchFamily="34" charset="-122"/>
                <a:cs typeface="Calibri" pitchFamily="34" charset="-120"/>
              </a:rPr>
              <a:t>Gọi thẳng ensureUser và ensureCourse rồi tiếp tục</a:t>
            </a:r>
            <a:endParaRPr lang="en-US" sz="1200" dirty="0"/>
          </a:p>
        </p:txBody>
      </p:sp>
      <p:sp>
        <p:nvSpPr>
          <p:cNvPr id="17" name="Text 14"/>
          <p:cNvSpPr txBox="1"/>
          <p:nvPr/>
        </p:nvSpPr>
        <p:spPr>
          <a:xfrm>
            <a:off x="640080" y="5623560"/>
            <a:ext cx="5486400" cy="731520"/>
          </a:xfrm>
          <a:prstGeom prst="rect">
            <a:avLst/>
          </a:prstGeom>
          <a:noFill/>
          <a:ln/>
        </p:spPr>
        <p:txBody>
          <a:bodyPr wrap="square" lIns="0" tIns="0" rIns="0" bIns="0" rtlCol="0" anchor="ctr"/>
          <a:lstStyle/>
          <a:p>
            <a:pPr indent="0" marL="0">
              <a:lnSpc>
                <a:spcPct val="125000"/>
              </a:lnSpc>
              <a:buNone/>
            </a:pPr>
            <a:r>
              <a:rPr lang="en-US" sz="1300" b="1" dirty="0">
                <a:solidFill>
                  <a:srgbClr val="0B2027"/>
                </a:solidFill>
                <a:latin typeface="Calibri" pitchFamily="34" charset="0"/>
                <a:ea typeface="Calibri" pitchFamily="34" charset="-122"/>
                <a:cs typeface="Calibri" pitchFamily="34" charset="-120"/>
              </a:rPr>
              <a:t>An toàn vì bản thân các hàm hội tụ đã chống trùng: phụ thuộc đã có thì hàm không làm gì cả.</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75488"/>
            <a:ext cx="475488" cy="475488"/>
          </a:xfrm>
          <a:prstGeom prst="roundRect">
            <a:avLst>
              <a:gd name="adj" fmla="val 23077"/>
            </a:avLst>
          </a:prstGeom>
          <a:solidFill>
            <a:srgbClr val="028090"/>
          </a:solidFill>
          <a:ln w="12700">
            <a:solidFill>
              <a:srgbClr val="028090"/>
            </a:solidFill>
            <a:prstDash val="solid"/>
          </a:ln>
        </p:spPr>
      </p:sp>
      <p:sp>
        <p:nvSpPr>
          <p:cNvPr id="3" name="Text 1"/>
          <p:cNvSpPr txBox="1"/>
          <p:nvPr/>
        </p:nvSpPr>
        <p:spPr>
          <a:xfrm>
            <a:off x="640080" y="475488"/>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11</a:t>
            </a:r>
            <a:endParaRPr lang="en-US" sz="1700" dirty="0"/>
          </a:p>
        </p:txBody>
      </p:sp>
      <p:sp>
        <p:nvSpPr>
          <p:cNvPr id="4" name="Text 2"/>
          <p:cNvSpPr txBox="1"/>
          <p:nvPr/>
        </p:nvSpPr>
        <p:spPr>
          <a:xfrm>
            <a:off x="1298448" y="457200"/>
            <a:ext cx="8686800" cy="256032"/>
          </a:xfrm>
          <a:prstGeom prst="rect">
            <a:avLst/>
          </a:prstGeom>
          <a:noFill/>
          <a:ln/>
        </p:spPr>
        <p:txBody>
          <a:bodyPr wrap="square" lIns="0" tIns="0" rIns="0" bIns="0" rtlCol="0" anchor="ctr"/>
          <a:lstStyle/>
          <a:p>
            <a:pPr indent="0" marL="0">
              <a:buNone/>
            </a:pPr>
            <a:r>
              <a:rPr lang="en-US" sz="1100" b="1" spc="160" kern="0" dirty="0">
                <a:solidFill>
                  <a:srgbClr val="02C39A"/>
                </a:solidFill>
                <a:latin typeface="Calibri" pitchFamily="34" charset="0"/>
                <a:ea typeface="Calibri" pitchFamily="34" charset="-122"/>
                <a:cs typeface="Calibri" pitchFamily="34" charset="-120"/>
              </a:rPr>
              <a:t>LUỒNG NGƯỢC INT-06</a:t>
            </a:r>
            <a:endParaRPr lang="en-US" sz="1100" dirty="0"/>
          </a:p>
        </p:txBody>
      </p:sp>
      <p:sp>
        <p:nvSpPr>
          <p:cNvPr id="5" name="Text 3"/>
          <p:cNvSpPr txBox="1"/>
          <p:nvPr/>
        </p:nvSpPr>
        <p:spPr>
          <a:xfrm>
            <a:off x="1298448" y="694944"/>
            <a:ext cx="10424160" cy="566928"/>
          </a:xfrm>
          <a:prstGeom prst="rect">
            <a:avLst/>
          </a:prstGeom>
          <a:noFill/>
          <a:ln/>
        </p:spPr>
        <p:txBody>
          <a:bodyPr wrap="square" lIns="0" tIns="0" rIns="0" bIns="0" rtlCol="0" anchor="ctr"/>
          <a:lstStyle/>
          <a:p>
            <a:pPr indent="0" marL="0">
              <a:buNone/>
            </a:pPr>
            <a:r>
              <a:rPr lang="en-US" sz="3000" b="1" dirty="0">
                <a:solidFill>
                  <a:srgbClr val="0B2027"/>
                </a:solidFill>
                <a:latin typeface="Cambria" pitchFamily="34" charset="0"/>
                <a:ea typeface="Cambria" pitchFamily="34" charset="-122"/>
                <a:cs typeface="Cambria" pitchFamily="34" charset="-120"/>
              </a:rPr>
              <a:t>Điểm nháp không được lan sang UniSIS</a:t>
            </a:r>
            <a:endParaRPr lang="en-US" sz="3000" dirty="0"/>
          </a:p>
        </p:txBody>
      </p:sp>
      <p:pic>
        <p:nvPicPr>
          <p:cNvPr id="6" name="Image 0" descr="C:/Users/ADMIN/IdeaProjects/uni-integration-service/docs/diagrams/hinh-4-sd-grade.png">    </p:cNvPr>
          <p:cNvPicPr>
            <a:picLocks noChangeAspect="1"/>
          </p:cNvPicPr>
          <p:nvPr/>
        </p:nvPicPr>
        <p:blipFill>
          <a:blip r:embed="rId1"/>
          <a:stretch>
            <a:fillRect/>
          </a:stretch>
        </p:blipFill>
        <p:spPr>
          <a:xfrm>
            <a:off x="4846320" y="1463040"/>
            <a:ext cx="6675120" cy="4773168"/>
          </a:xfrm>
          <a:prstGeom prst="rect">
            <a:avLst/>
          </a:prstGeom>
        </p:spPr>
      </p:pic>
      <p:sp>
        <p:nvSpPr>
          <p:cNvPr id="7" name="Text 4"/>
          <p:cNvSpPr txBox="1"/>
          <p:nvPr/>
        </p:nvSpPr>
        <p:spPr>
          <a:xfrm>
            <a:off x="640080" y="1600200"/>
            <a:ext cx="3931920" cy="1371600"/>
          </a:xfrm>
          <a:prstGeom prst="rect">
            <a:avLst/>
          </a:prstGeom>
          <a:noFill/>
          <a:ln/>
        </p:spPr>
        <p:txBody>
          <a:bodyPr wrap="square" lIns="0" tIns="0" rIns="0" bIns="0" rtlCol="0" anchor="ctr"/>
          <a:lstStyle/>
          <a:p>
            <a:pPr indent="0" marL="0">
              <a:lnSpc>
                <a:spcPct val="125000"/>
              </a:lnSpc>
              <a:buNone/>
            </a:pPr>
            <a:r>
              <a:rPr lang="en-US" sz="1500" dirty="0">
                <a:solidFill>
                  <a:srgbClr val="0B2027"/>
                </a:solidFill>
                <a:latin typeface="Calibri" pitchFamily="34" charset="0"/>
                <a:ea typeface="Calibri" pitchFamily="34" charset="-122"/>
                <a:cs typeface="Calibri" pitchFamily="34" charset="-120"/>
              </a:rPr>
              <a:t>Chỉ sự kiện grade.published mới kích hoạt đồng bộ. Thao tác lưu nháp không thể gây ra bất kỳ lời gọi nào tới UniSIS.</a:t>
            </a:r>
            <a:endParaRPr lang="en-US" sz="1500" dirty="0"/>
          </a:p>
        </p:txBody>
      </p:sp>
      <p:sp>
        <p:nvSpPr>
          <p:cNvPr id="8" name="Shape 5"/>
          <p:cNvSpPr/>
          <p:nvPr/>
        </p:nvSpPr>
        <p:spPr>
          <a:xfrm>
            <a:off x="640080" y="3154680"/>
            <a:ext cx="3931920" cy="914400"/>
          </a:xfrm>
          <a:prstGeom prst="roundRect">
            <a:avLst>
              <a:gd name="adj" fmla="val 6000"/>
            </a:avLst>
          </a:prstGeom>
          <a:solidFill>
            <a:srgbClr val="0E2A33"/>
          </a:solidFill>
          <a:ln w="12700">
            <a:solidFill>
              <a:srgbClr val="0E2A33"/>
            </a:solidFill>
            <a:prstDash val="solid"/>
          </a:ln>
        </p:spPr>
      </p:sp>
      <p:sp>
        <p:nvSpPr>
          <p:cNvPr id="9" name="Text 6"/>
          <p:cNvSpPr txBox="1"/>
          <p:nvPr/>
        </p:nvSpPr>
        <p:spPr>
          <a:xfrm>
            <a:off x="804672" y="3264408"/>
            <a:ext cx="3602736" cy="694944"/>
          </a:xfrm>
          <a:prstGeom prst="rect">
            <a:avLst/>
          </a:prstGeom>
          <a:noFill/>
          <a:ln/>
        </p:spPr>
        <p:txBody>
          <a:bodyPr wrap="square" lIns="0" tIns="0" rIns="0" bIns="0" rtlCol="0" anchor="ctr"/>
          <a:lstStyle/>
          <a:p>
            <a:pPr indent="0" marL="0">
              <a:lnSpc>
                <a:spcPct val="118000"/>
              </a:lnSpc>
              <a:buNone/>
            </a:pPr>
            <a:r>
              <a:rPr lang="en-US" sz="1200" dirty="0">
                <a:solidFill>
                  <a:srgbClr val="CFF3EA"/>
                </a:solidFill>
                <a:latin typeface="Courier New" pitchFamily="34" charset="0"/>
                <a:ea typeface="Courier New" pitchFamily="34" charset="-122"/>
                <a:cs typeface="Courier New" pitchFamily="34" charset="-120"/>
              </a:rPr>
              <a:t>87.5 / 100</a:t>
            </a:r>
            <a:endParaRPr lang="en-US" sz="1200" dirty="0"/>
          </a:p>
          <a:p>
            <a:pPr indent="0" marL="0">
              <a:lnSpc>
                <a:spcPct val="118000"/>
              </a:lnSpc>
              <a:buNone/>
            </a:pPr>
            <a:r>
              <a:rPr lang="en-US" sz="1200" dirty="0">
                <a:solidFill>
                  <a:srgbClr val="CFF3EA"/>
                </a:solidFill>
                <a:latin typeface="Courier New" pitchFamily="34" charset="0"/>
                <a:ea typeface="Courier New" pitchFamily="34" charset="-122"/>
                <a:cs typeface="Courier New" pitchFamily="34" charset="-120"/>
              </a:rPr>
              <a:t>   ↓ round(x/10, 2)</a:t>
            </a:r>
            <a:endParaRPr lang="en-US" sz="1200" dirty="0"/>
          </a:p>
          <a:p>
            <a:pPr indent="0" marL="0">
              <a:lnSpc>
                <a:spcPct val="118000"/>
              </a:lnSpc>
              <a:buNone/>
            </a:pPr>
            <a:r>
              <a:rPr lang="en-US" sz="1200" dirty="0">
                <a:solidFill>
                  <a:srgbClr val="CFF3EA"/>
                </a:solidFill>
                <a:latin typeface="Courier New" pitchFamily="34" charset="0"/>
                <a:ea typeface="Courier New" pitchFamily="34" charset="-122"/>
                <a:cs typeface="Courier New" pitchFamily="34" charset="-120"/>
              </a:rPr>
              <a:t>8.75 / 10</a:t>
            </a:r>
            <a:endParaRPr lang="en-US" sz="1200" dirty="0"/>
          </a:p>
        </p:txBody>
      </p:sp>
      <p:sp>
        <p:nvSpPr>
          <p:cNvPr id="10" name="Text 7"/>
          <p:cNvSpPr txBox="1"/>
          <p:nvPr/>
        </p:nvSpPr>
        <p:spPr>
          <a:xfrm>
            <a:off x="640080" y="4297680"/>
            <a:ext cx="3931920" cy="1463040"/>
          </a:xfrm>
          <a:prstGeom prst="rect">
            <a:avLst/>
          </a:prstGeom>
          <a:noFill/>
          <a:ln/>
        </p:spPr>
        <p:txBody>
          <a:bodyPr wrap="square" lIns="0" tIns="0" rIns="0" bIns="0" rtlCol="0" anchor="ctr"/>
          <a:lstStyle/>
          <a:p>
            <a:pPr indent="0" marL="0">
              <a:lnSpc>
                <a:spcPct val="125000"/>
              </a:lnSpc>
              <a:buNone/>
            </a:pPr>
            <a:r>
              <a:rPr lang="en-US" sz="1300" dirty="0">
                <a:solidFill>
                  <a:srgbClr val="5A6B70"/>
                </a:solidFill>
                <a:latin typeface="Calibri" pitchFamily="34" charset="0"/>
                <a:ea typeface="Calibri" pitchFamily="34" charset="-122"/>
                <a:cs typeface="Calibri" pitchFamily="34" charset="-120"/>
              </a:rPr>
              <a:t>Quy đổi dùng BigDecimal chứ không dùng số thực — đây là điểm số chính thức của sinh viên, làm tròn nhị phân cho kết quả không ổn định ở chữ số thứ hai.</a:t>
            </a:r>
            <a:endParaRPr lang="en-US" sz="1300" dirty="0"/>
          </a:p>
        </p:txBody>
      </p:sp>
      <p:sp>
        <p:nvSpPr>
          <p:cNvPr id="11" name="Text 8"/>
          <p:cNvSpPr txBox="1"/>
          <p:nvPr/>
        </p:nvSpPr>
        <p:spPr>
          <a:xfrm>
            <a:off x="640080" y="5760720"/>
            <a:ext cx="3931920" cy="640080"/>
          </a:xfrm>
          <a:prstGeom prst="rect">
            <a:avLst/>
          </a:prstGeom>
          <a:noFill/>
          <a:ln/>
        </p:spPr>
        <p:txBody>
          <a:bodyPr wrap="square" lIns="0" tIns="0" rIns="0" bIns="0" rtlCol="0" anchor="ctr"/>
          <a:lstStyle/>
          <a:p>
            <a:pPr indent="0" marL="0">
              <a:lnSpc>
                <a:spcPct val="125000"/>
              </a:lnSpc>
              <a:buNone/>
            </a:pPr>
            <a:r>
              <a:rPr lang="en-US" sz="1300" b="1" dirty="0">
                <a:solidFill>
                  <a:srgbClr val="028090"/>
                </a:solidFill>
                <a:latin typeface="Calibri" pitchFamily="34" charset="0"/>
                <a:ea typeface="Calibri" pitchFamily="34" charset="-122"/>
                <a:cs typeface="Calibri" pitchFamily="34" charset="-120"/>
              </a:rPr>
              <a:t>letterGrade CỐ Ý không gửi — để UniSIS tự tính theo quy chế của mình.</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2027"/>
        </a:solidFill>
      </p:bgPr>
    </p:bg>
    <p:spTree>
      <p:nvGrpSpPr>
        <p:cNvPr id="1" name=""/>
        <p:cNvGrpSpPr/>
        <p:nvPr/>
      </p:nvGrpSpPr>
      <p:grpSpPr>
        <a:xfrm>
          <a:off x="0" y="0"/>
          <a:ext cx="0" cy="0"/>
          <a:chOff x="0" y="0"/>
          <a:chExt cx="0" cy="0"/>
        </a:xfrm>
      </p:grpSpPr>
      <p:sp>
        <p:nvSpPr>
          <p:cNvPr id="2" name="Text 0"/>
          <p:cNvSpPr txBox="1"/>
          <p:nvPr/>
        </p:nvSpPr>
        <p:spPr>
          <a:xfrm>
            <a:off x="640080" y="603504"/>
            <a:ext cx="9144000" cy="274320"/>
          </a:xfrm>
          <a:prstGeom prst="rect">
            <a:avLst/>
          </a:prstGeom>
          <a:noFill/>
          <a:ln/>
        </p:spPr>
        <p:txBody>
          <a:bodyPr wrap="square" lIns="0" tIns="0" rIns="0" bIns="0" rtlCol="0" anchor="ctr"/>
          <a:lstStyle/>
          <a:p>
            <a:pPr indent="0" marL="0">
              <a:buNone/>
            </a:pPr>
            <a:r>
              <a:rPr lang="en-US" sz="1200" b="1" spc="180" kern="0" dirty="0">
                <a:solidFill>
                  <a:srgbClr val="02C39A"/>
                </a:solidFill>
                <a:latin typeface="Calibri" pitchFamily="34" charset="0"/>
                <a:ea typeface="Calibri" pitchFamily="34" charset="-122"/>
                <a:cs typeface="Calibri" pitchFamily="34" charset="-120"/>
              </a:rPr>
              <a:t>ĐỐI SOÁT — KỊCH BẢN T11</a:t>
            </a:r>
            <a:endParaRPr lang="en-US" sz="1200" dirty="0"/>
          </a:p>
        </p:txBody>
      </p:sp>
      <p:sp>
        <p:nvSpPr>
          <p:cNvPr id="3" name="Text 1"/>
          <p:cNvSpPr txBox="1"/>
          <p:nvPr/>
        </p:nvSpPr>
        <p:spPr>
          <a:xfrm>
            <a:off x="640080" y="914400"/>
            <a:ext cx="1088136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Chữa phần lệch không có sự kiện nào</a:t>
            </a:r>
            <a:endParaRPr lang="en-US" sz="3200" dirty="0"/>
          </a:p>
        </p:txBody>
      </p:sp>
      <p:sp>
        <p:nvSpPr>
          <p:cNvPr id="4" name="Text 2"/>
          <p:cNvSpPr txBox="1"/>
          <p:nvPr/>
        </p:nvSpPr>
        <p:spPr>
          <a:xfrm>
            <a:off x="640080" y="1874520"/>
            <a:ext cx="10881360" cy="548640"/>
          </a:xfrm>
          <a:prstGeom prst="rect">
            <a:avLst/>
          </a:prstGeom>
          <a:noFill/>
          <a:ln/>
        </p:spPr>
        <p:txBody>
          <a:bodyPr wrap="square" lIns="0" tIns="0" rIns="0" bIns="0" rtlCol="0" anchor="ctr"/>
          <a:lstStyle/>
          <a:p>
            <a:pPr indent="0" marL="0">
              <a:lnSpc>
                <a:spcPct val="125000"/>
              </a:lnSpc>
              <a:buNone/>
            </a:pPr>
            <a:r>
              <a:rPr lang="en-US" sz="1600" dirty="0">
                <a:solidFill>
                  <a:srgbClr val="CFE7E4"/>
                </a:solidFill>
                <a:latin typeface="Calibri" pitchFamily="34" charset="0"/>
                <a:ea typeface="Calibri" pitchFamily="34" charset="-122"/>
                <a:cs typeface="Calibri" pitchFamily="34" charset="-120"/>
              </a:rPr>
              <a:t>Khi dữ liệu được khởi tạo lại, bảng sự kiện bị xóa sạch. Webhook và polling đều bó tay — dù chạy bao lâu.</a:t>
            </a:r>
            <a:endParaRPr lang="en-US" sz="1600" dirty="0"/>
          </a:p>
        </p:txBody>
      </p:sp>
      <p:sp>
        <p:nvSpPr>
          <p:cNvPr id="5" name="Shape 3"/>
          <p:cNvSpPr/>
          <p:nvPr/>
        </p:nvSpPr>
        <p:spPr>
          <a:xfrm>
            <a:off x="640080" y="2606040"/>
            <a:ext cx="6035040" cy="2286000"/>
          </a:xfrm>
          <a:prstGeom prst="roundRect">
            <a:avLst>
              <a:gd name="adj" fmla="val 2400"/>
            </a:avLst>
          </a:prstGeom>
          <a:solidFill>
            <a:srgbClr val="12303A"/>
          </a:solidFill>
          <a:ln w="12700">
            <a:solidFill>
              <a:srgbClr val="12303A"/>
            </a:solidFill>
            <a:prstDash val="solid"/>
          </a:ln>
        </p:spPr>
      </p:sp>
      <p:sp>
        <p:nvSpPr>
          <p:cNvPr id="6" name="Text 4"/>
          <p:cNvSpPr txBox="1"/>
          <p:nvPr/>
        </p:nvSpPr>
        <p:spPr>
          <a:xfrm>
            <a:off x="804672" y="2715768"/>
            <a:ext cx="5705856" cy="2066544"/>
          </a:xfrm>
          <a:prstGeom prst="rect">
            <a:avLst/>
          </a:prstGeom>
          <a:noFill/>
          <a:ln/>
        </p:spPr>
        <p:txBody>
          <a:bodyPr wrap="square" lIns="0" tIns="0" rIns="0" bIns="0" rtlCol="0" anchor="ctr"/>
          <a:lstStyle/>
          <a:p>
            <a:pPr indent="0" marL="0">
              <a:lnSpc>
                <a:spcPct val="118000"/>
              </a:lnSpc>
              <a:buNone/>
            </a:pPr>
            <a:r>
              <a:rPr lang="en-US" sz="1200" dirty="0">
                <a:solidFill>
                  <a:srgbClr val="CFF3EA"/>
                </a:solidFill>
                <a:latin typeface="Courier New" pitchFamily="34" charset="0"/>
                <a:ea typeface="Courier New" pitchFamily="34" charset="-122"/>
                <a:cs typeface="Courier New" pitchFamily="34" charset="-120"/>
              </a:rPr>
              <a:t>runId: r1a0271d6b87   requestsUsed: 6</a:t>
            </a:r>
            <a:endParaRPr lang="en-US" sz="1200" dirty="0"/>
          </a:p>
          <a:p>
            <a:pPr indent="0" marL="0">
              <a:lnSpc>
                <a:spcPct val="118000"/>
              </a:lnSpc>
              <a:buNone/>
            </a:pPr>
            <a:endParaRPr lang="en-US" sz="1200" dirty="0"/>
          </a:p>
          <a:p>
            <a:pPr indent="0" marL="0">
              <a:lnSpc>
                <a:spcPct val="118000"/>
              </a:lnSpc>
              <a:buNone/>
            </a:pPr>
            <a:r>
              <a:rPr lang="en-US" sz="1200" dirty="0">
                <a:solidFill>
                  <a:srgbClr val="CFF3EA"/>
                </a:solidFill>
                <a:latin typeface="Courier New" pitchFamily="34" charset="0"/>
                <a:ea typeface="Courier New" pitchFamily="34" charset="-122"/>
                <a:cs typeface="Courier New" pitchFamily="34" charset="-120"/>
              </a:rPr>
              <a:t>STUDENT_USER           thieu=20  lech= 0</a:t>
            </a:r>
            <a:endParaRPr lang="en-US" sz="1200" dirty="0"/>
          </a:p>
          <a:p>
            <a:pPr indent="0" marL="0">
              <a:lnSpc>
                <a:spcPct val="118000"/>
              </a:lnSpc>
              <a:buNone/>
            </a:pPr>
            <a:r>
              <a:rPr lang="en-US" sz="1200" dirty="0">
                <a:solidFill>
                  <a:srgbClr val="CFF3EA"/>
                </a:solidFill>
                <a:latin typeface="Courier New" pitchFamily="34" charset="0"/>
                <a:ea typeface="Courier New" pitchFamily="34" charset="-122"/>
                <a:cs typeface="Courier New" pitchFamily="34" charset="-120"/>
              </a:rPr>
              <a:t>SECTION_COURSE         thieu= 3  lech=12</a:t>
            </a:r>
            <a:endParaRPr lang="en-US" sz="1200" dirty="0"/>
          </a:p>
          <a:p>
            <a:pPr indent="0" marL="0">
              <a:lnSpc>
                <a:spcPct val="118000"/>
              </a:lnSpc>
              <a:buNone/>
            </a:pPr>
            <a:r>
              <a:rPr lang="en-US" sz="1200" dirty="0">
                <a:solidFill>
                  <a:srgbClr val="CFF3EA"/>
                </a:solidFill>
                <a:latin typeface="Courier New" pitchFamily="34" charset="0"/>
                <a:ea typeface="Courier New" pitchFamily="34" charset="-122"/>
                <a:cs typeface="Courier New" pitchFamily="34" charset="-120"/>
              </a:rPr>
              <a:t>ENROLLMENT_MEMBERSHIP  thieu= 0  lech= 0</a:t>
            </a:r>
            <a:endParaRPr lang="en-US" sz="1200" dirty="0"/>
          </a:p>
          <a:p>
            <a:pPr indent="0" marL="0">
              <a:lnSpc>
                <a:spcPct val="118000"/>
              </a:lnSpc>
              <a:buNone/>
            </a:pPr>
            <a:endParaRPr lang="en-US" sz="1200" dirty="0"/>
          </a:p>
          <a:p>
            <a:pPr indent="0" marL="0">
              <a:lnSpc>
                <a:spcPct val="118000"/>
              </a:lnSpc>
              <a:buNone/>
            </a:pPr>
            <a:r>
              <a:rPr lang="en-US" sz="1200" dirty="0">
                <a:solidFill>
                  <a:srgbClr val="CFF3EA"/>
                </a:solidFill>
                <a:latin typeface="Courier New" pitchFamily="34" charset="0"/>
                <a:ea typeface="Courier New" pitchFamily="34" charset="-122"/>
                <a:cs typeface="Courier New" pitchFamily="34" charset="-120"/>
              </a:rPr>
              <a:t>TONG CHO LECH: 35</a:t>
            </a:r>
            <a:endParaRPr lang="en-US" sz="1200" dirty="0"/>
          </a:p>
        </p:txBody>
      </p:sp>
      <p:sp>
        <p:nvSpPr>
          <p:cNvPr id="7" name="Text 5"/>
          <p:cNvSpPr txBox="1"/>
          <p:nvPr/>
        </p:nvSpPr>
        <p:spPr>
          <a:xfrm>
            <a:off x="6949440" y="2697480"/>
            <a:ext cx="2011680" cy="777240"/>
          </a:xfrm>
          <a:prstGeom prst="rect">
            <a:avLst/>
          </a:prstGeom>
          <a:noFill/>
          <a:ln/>
        </p:spPr>
        <p:txBody>
          <a:bodyPr wrap="square" lIns="0" tIns="0" rIns="0" bIns="0" rtlCol="0" anchor="ctr"/>
          <a:lstStyle/>
          <a:p>
            <a:pPr algn="ctr" indent="0" marL="0">
              <a:buNone/>
            </a:pPr>
            <a:r>
              <a:rPr lang="en-US" sz="4400" b="1" dirty="0">
                <a:solidFill>
                  <a:srgbClr val="02C39A"/>
                </a:solidFill>
                <a:latin typeface="Cambria" pitchFamily="34" charset="0"/>
                <a:ea typeface="Cambria" pitchFamily="34" charset="-122"/>
                <a:cs typeface="Cambria" pitchFamily="34" charset="-120"/>
              </a:rPr>
              <a:t>35</a:t>
            </a:r>
            <a:endParaRPr lang="en-US" sz="4400" dirty="0"/>
          </a:p>
        </p:txBody>
      </p:sp>
      <p:sp>
        <p:nvSpPr>
          <p:cNvPr id="8" name="Text 6"/>
          <p:cNvSpPr txBox="1"/>
          <p:nvPr/>
        </p:nvSpPr>
        <p:spPr>
          <a:xfrm>
            <a:off x="6949440" y="3474720"/>
            <a:ext cx="2011680" cy="457200"/>
          </a:xfrm>
          <a:prstGeom prst="rect">
            <a:avLst/>
          </a:prstGeom>
          <a:noFill/>
          <a:ln/>
        </p:spPr>
        <p:txBody>
          <a:bodyPr wrap="square" lIns="0" tIns="0" rIns="0" bIns="0" rtlCol="0" anchor="ctr"/>
          <a:lstStyle/>
          <a:p>
            <a:pPr algn="ctr" indent="0" marL="0">
              <a:buNone/>
            </a:pPr>
            <a:r>
              <a:rPr lang="en-US" sz="1200" dirty="0">
                <a:solidFill>
                  <a:srgbClr val="8FA9AE"/>
                </a:solidFill>
                <a:latin typeface="Calibri" pitchFamily="34" charset="0"/>
                <a:ea typeface="Calibri" pitchFamily="34" charset="-122"/>
                <a:cs typeface="Calibri" pitchFamily="34" charset="-120"/>
              </a:rPr>
              <a:t>chỗ lệch phát hiện</a:t>
            </a:r>
            <a:endParaRPr lang="en-US" sz="1200" dirty="0"/>
          </a:p>
        </p:txBody>
      </p:sp>
      <p:sp>
        <p:nvSpPr>
          <p:cNvPr id="9" name="Text 7"/>
          <p:cNvSpPr txBox="1"/>
          <p:nvPr/>
        </p:nvSpPr>
        <p:spPr>
          <a:xfrm>
            <a:off x="9144000" y="2697480"/>
            <a:ext cx="2011680" cy="777240"/>
          </a:xfrm>
          <a:prstGeom prst="rect">
            <a:avLst/>
          </a:prstGeom>
          <a:noFill/>
          <a:ln/>
        </p:spPr>
        <p:txBody>
          <a:bodyPr wrap="square" lIns="0" tIns="0" rIns="0" bIns="0" rtlCol="0" anchor="ctr"/>
          <a:lstStyle/>
          <a:p>
            <a:pPr algn="ctr" indent="0" marL="0">
              <a:buNone/>
            </a:pPr>
            <a:r>
              <a:rPr lang="en-US" sz="4400" b="1" dirty="0">
                <a:solidFill>
                  <a:srgbClr val="02C39A"/>
                </a:solidFill>
                <a:latin typeface="Cambria" pitchFamily="34" charset="0"/>
                <a:ea typeface="Cambria" pitchFamily="34" charset="-122"/>
                <a:cs typeface="Cambria" pitchFamily="34" charset="-120"/>
              </a:rPr>
              <a:t>0</a:t>
            </a:r>
            <a:endParaRPr lang="en-US" sz="4400" dirty="0"/>
          </a:p>
        </p:txBody>
      </p:sp>
      <p:sp>
        <p:nvSpPr>
          <p:cNvPr id="10" name="Text 8"/>
          <p:cNvSpPr txBox="1"/>
          <p:nvPr/>
        </p:nvSpPr>
        <p:spPr>
          <a:xfrm>
            <a:off x="9144000" y="3474720"/>
            <a:ext cx="2011680" cy="457200"/>
          </a:xfrm>
          <a:prstGeom prst="rect">
            <a:avLst/>
          </a:prstGeom>
          <a:noFill/>
          <a:ln/>
        </p:spPr>
        <p:txBody>
          <a:bodyPr wrap="square" lIns="0" tIns="0" rIns="0" bIns="0" rtlCol="0" anchor="ctr"/>
          <a:lstStyle/>
          <a:p>
            <a:pPr algn="ctr" indent="0" marL="0">
              <a:buNone/>
            </a:pPr>
            <a:r>
              <a:rPr lang="en-US" sz="1200" dirty="0">
                <a:solidFill>
                  <a:srgbClr val="8FA9AE"/>
                </a:solidFill>
                <a:latin typeface="Calibri" pitchFamily="34" charset="0"/>
                <a:ea typeface="Calibri" pitchFamily="34" charset="-122"/>
                <a:cs typeface="Calibri" pitchFamily="34" charset="-120"/>
              </a:rPr>
              <a:t>còn lại sau khi chữa</a:t>
            </a:r>
            <a:endParaRPr lang="en-US" sz="1200" dirty="0"/>
          </a:p>
        </p:txBody>
      </p:sp>
      <p:sp>
        <p:nvSpPr>
          <p:cNvPr id="11" name="Shape 9"/>
          <p:cNvSpPr/>
          <p:nvPr/>
        </p:nvSpPr>
        <p:spPr>
          <a:xfrm>
            <a:off x="6949440" y="4160520"/>
            <a:ext cx="4206240" cy="731520"/>
          </a:xfrm>
          <a:prstGeom prst="roundRect">
            <a:avLst>
              <a:gd name="adj" fmla="val 7500"/>
            </a:avLst>
          </a:prstGeom>
          <a:solidFill>
            <a:srgbClr val="12303A"/>
          </a:solidFill>
          <a:ln w="12700">
            <a:solidFill>
              <a:srgbClr val="12303A"/>
            </a:solidFill>
            <a:prstDash val="solid"/>
          </a:ln>
        </p:spPr>
      </p:sp>
      <p:sp>
        <p:nvSpPr>
          <p:cNvPr id="12" name="Text 10"/>
          <p:cNvSpPr txBox="1"/>
          <p:nvPr/>
        </p:nvSpPr>
        <p:spPr>
          <a:xfrm>
            <a:off x="7178040" y="4370832"/>
            <a:ext cx="3749040" cy="365760"/>
          </a:xfrm>
          <a:prstGeom prst="rect">
            <a:avLst/>
          </a:prstGeom>
          <a:noFill/>
          <a:ln/>
        </p:spPr>
        <p:txBody>
          <a:bodyPr wrap="square" lIns="0" tIns="0" rIns="0" bIns="0" rtlCol="0" anchor="ctr"/>
          <a:lstStyle/>
          <a:p>
            <a:pPr indent="0" marL="0">
              <a:lnSpc>
                <a:spcPct val="125000"/>
              </a:lnSpc>
              <a:buNone/>
            </a:pPr>
            <a:r>
              <a:rPr lang="en-US" sz="1300" b="1" dirty="0">
                <a:solidFill>
                  <a:srgbClr val="FFFFFF"/>
                </a:solidFill>
                <a:latin typeface="Calibri" pitchFamily="34" charset="0"/>
                <a:ea typeface="Calibri" pitchFamily="34" charset="-122"/>
                <a:cs typeface="Calibri" pitchFamily="34" charset="-120"/>
              </a:rPr>
              <a:t>6 request cho cả ba loại thực thể</a:t>
            </a:r>
            <a:endParaRPr lang="en-US" sz="1300" dirty="0"/>
          </a:p>
        </p:txBody>
      </p:sp>
      <p:sp>
        <p:nvSpPr>
          <p:cNvPr id="13" name="Text 11"/>
          <p:cNvSpPr txBox="1"/>
          <p:nvPr/>
        </p:nvSpPr>
        <p:spPr>
          <a:xfrm>
            <a:off x="640080" y="5257800"/>
            <a:ext cx="10881360" cy="914400"/>
          </a:xfrm>
          <a:prstGeom prst="rect">
            <a:avLst/>
          </a:prstGeom>
          <a:noFill/>
          <a:ln/>
        </p:spPr>
        <p:txBody>
          <a:bodyPr wrap="square" lIns="0" tIns="0" rIns="0" bIns="0" rtlCol="0" anchor="ctr"/>
          <a:lstStyle/>
          <a:p>
            <a:pPr indent="0" marL="0">
              <a:lnSpc>
                <a:spcPct val="125000"/>
              </a:lnSpc>
              <a:buNone/>
            </a:pPr>
            <a:r>
              <a:rPr lang="en-US" sz="1350" dirty="0">
                <a:solidFill>
                  <a:srgbClr val="A9C3C7"/>
                </a:solidFill>
                <a:latin typeface="Calibri" pitchFamily="34" charset="0"/>
                <a:ea typeface="Calibri" pitchFamily="34" charset="-122"/>
                <a:cs typeface="Calibri" pitchFamily="34" charset="-120"/>
              </a:rPr>
              <a:t>Sự kiện tổng hợp mang mã recon:{runId}:{type}:{key}. runId phải sinh mới mỗi lượt — nếu đặt mã theo thực thể, ràng buộc UNIQUE sẽ coi lượt đối soát thứ hai là trùng và bỏ qua sạch.</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75488"/>
            <a:ext cx="475488" cy="475488"/>
          </a:xfrm>
          <a:prstGeom prst="roundRect">
            <a:avLst>
              <a:gd name="adj" fmla="val 23077"/>
            </a:avLst>
          </a:prstGeom>
          <a:solidFill>
            <a:srgbClr val="028090"/>
          </a:solidFill>
          <a:ln w="12700">
            <a:solidFill>
              <a:srgbClr val="028090"/>
            </a:solidFill>
            <a:prstDash val="solid"/>
          </a:ln>
        </p:spPr>
      </p:sp>
      <p:sp>
        <p:nvSpPr>
          <p:cNvPr id="3" name="Text 1"/>
          <p:cNvSpPr txBox="1"/>
          <p:nvPr/>
        </p:nvSpPr>
        <p:spPr>
          <a:xfrm>
            <a:off x="640080" y="475488"/>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12</a:t>
            </a:r>
            <a:endParaRPr lang="en-US" sz="1700" dirty="0"/>
          </a:p>
        </p:txBody>
      </p:sp>
      <p:sp>
        <p:nvSpPr>
          <p:cNvPr id="4" name="Text 2"/>
          <p:cNvSpPr txBox="1"/>
          <p:nvPr/>
        </p:nvSpPr>
        <p:spPr>
          <a:xfrm>
            <a:off x="1298448" y="457200"/>
            <a:ext cx="8686800" cy="256032"/>
          </a:xfrm>
          <a:prstGeom prst="rect">
            <a:avLst/>
          </a:prstGeom>
          <a:noFill/>
          <a:ln/>
        </p:spPr>
        <p:txBody>
          <a:bodyPr wrap="square" lIns="0" tIns="0" rIns="0" bIns="0" rtlCol="0" anchor="ctr"/>
          <a:lstStyle/>
          <a:p>
            <a:pPr indent="0" marL="0">
              <a:buNone/>
            </a:pPr>
            <a:r>
              <a:rPr lang="en-US" sz="1100" b="1" spc="160" kern="0" dirty="0">
                <a:solidFill>
                  <a:srgbClr val="02C39A"/>
                </a:solidFill>
                <a:latin typeface="Calibri" pitchFamily="34" charset="0"/>
                <a:ea typeface="Calibri" pitchFamily="34" charset="-122"/>
                <a:cs typeface="Calibri" pitchFamily="34" charset="-120"/>
              </a:rPr>
              <a:t>KẾT QUẢ CHẠY THẬT</a:t>
            </a:r>
            <a:endParaRPr lang="en-US" sz="1100" dirty="0"/>
          </a:p>
        </p:txBody>
      </p:sp>
      <p:sp>
        <p:nvSpPr>
          <p:cNvPr id="5" name="Text 3"/>
          <p:cNvSpPr txBox="1"/>
          <p:nvPr/>
        </p:nvSpPr>
        <p:spPr>
          <a:xfrm>
            <a:off x="1298448" y="694944"/>
            <a:ext cx="10424160" cy="566928"/>
          </a:xfrm>
          <a:prstGeom prst="rect">
            <a:avLst/>
          </a:prstGeom>
          <a:noFill/>
          <a:ln/>
        </p:spPr>
        <p:txBody>
          <a:bodyPr wrap="square" lIns="0" tIns="0" rIns="0" bIns="0" rtlCol="0" anchor="ctr"/>
          <a:lstStyle/>
          <a:p>
            <a:pPr indent="0" marL="0">
              <a:buNone/>
            </a:pPr>
            <a:r>
              <a:rPr lang="en-US" sz="3000" b="1" dirty="0">
                <a:solidFill>
                  <a:srgbClr val="0B2027"/>
                </a:solidFill>
                <a:latin typeface="Cambria" pitchFamily="34" charset="0"/>
                <a:ea typeface="Cambria" pitchFamily="34" charset="-122"/>
                <a:cs typeface="Cambria" pitchFamily="34" charset="-120"/>
              </a:rPr>
              <a:t>Tám luồng đều có dấu vết trong hàng đợi bền</a:t>
            </a:r>
            <a:endParaRPr lang="en-US" sz="3000" dirty="0"/>
          </a:p>
        </p:txBody>
      </p:sp>
      <p:sp>
        <p:nvSpPr>
          <p:cNvPr id="6" name="Shape 4"/>
          <p:cNvSpPr/>
          <p:nvPr/>
        </p:nvSpPr>
        <p:spPr>
          <a:xfrm>
            <a:off x="640080" y="1554480"/>
            <a:ext cx="7589520" cy="393192"/>
          </a:xfrm>
          <a:prstGeom prst="roundRect">
            <a:avLst>
              <a:gd name="adj" fmla="val 13953"/>
            </a:avLst>
          </a:prstGeom>
          <a:solidFill>
            <a:srgbClr val="FFFFFF"/>
          </a:solidFill>
          <a:ln w="12700">
            <a:solidFill>
              <a:srgbClr val="FFFFFF"/>
            </a:solidFill>
            <a:prstDash val="solid"/>
          </a:ln>
        </p:spPr>
      </p:sp>
      <p:sp>
        <p:nvSpPr>
          <p:cNvPr id="7" name="Text 5"/>
          <p:cNvSpPr txBox="1"/>
          <p:nvPr/>
        </p:nvSpPr>
        <p:spPr>
          <a:xfrm>
            <a:off x="822960" y="1636776"/>
            <a:ext cx="822960" cy="237744"/>
          </a:xfrm>
          <a:prstGeom prst="rect">
            <a:avLst/>
          </a:prstGeom>
          <a:noFill/>
          <a:ln/>
        </p:spPr>
        <p:txBody>
          <a:bodyPr wrap="square" lIns="0" tIns="0" rIns="0" bIns="0" rtlCol="0" anchor="ctr"/>
          <a:lstStyle/>
          <a:p>
            <a:pPr indent="0" marL="0">
              <a:lnSpc>
                <a:spcPct val="125000"/>
              </a:lnSpc>
              <a:buNone/>
            </a:pPr>
            <a:r>
              <a:rPr lang="en-US" sz="1150" b="1" dirty="0">
                <a:solidFill>
                  <a:srgbClr val="5A6B70"/>
                </a:solidFill>
                <a:latin typeface="Calibri" pitchFamily="34" charset="0"/>
                <a:ea typeface="Calibri" pitchFamily="34" charset="-122"/>
                <a:cs typeface="Calibri" pitchFamily="34" charset="-120"/>
              </a:rPr>
              <a:t>SIS</a:t>
            </a:r>
            <a:endParaRPr lang="en-US" sz="1150" dirty="0"/>
          </a:p>
        </p:txBody>
      </p:sp>
      <p:sp>
        <p:nvSpPr>
          <p:cNvPr id="8" name="Text 6"/>
          <p:cNvSpPr txBox="1"/>
          <p:nvPr/>
        </p:nvSpPr>
        <p:spPr>
          <a:xfrm>
            <a:off x="1783080" y="1636776"/>
            <a:ext cx="2651760" cy="237744"/>
          </a:xfrm>
          <a:prstGeom prst="rect">
            <a:avLst/>
          </a:prstGeom>
          <a:noFill/>
          <a:ln/>
        </p:spPr>
        <p:txBody>
          <a:bodyPr wrap="square" lIns="0" tIns="0" rIns="0" bIns="0" rtlCol="0" anchor="ctr"/>
          <a:lstStyle/>
          <a:p>
            <a:pPr indent="0" marL="0">
              <a:lnSpc>
                <a:spcPct val="125000"/>
              </a:lnSpc>
              <a:buNone/>
            </a:pPr>
            <a:r>
              <a:rPr lang="en-US" sz="1250" dirty="0">
                <a:solidFill>
                  <a:srgbClr val="0B2027"/>
                </a:solidFill>
                <a:latin typeface="Calibri" pitchFamily="34" charset="0"/>
                <a:ea typeface="Calibri" pitchFamily="34" charset="-122"/>
                <a:cs typeface="Calibri" pitchFamily="34" charset="-120"/>
              </a:rPr>
              <a:t>student.created</a:t>
            </a:r>
            <a:endParaRPr lang="en-US" sz="1250" dirty="0"/>
          </a:p>
        </p:txBody>
      </p:sp>
      <p:sp>
        <p:nvSpPr>
          <p:cNvPr id="9" name="Text 7"/>
          <p:cNvSpPr txBox="1"/>
          <p:nvPr/>
        </p:nvSpPr>
        <p:spPr>
          <a:xfrm>
            <a:off x="4572000" y="1636776"/>
            <a:ext cx="548640" cy="237744"/>
          </a:xfrm>
          <a:prstGeom prst="rect">
            <a:avLst/>
          </a:prstGeom>
          <a:noFill/>
          <a:ln/>
        </p:spPr>
        <p:txBody>
          <a:bodyPr wrap="square" lIns="0" tIns="0" rIns="0" bIns="0" rtlCol="0" anchor="ctr"/>
          <a:lstStyle/>
          <a:p>
            <a:pPr algn="r" indent="0" marL="0">
              <a:lnSpc>
                <a:spcPct val="125000"/>
              </a:lnSpc>
              <a:buNone/>
            </a:pPr>
            <a:r>
              <a:rPr lang="en-US" sz="1250" b="1" dirty="0">
                <a:solidFill>
                  <a:srgbClr val="0B2027"/>
                </a:solidFill>
                <a:latin typeface="Calibri" pitchFamily="34" charset="0"/>
                <a:ea typeface="Calibri" pitchFamily="34" charset="-122"/>
                <a:cs typeface="Calibri" pitchFamily="34" charset="-120"/>
              </a:rPr>
              <a:t>8</a:t>
            </a:r>
            <a:endParaRPr lang="en-US" sz="1250" dirty="0"/>
          </a:p>
        </p:txBody>
      </p:sp>
      <p:sp>
        <p:nvSpPr>
          <p:cNvPr id="10" name="Text 8"/>
          <p:cNvSpPr txBox="1"/>
          <p:nvPr/>
        </p:nvSpPr>
        <p:spPr>
          <a:xfrm>
            <a:off x="5486400" y="1636776"/>
            <a:ext cx="2651760" cy="237744"/>
          </a:xfrm>
          <a:prstGeom prst="rect">
            <a:avLst/>
          </a:prstGeom>
          <a:noFill/>
          <a:ln/>
        </p:spPr>
        <p:txBody>
          <a:bodyPr wrap="square" lIns="0" tIns="0" rIns="0" bIns="0" rtlCol="0" anchor="ctr"/>
          <a:lstStyle/>
          <a:p>
            <a:pPr indent="0" marL="0">
              <a:lnSpc>
                <a:spcPct val="125000"/>
              </a:lnSpc>
              <a:buNone/>
            </a:pPr>
            <a:r>
              <a:rPr lang="en-US" sz="1200" dirty="0">
                <a:solidFill>
                  <a:srgbClr val="5A6B70"/>
                </a:solidFill>
                <a:latin typeface="Calibri" pitchFamily="34" charset="0"/>
                <a:ea typeface="Calibri" pitchFamily="34" charset="-122"/>
                <a:cs typeface="Calibri" pitchFamily="34" charset="-120"/>
              </a:rPr>
              <a:t>INT-01</a:t>
            </a:r>
            <a:endParaRPr lang="en-US" sz="1200" dirty="0"/>
          </a:p>
        </p:txBody>
      </p:sp>
      <p:sp>
        <p:nvSpPr>
          <p:cNvPr id="11" name="Shape 9"/>
          <p:cNvSpPr/>
          <p:nvPr/>
        </p:nvSpPr>
        <p:spPr>
          <a:xfrm>
            <a:off x="640080" y="2029968"/>
            <a:ext cx="7589520" cy="393192"/>
          </a:xfrm>
          <a:prstGeom prst="roundRect">
            <a:avLst>
              <a:gd name="adj" fmla="val 13953"/>
            </a:avLst>
          </a:prstGeom>
          <a:solidFill>
            <a:srgbClr val="F2F6F6"/>
          </a:solidFill>
          <a:ln w="12700">
            <a:solidFill>
              <a:srgbClr val="F2F6F6"/>
            </a:solidFill>
            <a:prstDash val="solid"/>
          </a:ln>
        </p:spPr>
      </p:sp>
      <p:sp>
        <p:nvSpPr>
          <p:cNvPr id="12" name="Text 10"/>
          <p:cNvSpPr txBox="1"/>
          <p:nvPr/>
        </p:nvSpPr>
        <p:spPr>
          <a:xfrm>
            <a:off x="822960" y="2112264"/>
            <a:ext cx="822960" cy="237744"/>
          </a:xfrm>
          <a:prstGeom prst="rect">
            <a:avLst/>
          </a:prstGeom>
          <a:noFill/>
          <a:ln/>
        </p:spPr>
        <p:txBody>
          <a:bodyPr wrap="square" lIns="0" tIns="0" rIns="0" bIns="0" rtlCol="0" anchor="ctr"/>
          <a:lstStyle/>
          <a:p>
            <a:pPr indent="0" marL="0">
              <a:lnSpc>
                <a:spcPct val="125000"/>
              </a:lnSpc>
              <a:buNone/>
            </a:pPr>
            <a:r>
              <a:rPr lang="en-US" sz="1150" b="1" dirty="0">
                <a:solidFill>
                  <a:srgbClr val="5A6B70"/>
                </a:solidFill>
                <a:latin typeface="Calibri" pitchFamily="34" charset="0"/>
                <a:ea typeface="Calibri" pitchFamily="34" charset="-122"/>
                <a:cs typeface="Calibri" pitchFamily="34" charset="-120"/>
              </a:rPr>
              <a:t>SIS</a:t>
            </a:r>
            <a:endParaRPr lang="en-US" sz="1150" dirty="0"/>
          </a:p>
        </p:txBody>
      </p:sp>
      <p:sp>
        <p:nvSpPr>
          <p:cNvPr id="13" name="Text 11"/>
          <p:cNvSpPr txBox="1"/>
          <p:nvPr/>
        </p:nvSpPr>
        <p:spPr>
          <a:xfrm>
            <a:off x="1783080" y="2112264"/>
            <a:ext cx="2651760" cy="237744"/>
          </a:xfrm>
          <a:prstGeom prst="rect">
            <a:avLst/>
          </a:prstGeom>
          <a:noFill/>
          <a:ln/>
        </p:spPr>
        <p:txBody>
          <a:bodyPr wrap="square" lIns="0" tIns="0" rIns="0" bIns="0" rtlCol="0" anchor="ctr"/>
          <a:lstStyle/>
          <a:p>
            <a:pPr indent="0" marL="0">
              <a:lnSpc>
                <a:spcPct val="125000"/>
              </a:lnSpc>
              <a:buNone/>
            </a:pPr>
            <a:r>
              <a:rPr lang="en-US" sz="1250" dirty="0">
                <a:solidFill>
                  <a:srgbClr val="0B2027"/>
                </a:solidFill>
                <a:latin typeface="Calibri" pitchFamily="34" charset="0"/>
                <a:ea typeface="Calibri" pitchFamily="34" charset="-122"/>
                <a:cs typeface="Calibri" pitchFamily="34" charset="-120"/>
              </a:rPr>
              <a:t>student.updated</a:t>
            </a:r>
            <a:endParaRPr lang="en-US" sz="1250" dirty="0"/>
          </a:p>
        </p:txBody>
      </p:sp>
      <p:sp>
        <p:nvSpPr>
          <p:cNvPr id="14" name="Text 12"/>
          <p:cNvSpPr txBox="1"/>
          <p:nvPr/>
        </p:nvSpPr>
        <p:spPr>
          <a:xfrm>
            <a:off x="4572000" y="2112264"/>
            <a:ext cx="548640" cy="237744"/>
          </a:xfrm>
          <a:prstGeom prst="rect">
            <a:avLst/>
          </a:prstGeom>
          <a:noFill/>
          <a:ln/>
        </p:spPr>
        <p:txBody>
          <a:bodyPr wrap="square" lIns="0" tIns="0" rIns="0" bIns="0" rtlCol="0" anchor="ctr"/>
          <a:lstStyle/>
          <a:p>
            <a:pPr algn="r" indent="0" marL="0">
              <a:lnSpc>
                <a:spcPct val="125000"/>
              </a:lnSpc>
              <a:buNone/>
            </a:pPr>
            <a:r>
              <a:rPr lang="en-US" sz="1250" b="1" dirty="0">
                <a:solidFill>
                  <a:srgbClr val="0B2027"/>
                </a:solidFill>
                <a:latin typeface="Calibri" pitchFamily="34" charset="0"/>
                <a:ea typeface="Calibri" pitchFamily="34" charset="-122"/>
                <a:cs typeface="Calibri" pitchFamily="34" charset="-120"/>
              </a:rPr>
              <a:t>1</a:t>
            </a:r>
            <a:endParaRPr lang="en-US" sz="1250" dirty="0"/>
          </a:p>
        </p:txBody>
      </p:sp>
      <p:sp>
        <p:nvSpPr>
          <p:cNvPr id="15" name="Text 13"/>
          <p:cNvSpPr txBox="1"/>
          <p:nvPr/>
        </p:nvSpPr>
        <p:spPr>
          <a:xfrm>
            <a:off x="5486400" y="2112264"/>
            <a:ext cx="2651760" cy="237744"/>
          </a:xfrm>
          <a:prstGeom prst="rect">
            <a:avLst/>
          </a:prstGeom>
          <a:noFill/>
          <a:ln/>
        </p:spPr>
        <p:txBody>
          <a:bodyPr wrap="square" lIns="0" tIns="0" rIns="0" bIns="0" rtlCol="0" anchor="ctr"/>
          <a:lstStyle/>
          <a:p>
            <a:pPr indent="0" marL="0">
              <a:lnSpc>
                <a:spcPct val="125000"/>
              </a:lnSpc>
              <a:buNone/>
            </a:pPr>
            <a:r>
              <a:rPr lang="en-US" sz="1200" dirty="0">
                <a:solidFill>
                  <a:srgbClr val="5A6B70"/>
                </a:solidFill>
                <a:latin typeface="Calibri" pitchFamily="34" charset="0"/>
                <a:ea typeface="Calibri" pitchFamily="34" charset="-122"/>
                <a:cs typeface="Calibri" pitchFamily="34" charset="-120"/>
              </a:rPr>
              <a:t>INT-05</a:t>
            </a:r>
            <a:endParaRPr lang="en-US" sz="1200" dirty="0"/>
          </a:p>
        </p:txBody>
      </p:sp>
      <p:sp>
        <p:nvSpPr>
          <p:cNvPr id="16" name="Shape 14"/>
          <p:cNvSpPr/>
          <p:nvPr/>
        </p:nvSpPr>
        <p:spPr>
          <a:xfrm>
            <a:off x="640080" y="2505456"/>
            <a:ext cx="7589520" cy="393192"/>
          </a:xfrm>
          <a:prstGeom prst="roundRect">
            <a:avLst>
              <a:gd name="adj" fmla="val 13953"/>
            </a:avLst>
          </a:prstGeom>
          <a:solidFill>
            <a:srgbClr val="FFFFFF"/>
          </a:solidFill>
          <a:ln w="12700">
            <a:solidFill>
              <a:srgbClr val="FFFFFF"/>
            </a:solidFill>
            <a:prstDash val="solid"/>
          </a:ln>
        </p:spPr>
      </p:sp>
      <p:sp>
        <p:nvSpPr>
          <p:cNvPr id="17" name="Text 15"/>
          <p:cNvSpPr txBox="1"/>
          <p:nvPr/>
        </p:nvSpPr>
        <p:spPr>
          <a:xfrm>
            <a:off x="822960" y="2587752"/>
            <a:ext cx="822960" cy="237744"/>
          </a:xfrm>
          <a:prstGeom prst="rect">
            <a:avLst/>
          </a:prstGeom>
          <a:noFill/>
          <a:ln/>
        </p:spPr>
        <p:txBody>
          <a:bodyPr wrap="square" lIns="0" tIns="0" rIns="0" bIns="0" rtlCol="0" anchor="ctr"/>
          <a:lstStyle/>
          <a:p>
            <a:pPr indent="0" marL="0">
              <a:lnSpc>
                <a:spcPct val="125000"/>
              </a:lnSpc>
              <a:buNone/>
            </a:pPr>
            <a:r>
              <a:rPr lang="en-US" sz="1150" b="1" dirty="0">
                <a:solidFill>
                  <a:srgbClr val="5A6B70"/>
                </a:solidFill>
                <a:latin typeface="Calibri" pitchFamily="34" charset="0"/>
                <a:ea typeface="Calibri" pitchFamily="34" charset="-122"/>
                <a:cs typeface="Calibri" pitchFamily="34" charset="-120"/>
              </a:rPr>
              <a:t>SIS</a:t>
            </a:r>
            <a:endParaRPr lang="en-US" sz="1150" dirty="0"/>
          </a:p>
        </p:txBody>
      </p:sp>
      <p:sp>
        <p:nvSpPr>
          <p:cNvPr id="18" name="Text 16"/>
          <p:cNvSpPr txBox="1"/>
          <p:nvPr/>
        </p:nvSpPr>
        <p:spPr>
          <a:xfrm>
            <a:off x="1783080" y="2587752"/>
            <a:ext cx="2651760" cy="237744"/>
          </a:xfrm>
          <a:prstGeom prst="rect">
            <a:avLst/>
          </a:prstGeom>
          <a:noFill/>
          <a:ln/>
        </p:spPr>
        <p:txBody>
          <a:bodyPr wrap="square" lIns="0" tIns="0" rIns="0" bIns="0" rtlCol="0" anchor="ctr"/>
          <a:lstStyle/>
          <a:p>
            <a:pPr indent="0" marL="0">
              <a:lnSpc>
                <a:spcPct val="125000"/>
              </a:lnSpc>
              <a:buNone/>
            </a:pPr>
            <a:r>
              <a:rPr lang="en-US" sz="1250" dirty="0">
                <a:solidFill>
                  <a:srgbClr val="0B2027"/>
                </a:solidFill>
                <a:latin typeface="Calibri" pitchFamily="34" charset="0"/>
                <a:ea typeface="Calibri" pitchFamily="34" charset="-122"/>
                <a:cs typeface="Calibri" pitchFamily="34" charset="-120"/>
              </a:rPr>
              <a:t>section.created</a:t>
            </a:r>
            <a:endParaRPr lang="en-US" sz="1250" dirty="0"/>
          </a:p>
        </p:txBody>
      </p:sp>
      <p:sp>
        <p:nvSpPr>
          <p:cNvPr id="19" name="Text 17"/>
          <p:cNvSpPr txBox="1"/>
          <p:nvPr/>
        </p:nvSpPr>
        <p:spPr>
          <a:xfrm>
            <a:off x="4572000" y="2587752"/>
            <a:ext cx="548640" cy="237744"/>
          </a:xfrm>
          <a:prstGeom prst="rect">
            <a:avLst/>
          </a:prstGeom>
          <a:noFill/>
          <a:ln/>
        </p:spPr>
        <p:txBody>
          <a:bodyPr wrap="square" lIns="0" tIns="0" rIns="0" bIns="0" rtlCol="0" anchor="ctr"/>
          <a:lstStyle/>
          <a:p>
            <a:pPr algn="r" indent="0" marL="0">
              <a:lnSpc>
                <a:spcPct val="125000"/>
              </a:lnSpc>
              <a:buNone/>
            </a:pPr>
            <a:r>
              <a:rPr lang="en-US" sz="1250" b="1" dirty="0">
                <a:solidFill>
                  <a:srgbClr val="0B2027"/>
                </a:solidFill>
                <a:latin typeface="Calibri" pitchFamily="34" charset="0"/>
                <a:ea typeface="Calibri" pitchFamily="34" charset="-122"/>
                <a:cs typeface="Calibri" pitchFamily="34" charset="-120"/>
              </a:rPr>
              <a:t>2</a:t>
            </a:r>
            <a:endParaRPr lang="en-US" sz="1250" dirty="0"/>
          </a:p>
        </p:txBody>
      </p:sp>
      <p:sp>
        <p:nvSpPr>
          <p:cNvPr id="20" name="Text 18"/>
          <p:cNvSpPr txBox="1"/>
          <p:nvPr/>
        </p:nvSpPr>
        <p:spPr>
          <a:xfrm>
            <a:off x="5486400" y="2587752"/>
            <a:ext cx="2651760" cy="237744"/>
          </a:xfrm>
          <a:prstGeom prst="rect">
            <a:avLst/>
          </a:prstGeom>
          <a:noFill/>
          <a:ln/>
        </p:spPr>
        <p:txBody>
          <a:bodyPr wrap="square" lIns="0" tIns="0" rIns="0" bIns="0" rtlCol="0" anchor="ctr"/>
          <a:lstStyle/>
          <a:p>
            <a:pPr indent="0" marL="0">
              <a:lnSpc>
                <a:spcPct val="125000"/>
              </a:lnSpc>
              <a:buNone/>
            </a:pPr>
            <a:r>
              <a:rPr lang="en-US" sz="1200" dirty="0">
                <a:solidFill>
                  <a:srgbClr val="5A6B70"/>
                </a:solidFill>
                <a:latin typeface="Calibri" pitchFamily="34" charset="0"/>
                <a:ea typeface="Calibri" pitchFamily="34" charset="-122"/>
                <a:cs typeface="Calibri" pitchFamily="34" charset="-120"/>
              </a:rPr>
              <a:t>INT-02</a:t>
            </a:r>
            <a:endParaRPr lang="en-US" sz="1200" dirty="0"/>
          </a:p>
        </p:txBody>
      </p:sp>
      <p:sp>
        <p:nvSpPr>
          <p:cNvPr id="21" name="Shape 19"/>
          <p:cNvSpPr/>
          <p:nvPr/>
        </p:nvSpPr>
        <p:spPr>
          <a:xfrm>
            <a:off x="640080" y="2980944"/>
            <a:ext cx="7589520" cy="393192"/>
          </a:xfrm>
          <a:prstGeom prst="roundRect">
            <a:avLst>
              <a:gd name="adj" fmla="val 13953"/>
            </a:avLst>
          </a:prstGeom>
          <a:solidFill>
            <a:srgbClr val="F2F6F6"/>
          </a:solidFill>
          <a:ln w="12700">
            <a:solidFill>
              <a:srgbClr val="F2F6F6"/>
            </a:solidFill>
            <a:prstDash val="solid"/>
          </a:ln>
        </p:spPr>
      </p:sp>
      <p:sp>
        <p:nvSpPr>
          <p:cNvPr id="22" name="Text 20"/>
          <p:cNvSpPr txBox="1"/>
          <p:nvPr/>
        </p:nvSpPr>
        <p:spPr>
          <a:xfrm>
            <a:off x="822960" y="3063240"/>
            <a:ext cx="822960" cy="237744"/>
          </a:xfrm>
          <a:prstGeom prst="rect">
            <a:avLst/>
          </a:prstGeom>
          <a:noFill/>
          <a:ln/>
        </p:spPr>
        <p:txBody>
          <a:bodyPr wrap="square" lIns="0" tIns="0" rIns="0" bIns="0" rtlCol="0" anchor="ctr"/>
          <a:lstStyle/>
          <a:p>
            <a:pPr indent="0" marL="0">
              <a:lnSpc>
                <a:spcPct val="125000"/>
              </a:lnSpc>
              <a:buNone/>
            </a:pPr>
            <a:r>
              <a:rPr lang="en-US" sz="1150" b="1" dirty="0">
                <a:solidFill>
                  <a:srgbClr val="5A6B70"/>
                </a:solidFill>
                <a:latin typeface="Calibri" pitchFamily="34" charset="0"/>
                <a:ea typeface="Calibri" pitchFamily="34" charset="-122"/>
                <a:cs typeface="Calibri" pitchFamily="34" charset="-120"/>
              </a:rPr>
              <a:t>SIS</a:t>
            </a:r>
            <a:endParaRPr lang="en-US" sz="1150" dirty="0"/>
          </a:p>
        </p:txBody>
      </p:sp>
      <p:sp>
        <p:nvSpPr>
          <p:cNvPr id="23" name="Text 21"/>
          <p:cNvSpPr txBox="1"/>
          <p:nvPr/>
        </p:nvSpPr>
        <p:spPr>
          <a:xfrm>
            <a:off x="1783080" y="3063240"/>
            <a:ext cx="2651760" cy="237744"/>
          </a:xfrm>
          <a:prstGeom prst="rect">
            <a:avLst/>
          </a:prstGeom>
          <a:noFill/>
          <a:ln/>
        </p:spPr>
        <p:txBody>
          <a:bodyPr wrap="square" lIns="0" tIns="0" rIns="0" bIns="0" rtlCol="0" anchor="ctr"/>
          <a:lstStyle/>
          <a:p>
            <a:pPr indent="0" marL="0">
              <a:lnSpc>
                <a:spcPct val="125000"/>
              </a:lnSpc>
              <a:buNone/>
            </a:pPr>
            <a:r>
              <a:rPr lang="en-US" sz="1250" dirty="0">
                <a:solidFill>
                  <a:srgbClr val="0B2027"/>
                </a:solidFill>
                <a:latin typeface="Calibri" pitchFamily="34" charset="0"/>
                <a:ea typeface="Calibri" pitchFamily="34" charset="-122"/>
                <a:cs typeface="Calibri" pitchFamily="34" charset="-120"/>
              </a:rPr>
              <a:t>section.updated</a:t>
            </a:r>
            <a:endParaRPr lang="en-US" sz="1250" dirty="0"/>
          </a:p>
        </p:txBody>
      </p:sp>
      <p:sp>
        <p:nvSpPr>
          <p:cNvPr id="24" name="Text 22"/>
          <p:cNvSpPr txBox="1"/>
          <p:nvPr/>
        </p:nvSpPr>
        <p:spPr>
          <a:xfrm>
            <a:off x="4572000" y="3063240"/>
            <a:ext cx="548640" cy="237744"/>
          </a:xfrm>
          <a:prstGeom prst="rect">
            <a:avLst/>
          </a:prstGeom>
          <a:noFill/>
          <a:ln/>
        </p:spPr>
        <p:txBody>
          <a:bodyPr wrap="square" lIns="0" tIns="0" rIns="0" bIns="0" rtlCol="0" anchor="ctr"/>
          <a:lstStyle/>
          <a:p>
            <a:pPr algn="r" indent="0" marL="0">
              <a:lnSpc>
                <a:spcPct val="125000"/>
              </a:lnSpc>
              <a:buNone/>
            </a:pPr>
            <a:r>
              <a:rPr lang="en-US" sz="1250" b="1" dirty="0">
                <a:solidFill>
                  <a:srgbClr val="0B2027"/>
                </a:solidFill>
                <a:latin typeface="Calibri" pitchFamily="34" charset="0"/>
                <a:ea typeface="Calibri" pitchFamily="34" charset="-122"/>
                <a:cs typeface="Calibri" pitchFamily="34" charset="-120"/>
              </a:rPr>
              <a:t>2</a:t>
            </a:r>
            <a:endParaRPr lang="en-US" sz="1250" dirty="0"/>
          </a:p>
        </p:txBody>
      </p:sp>
      <p:sp>
        <p:nvSpPr>
          <p:cNvPr id="25" name="Text 23"/>
          <p:cNvSpPr txBox="1"/>
          <p:nvPr/>
        </p:nvSpPr>
        <p:spPr>
          <a:xfrm>
            <a:off x="5486400" y="3063240"/>
            <a:ext cx="2651760" cy="237744"/>
          </a:xfrm>
          <a:prstGeom prst="rect">
            <a:avLst/>
          </a:prstGeom>
          <a:noFill/>
          <a:ln/>
        </p:spPr>
        <p:txBody>
          <a:bodyPr wrap="square" lIns="0" tIns="0" rIns="0" bIns="0" rtlCol="0" anchor="ctr"/>
          <a:lstStyle/>
          <a:p>
            <a:pPr indent="0" marL="0">
              <a:lnSpc>
                <a:spcPct val="125000"/>
              </a:lnSpc>
              <a:buNone/>
            </a:pPr>
            <a:r>
              <a:rPr lang="en-US" sz="1200" dirty="0">
                <a:solidFill>
                  <a:srgbClr val="5A6B70"/>
                </a:solidFill>
                <a:latin typeface="Calibri" pitchFamily="34" charset="0"/>
                <a:ea typeface="Calibri" pitchFamily="34" charset="-122"/>
                <a:cs typeface="Calibri" pitchFamily="34" charset="-120"/>
              </a:rPr>
              <a:t>INT-07</a:t>
            </a:r>
            <a:endParaRPr lang="en-US" sz="1200" dirty="0"/>
          </a:p>
        </p:txBody>
      </p:sp>
      <p:sp>
        <p:nvSpPr>
          <p:cNvPr id="26" name="Shape 24"/>
          <p:cNvSpPr/>
          <p:nvPr/>
        </p:nvSpPr>
        <p:spPr>
          <a:xfrm>
            <a:off x="640080" y="3456432"/>
            <a:ext cx="7589520" cy="393192"/>
          </a:xfrm>
          <a:prstGeom prst="roundRect">
            <a:avLst>
              <a:gd name="adj" fmla="val 13953"/>
            </a:avLst>
          </a:prstGeom>
          <a:solidFill>
            <a:srgbClr val="FFFFFF"/>
          </a:solidFill>
          <a:ln w="12700">
            <a:solidFill>
              <a:srgbClr val="FFFFFF"/>
            </a:solidFill>
            <a:prstDash val="solid"/>
          </a:ln>
        </p:spPr>
      </p:sp>
      <p:sp>
        <p:nvSpPr>
          <p:cNvPr id="27" name="Text 25"/>
          <p:cNvSpPr txBox="1"/>
          <p:nvPr/>
        </p:nvSpPr>
        <p:spPr>
          <a:xfrm>
            <a:off x="822960" y="3538728"/>
            <a:ext cx="822960" cy="237744"/>
          </a:xfrm>
          <a:prstGeom prst="rect">
            <a:avLst/>
          </a:prstGeom>
          <a:noFill/>
          <a:ln/>
        </p:spPr>
        <p:txBody>
          <a:bodyPr wrap="square" lIns="0" tIns="0" rIns="0" bIns="0" rtlCol="0" anchor="ctr"/>
          <a:lstStyle/>
          <a:p>
            <a:pPr indent="0" marL="0">
              <a:lnSpc>
                <a:spcPct val="125000"/>
              </a:lnSpc>
              <a:buNone/>
            </a:pPr>
            <a:r>
              <a:rPr lang="en-US" sz="1150" b="1" dirty="0">
                <a:solidFill>
                  <a:srgbClr val="5A6B70"/>
                </a:solidFill>
                <a:latin typeface="Calibri" pitchFamily="34" charset="0"/>
                <a:ea typeface="Calibri" pitchFamily="34" charset="-122"/>
                <a:cs typeface="Calibri" pitchFamily="34" charset="-120"/>
              </a:rPr>
              <a:t>SIS</a:t>
            </a:r>
            <a:endParaRPr lang="en-US" sz="1150" dirty="0"/>
          </a:p>
        </p:txBody>
      </p:sp>
      <p:sp>
        <p:nvSpPr>
          <p:cNvPr id="28" name="Text 26"/>
          <p:cNvSpPr txBox="1"/>
          <p:nvPr/>
        </p:nvSpPr>
        <p:spPr>
          <a:xfrm>
            <a:off x="1783080" y="3538728"/>
            <a:ext cx="2651760" cy="237744"/>
          </a:xfrm>
          <a:prstGeom prst="rect">
            <a:avLst/>
          </a:prstGeom>
          <a:noFill/>
          <a:ln/>
        </p:spPr>
        <p:txBody>
          <a:bodyPr wrap="square" lIns="0" tIns="0" rIns="0" bIns="0" rtlCol="0" anchor="ctr"/>
          <a:lstStyle/>
          <a:p>
            <a:pPr indent="0" marL="0">
              <a:lnSpc>
                <a:spcPct val="125000"/>
              </a:lnSpc>
              <a:buNone/>
            </a:pPr>
            <a:r>
              <a:rPr lang="en-US" sz="1250" dirty="0">
                <a:solidFill>
                  <a:srgbClr val="0B2027"/>
                </a:solidFill>
                <a:latin typeface="Calibri" pitchFamily="34" charset="0"/>
                <a:ea typeface="Calibri" pitchFamily="34" charset="-122"/>
                <a:cs typeface="Calibri" pitchFamily="34" charset="-120"/>
              </a:rPr>
              <a:t>enrollment.created</a:t>
            </a:r>
            <a:endParaRPr lang="en-US" sz="1250" dirty="0"/>
          </a:p>
        </p:txBody>
      </p:sp>
      <p:sp>
        <p:nvSpPr>
          <p:cNvPr id="29" name="Text 27"/>
          <p:cNvSpPr txBox="1"/>
          <p:nvPr/>
        </p:nvSpPr>
        <p:spPr>
          <a:xfrm>
            <a:off x="4572000" y="3538728"/>
            <a:ext cx="548640" cy="237744"/>
          </a:xfrm>
          <a:prstGeom prst="rect">
            <a:avLst/>
          </a:prstGeom>
          <a:noFill/>
          <a:ln/>
        </p:spPr>
        <p:txBody>
          <a:bodyPr wrap="square" lIns="0" tIns="0" rIns="0" bIns="0" rtlCol="0" anchor="ctr"/>
          <a:lstStyle/>
          <a:p>
            <a:pPr algn="r" indent="0" marL="0">
              <a:lnSpc>
                <a:spcPct val="125000"/>
              </a:lnSpc>
              <a:buNone/>
            </a:pPr>
            <a:r>
              <a:rPr lang="en-US" sz="1250" b="1" dirty="0">
                <a:solidFill>
                  <a:srgbClr val="0B2027"/>
                </a:solidFill>
                <a:latin typeface="Calibri" pitchFamily="34" charset="0"/>
                <a:ea typeface="Calibri" pitchFamily="34" charset="-122"/>
                <a:cs typeface="Calibri" pitchFamily="34" charset="-120"/>
              </a:rPr>
              <a:t>4</a:t>
            </a:r>
            <a:endParaRPr lang="en-US" sz="1250" dirty="0"/>
          </a:p>
        </p:txBody>
      </p:sp>
      <p:sp>
        <p:nvSpPr>
          <p:cNvPr id="30" name="Text 28"/>
          <p:cNvSpPr txBox="1"/>
          <p:nvPr/>
        </p:nvSpPr>
        <p:spPr>
          <a:xfrm>
            <a:off x="5486400" y="3538728"/>
            <a:ext cx="2651760" cy="237744"/>
          </a:xfrm>
          <a:prstGeom prst="rect">
            <a:avLst/>
          </a:prstGeom>
          <a:noFill/>
          <a:ln/>
        </p:spPr>
        <p:txBody>
          <a:bodyPr wrap="square" lIns="0" tIns="0" rIns="0" bIns="0" rtlCol="0" anchor="ctr"/>
          <a:lstStyle/>
          <a:p>
            <a:pPr indent="0" marL="0">
              <a:lnSpc>
                <a:spcPct val="125000"/>
              </a:lnSpc>
              <a:buNone/>
            </a:pPr>
            <a:r>
              <a:rPr lang="en-US" sz="1200" dirty="0">
                <a:solidFill>
                  <a:srgbClr val="5A6B70"/>
                </a:solidFill>
                <a:latin typeface="Calibri" pitchFamily="34" charset="0"/>
                <a:ea typeface="Calibri" pitchFamily="34" charset="-122"/>
                <a:cs typeface="Calibri" pitchFamily="34" charset="-120"/>
              </a:rPr>
              <a:t>INT-03</a:t>
            </a:r>
            <a:endParaRPr lang="en-US" sz="1200" dirty="0"/>
          </a:p>
        </p:txBody>
      </p:sp>
      <p:sp>
        <p:nvSpPr>
          <p:cNvPr id="31" name="Shape 29"/>
          <p:cNvSpPr/>
          <p:nvPr/>
        </p:nvSpPr>
        <p:spPr>
          <a:xfrm>
            <a:off x="640080" y="3931920"/>
            <a:ext cx="7589520" cy="393192"/>
          </a:xfrm>
          <a:prstGeom prst="roundRect">
            <a:avLst>
              <a:gd name="adj" fmla="val 13953"/>
            </a:avLst>
          </a:prstGeom>
          <a:solidFill>
            <a:srgbClr val="F2F6F6"/>
          </a:solidFill>
          <a:ln w="12700">
            <a:solidFill>
              <a:srgbClr val="F2F6F6"/>
            </a:solidFill>
            <a:prstDash val="solid"/>
          </a:ln>
        </p:spPr>
      </p:sp>
      <p:sp>
        <p:nvSpPr>
          <p:cNvPr id="32" name="Text 30"/>
          <p:cNvSpPr txBox="1"/>
          <p:nvPr/>
        </p:nvSpPr>
        <p:spPr>
          <a:xfrm>
            <a:off x="822960" y="4014216"/>
            <a:ext cx="822960" cy="237744"/>
          </a:xfrm>
          <a:prstGeom prst="rect">
            <a:avLst/>
          </a:prstGeom>
          <a:noFill/>
          <a:ln/>
        </p:spPr>
        <p:txBody>
          <a:bodyPr wrap="square" lIns="0" tIns="0" rIns="0" bIns="0" rtlCol="0" anchor="ctr"/>
          <a:lstStyle/>
          <a:p>
            <a:pPr indent="0" marL="0">
              <a:lnSpc>
                <a:spcPct val="125000"/>
              </a:lnSpc>
              <a:buNone/>
            </a:pPr>
            <a:r>
              <a:rPr lang="en-US" sz="1150" b="1" dirty="0">
                <a:solidFill>
                  <a:srgbClr val="5A6B70"/>
                </a:solidFill>
                <a:latin typeface="Calibri" pitchFamily="34" charset="0"/>
                <a:ea typeface="Calibri" pitchFamily="34" charset="-122"/>
                <a:cs typeface="Calibri" pitchFamily="34" charset="-120"/>
              </a:rPr>
              <a:t>SIS</a:t>
            </a:r>
            <a:endParaRPr lang="en-US" sz="1150" dirty="0"/>
          </a:p>
        </p:txBody>
      </p:sp>
      <p:sp>
        <p:nvSpPr>
          <p:cNvPr id="33" name="Text 31"/>
          <p:cNvSpPr txBox="1"/>
          <p:nvPr/>
        </p:nvSpPr>
        <p:spPr>
          <a:xfrm>
            <a:off x="1783080" y="4014216"/>
            <a:ext cx="2651760" cy="237744"/>
          </a:xfrm>
          <a:prstGeom prst="rect">
            <a:avLst/>
          </a:prstGeom>
          <a:noFill/>
          <a:ln/>
        </p:spPr>
        <p:txBody>
          <a:bodyPr wrap="square" lIns="0" tIns="0" rIns="0" bIns="0" rtlCol="0" anchor="ctr"/>
          <a:lstStyle/>
          <a:p>
            <a:pPr indent="0" marL="0">
              <a:lnSpc>
                <a:spcPct val="125000"/>
              </a:lnSpc>
              <a:buNone/>
            </a:pPr>
            <a:r>
              <a:rPr lang="en-US" sz="1250" dirty="0">
                <a:solidFill>
                  <a:srgbClr val="0B2027"/>
                </a:solidFill>
                <a:latin typeface="Calibri" pitchFamily="34" charset="0"/>
                <a:ea typeface="Calibri" pitchFamily="34" charset="-122"/>
                <a:cs typeface="Calibri" pitchFamily="34" charset="-120"/>
              </a:rPr>
              <a:t>enrollment.dropped</a:t>
            </a:r>
            <a:endParaRPr lang="en-US" sz="1250" dirty="0"/>
          </a:p>
        </p:txBody>
      </p:sp>
      <p:sp>
        <p:nvSpPr>
          <p:cNvPr id="34" name="Text 32"/>
          <p:cNvSpPr txBox="1"/>
          <p:nvPr/>
        </p:nvSpPr>
        <p:spPr>
          <a:xfrm>
            <a:off x="4572000" y="4014216"/>
            <a:ext cx="548640" cy="237744"/>
          </a:xfrm>
          <a:prstGeom prst="rect">
            <a:avLst/>
          </a:prstGeom>
          <a:noFill/>
          <a:ln/>
        </p:spPr>
        <p:txBody>
          <a:bodyPr wrap="square" lIns="0" tIns="0" rIns="0" bIns="0" rtlCol="0" anchor="ctr"/>
          <a:lstStyle/>
          <a:p>
            <a:pPr algn="r" indent="0" marL="0">
              <a:lnSpc>
                <a:spcPct val="125000"/>
              </a:lnSpc>
              <a:buNone/>
            </a:pPr>
            <a:r>
              <a:rPr lang="en-US" sz="1250" b="1" dirty="0">
                <a:solidFill>
                  <a:srgbClr val="0B2027"/>
                </a:solidFill>
                <a:latin typeface="Calibri" pitchFamily="34" charset="0"/>
                <a:ea typeface="Calibri" pitchFamily="34" charset="-122"/>
                <a:cs typeface="Calibri" pitchFamily="34" charset="-120"/>
              </a:rPr>
              <a:t>2</a:t>
            </a:r>
            <a:endParaRPr lang="en-US" sz="1250" dirty="0"/>
          </a:p>
        </p:txBody>
      </p:sp>
      <p:sp>
        <p:nvSpPr>
          <p:cNvPr id="35" name="Text 33"/>
          <p:cNvSpPr txBox="1"/>
          <p:nvPr/>
        </p:nvSpPr>
        <p:spPr>
          <a:xfrm>
            <a:off x="5486400" y="4014216"/>
            <a:ext cx="2651760" cy="237744"/>
          </a:xfrm>
          <a:prstGeom prst="rect">
            <a:avLst/>
          </a:prstGeom>
          <a:noFill/>
          <a:ln/>
        </p:spPr>
        <p:txBody>
          <a:bodyPr wrap="square" lIns="0" tIns="0" rIns="0" bIns="0" rtlCol="0" anchor="ctr"/>
          <a:lstStyle/>
          <a:p>
            <a:pPr indent="0" marL="0">
              <a:lnSpc>
                <a:spcPct val="125000"/>
              </a:lnSpc>
              <a:buNone/>
            </a:pPr>
            <a:r>
              <a:rPr lang="en-US" sz="1200" dirty="0">
                <a:solidFill>
                  <a:srgbClr val="5A6B70"/>
                </a:solidFill>
                <a:latin typeface="Calibri" pitchFamily="34" charset="0"/>
                <a:ea typeface="Calibri" pitchFamily="34" charset="-122"/>
                <a:cs typeface="Calibri" pitchFamily="34" charset="-120"/>
              </a:rPr>
              <a:t>INT-04</a:t>
            </a:r>
            <a:endParaRPr lang="en-US" sz="1200" dirty="0"/>
          </a:p>
        </p:txBody>
      </p:sp>
      <p:sp>
        <p:nvSpPr>
          <p:cNvPr id="36" name="Shape 34"/>
          <p:cNvSpPr/>
          <p:nvPr/>
        </p:nvSpPr>
        <p:spPr>
          <a:xfrm>
            <a:off x="640080" y="4407408"/>
            <a:ext cx="7589520" cy="393192"/>
          </a:xfrm>
          <a:prstGeom prst="roundRect">
            <a:avLst>
              <a:gd name="adj" fmla="val 13953"/>
            </a:avLst>
          </a:prstGeom>
          <a:solidFill>
            <a:srgbClr val="E7F5F2"/>
          </a:solidFill>
          <a:ln w="12700">
            <a:solidFill>
              <a:srgbClr val="E7F5F2"/>
            </a:solidFill>
            <a:prstDash val="solid"/>
          </a:ln>
        </p:spPr>
      </p:sp>
      <p:sp>
        <p:nvSpPr>
          <p:cNvPr id="37" name="Text 35"/>
          <p:cNvSpPr txBox="1"/>
          <p:nvPr/>
        </p:nvSpPr>
        <p:spPr>
          <a:xfrm>
            <a:off x="822960" y="4489704"/>
            <a:ext cx="822960" cy="237744"/>
          </a:xfrm>
          <a:prstGeom prst="rect">
            <a:avLst/>
          </a:prstGeom>
          <a:noFill/>
          <a:ln/>
        </p:spPr>
        <p:txBody>
          <a:bodyPr wrap="square" lIns="0" tIns="0" rIns="0" bIns="0" rtlCol="0" anchor="ctr"/>
          <a:lstStyle/>
          <a:p>
            <a:pPr indent="0" marL="0">
              <a:lnSpc>
                <a:spcPct val="125000"/>
              </a:lnSpc>
              <a:buNone/>
            </a:pPr>
            <a:r>
              <a:rPr lang="en-US" sz="1150" b="1" dirty="0">
                <a:solidFill>
                  <a:srgbClr val="028090"/>
                </a:solidFill>
                <a:latin typeface="Calibri" pitchFamily="34" charset="0"/>
                <a:ea typeface="Calibri" pitchFamily="34" charset="-122"/>
                <a:cs typeface="Calibri" pitchFamily="34" charset="-120"/>
              </a:rPr>
              <a:t>LMS</a:t>
            </a:r>
            <a:endParaRPr lang="en-US" sz="1150" dirty="0"/>
          </a:p>
        </p:txBody>
      </p:sp>
      <p:sp>
        <p:nvSpPr>
          <p:cNvPr id="38" name="Text 36"/>
          <p:cNvSpPr txBox="1"/>
          <p:nvPr/>
        </p:nvSpPr>
        <p:spPr>
          <a:xfrm>
            <a:off x="1783080" y="4489704"/>
            <a:ext cx="2651760" cy="237744"/>
          </a:xfrm>
          <a:prstGeom prst="rect">
            <a:avLst/>
          </a:prstGeom>
          <a:noFill/>
          <a:ln/>
        </p:spPr>
        <p:txBody>
          <a:bodyPr wrap="square" lIns="0" tIns="0" rIns="0" bIns="0" rtlCol="0" anchor="ctr"/>
          <a:lstStyle/>
          <a:p>
            <a:pPr indent="0" marL="0">
              <a:lnSpc>
                <a:spcPct val="125000"/>
              </a:lnSpc>
              <a:buNone/>
            </a:pPr>
            <a:r>
              <a:rPr lang="en-US" sz="1250" dirty="0">
                <a:solidFill>
                  <a:srgbClr val="0B2027"/>
                </a:solidFill>
                <a:latin typeface="Calibri" pitchFamily="34" charset="0"/>
                <a:ea typeface="Calibri" pitchFamily="34" charset="-122"/>
                <a:cs typeface="Calibri" pitchFamily="34" charset="-120"/>
              </a:rPr>
              <a:t>grade.published</a:t>
            </a:r>
            <a:endParaRPr lang="en-US" sz="1250" dirty="0"/>
          </a:p>
        </p:txBody>
      </p:sp>
      <p:sp>
        <p:nvSpPr>
          <p:cNvPr id="39" name="Text 37"/>
          <p:cNvSpPr txBox="1"/>
          <p:nvPr/>
        </p:nvSpPr>
        <p:spPr>
          <a:xfrm>
            <a:off x="4572000" y="4489704"/>
            <a:ext cx="548640" cy="237744"/>
          </a:xfrm>
          <a:prstGeom prst="rect">
            <a:avLst/>
          </a:prstGeom>
          <a:noFill/>
          <a:ln/>
        </p:spPr>
        <p:txBody>
          <a:bodyPr wrap="square" lIns="0" tIns="0" rIns="0" bIns="0" rtlCol="0" anchor="ctr"/>
          <a:lstStyle/>
          <a:p>
            <a:pPr algn="r" indent="0" marL="0">
              <a:lnSpc>
                <a:spcPct val="125000"/>
              </a:lnSpc>
              <a:buNone/>
            </a:pPr>
            <a:r>
              <a:rPr lang="en-US" sz="1250" b="1" dirty="0">
                <a:solidFill>
                  <a:srgbClr val="0B2027"/>
                </a:solidFill>
                <a:latin typeface="Calibri" pitchFamily="34" charset="0"/>
                <a:ea typeface="Calibri" pitchFamily="34" charset="-122"/>
                <a:cs typeface="Calibri" pitchFamily="34" charset="-120"/>
              </a:rPr>
              <a:t>1</a:t>
            </a:r>
            <a:endParaRPr lang="en-US" sz="1250" dirty="0"/>
          </a:p>
        </p:txBody>
      </p:sp>
      <p:sp>
        <p:nvSpPr>
          <p:cNvPr id="40" name="Text 38"/>
          <p:cNvSpPr txBox="1"/>
          <p:nvPr/>
        </p:nvSpPr>
        <p:spPr>
          <a:xfrm>
            <a:off x="5486400" y="4489704"/>
            <a:ext cx="2651760" cy="237744"/>
          </a:xfrm>
          <a:prstGeom prst="rect">
            <a:avLst/>
          </a:prstGeom>
          <a:noFill/>
          <a:ln/>
        </p:spPr>
        <p:txBody>
          <a:bodyPr wrap="square" lIns="0" tIns="0" rIns="0" bIns="0" rtlCol="0" anchor="ctr"/>
          <a:lstStyle/>
          <a:p>
            <a:pPr indent="0" marL="0">
              <a:lnSpc>
                <a:spcPct val="125000"/>
              </a:lnSpc>
              <a:buNone/>
            </a:pPr>
            <a:r>
              <a:rPr lang="en-US" sz="1200" dirty="0">
                <a:solidFill>
                  <a:srgbClr val="5A6B70"/>
                </a:solidFill>
                <a:latin typeface="Calibri" pitchFamily="34" charset="0"/>
                <a:ea typeface="Calibri" pitchFamily="34" charset="-122"/>
                <a:cs typeface="Calibri" pitchFamily="34" charset="-120"/>
              </a:rPr>
              <a:t>INT-06 — luồng ngược</a:t>
            </a:r>
            <a:endParaRPr lang="en-US" sz="1200" dirty="0"/>
          </a:p>
        </p:txBody>
      </p:sp>
      <p:sp>
        <p:nvSpPr>
          <p:cNvPr id="41" name="Shape 39"/>
          <p:cNvSpPr/>
          <p:nvPr/>
        </p:nvSpPr>
        <p:spPr>
          <a:xfrm>
            <a:off x="640080" y="4882896"/>
            <a:ext cx="7589520" cy="393192"/>
          </a:xfrm>
          <a:prstGeom prst="roundRect">
            <a:avLst>
              <a:gd name="adj" fmla="val 13953"/>
            </a:avLst>
          </a:prstGeom>
          <a:solidFill>
            <a:srgbClr val="E7F5F2"/>
          </a:solidFill>
          <a:ln w="12700">
            <a:solidFill>
              <a:srgbClr val="E7F5F2"/>
            </a:solidFill>
            <a:prstDash val="solid"/>
          </a:ln>
        </p:spPr>
      </p:sp>
      <p:sp>
        <p:nvSpPr>
          <p:cNvPr id="42" name="Text 40"/>
          <p:cNvSpPr txBox="1"/>
          <p:nvPr/>
        </p:nvSpPr>
        <p:spPr>
          <a:xfrm>
            <a:off x="822960" y="4965192"/>
            <a:ext cx="822960" cy="237744"/>
          </a:xfrm>
          <a:prstGeom prst="rect">
            <a:avLst/>
          </a:prstGeom>
          <a:noFill/>
          <a:ln/>
        </p:spPr>
        <p:txBody>
          <a:bodyPr wrap="square" lIns="0" tIns="0" rIns="0" bIns="0" rtlCol="0" anchor="ctr"/>
          <a:lstStyle/>
          <a:p>
            <a:pPr indent="0" marL="0">
              <a:lnSpc>
                <a:spcPct val="125000"/>
              </a:lnSpc>
              <a:buNone/>
            </a:pPr>
            <a:r>
              <a:rPr lang="en-US" sz="1150" b="1" dirty="0">
                <a:solidFill>
                  <a:srgbClr val="028090"/>
                </a:solidFill>
                <a:latin typeface="Calibri" pitchFamily="34" charset="0"/>
                <a:ea typeface="Calibri" pitchFamily="34" charset="-122"/>
                <a:cs typeface="Calibri" pitchFamily="34" charset="-120"/>
              </a:rPr>
              <a:t>LMS</a:t>
            </a:r>
            <a:endParaRPr lang="en-US" sz="1150" dirty="0"/>
          </a:p>
        </p:txBody>
      </p:sp>
      <p:sp>
        <p:nvSpPr>
          <p:cNvPr id="43" name="Text 41"/>
          <p:cNvSpPr txBox="1"/>
          <p:nvPr/>
        </p:nvSpPr>
        <p:spPr>
          <a:xfrm>
            <a:off x="1783080" y="4965192"/>
            <a:ext cx="2651760" cy="237744"/>
          </a:xfrm>
          <a:prstGeom prst="rect">
            <a:avLst/>
          </a:prstGeom>
          <a:noFill/>
          <a:ln/>
        </p:spPr>
        <p:txBody>
          <a:bodyPr wrap="square" lIns="0" tIns="0" rIns="0" bIns="0" rtlCol="0" anchor="ctr"/>
          <a:lstStyle/>
          <a:p>
            <a:pPr indent="0" marL="0">
              <a:lnSpc>
                <a:spcPct val="125000"/>
              </a:lnSpc>
              <a:buNone/>
            </a:pPr>
            <a:r>
              <a:rPr lang="en-US" sz="1250" dirty="0">
                <a:solidFill>
                  <a:srgbClr val="0B2027"/>
                </a:solidFill>
                <a:latin typeface="Calibri" pitchFamily="34" charset="0"/>
                <a:ea typeface="Calibri" pitchFamily="34" charset="-122"/>
                <a:cs typeface="Calibri" pitchFamily="34" charset="-120"/>
              </a:rPr>
              <a:t>learner.at_risk</a:t>
            </a:r>
            <a:endParaRPr lang="en-US" sz="1250" dirty="0"/>
          </a:p>
        </p:txBody>
      </p:sp>
      <p:sp>
        <p:nvSpPr>
          <p:cNvPr id="44" name="Text 42"/>
          <p:cNvSpPr txBox="1"/>
          <p:nvPr/>
        </p:nvSpPr>
        <p:spPr>
          <a:xfrm>
            <a:off x="4572000" y="4965192"/>
            <a:ext cx="548640" cy="237744"/>
          </a:xfrm>
          <a:prstGeom prst="rect">
            <a:avLst/>
          </a:prstGeom>
          <a:noFill/>
          <a:ln/>
        </p:spPr>
        <p:txBody>
          <a:bodyPr wrap="square" lIns="0" tIns="0" rIns="0" bIns="0" rtlCol="0" anchor="ctr"/>
          <a:lstStyle/>
          <a:p>
            <a:pPr algn="r" indent="0" marL="0">
              <a:lnSpc>
                <a:spcPct val="125000"/>
              </a:lnSpc>
              <a:buNone/>
            </a:pPr>
            <a:r>
              <a:rPr lang="en-US" sz="1250" b="1" dirty="0">
                <a:solidFill>
                  <a:srgbClr val="0B2027"/>
                </a:solidFill>
                <a:latin typeface="Calibri" pitchFamily="34" charset="0"/>
                <a:ea typeface="Calibri" pitchFamily="34" charset="-122"/>
                <a:cs typeface="Calibri" pitchFamily="34" charset="-120"/>
              </a:rPr>
              <a:t>1</a:t>
            </a:r>
            <a:endParaRPr lang="en-US" sz="1250" dirty="0"/>
          </a:p>
        </p:txBody>
      </p:sp>
      <p:sp>
        <p:nvSpPr>
          <p:cNvPr id="45" name="Text 43"/>
          <p:cNvSpPr txBox="1"/>
          <p:nvPr/>
        </p:nvSpPr>
        <p:spPr>
          <a:xfrm>
            <a:off x="5486400" y="4965192"/>
            <a:ext cx="2651760" cy="237744"/>
          </a:xfrm>
          <a:prstGeom prst="rect">
            <a:avLst/>
          </a:prstGeom>
          <a:noFill/>
          <a:ln/>
        </p:spPr>
        <p:txBody>
          <a:bodyPr wrap="square" lIns="0" tIns="0" rIns="0" bIns="0" rtlCol="0" anchor="ctr"/>
          <a:lstStyle/>
          <a:p>
            <a:pPr indent="0" marL="0">
              <a:lnSpc>
                <a:spcPct val="125000"/>
              </a:lnSpc>
              <a:buNone/>
            </a:pPr>
            <a:r>
              <a:rPr lang="en-US" sz="1200" dirty="0">
                <a:solidFill>
                  <a:srgbClr val="5A6B70"/>
                </a:solidFill>
                <a:latin typeface="Calibri" pitchFamily="34" charset="0"/>
                <a:ea typeface="Calibri" pitchFamily="34" charset="-122"/>
                <a:cs typeface="Calibri" pitchFamily="34" charset="-120"/>
              </a:rPr>
              <a:t>INT-08 — luồng ngược</a:t>
            </a:r>
            <a:endParaRPr lang="en-US" sz="1200" dirty="0"/>
          </a:p>
        </p:txBody>
      </p:sp>
      <p:sp>
        <p:nvSpPr>
          <p:cNvPr id="46" name="Shape 44"/>
          <p:cNvSpPr/>
          <p:nvPr/>
        </p:nvSpPr>
        <p:spPr>
          <a:xfrm>
            <a:off x="640080" y="5358384"/>
            <a:ext cx="7589520" cy="393192"/>
          </a:xfrm>
          <a:prstGeom prst="roundRect">
            <a:avLst>
              <a:gd name="adj" fmla="val 13953"/>
            </a:avLst>
          </a:prstGeom>
          <a:solidFill>
            <a:srgbClr val="FFFFFF"/>
          </a:solidFill>
          <a:ln w="12700">
            <a:solidFill>
              <a:srgbClr val="FFFFFF"/>
            </a:solidFill>
            <a:prstDash val="solid"/>
          </a:ln>
        </p:spPr>
      </p:sp>
      <p:sp>
        <p:nvSpPr>
          <p:cNvPr id="47" name="Text 45"/>
          <p:cNvSpPr txBox="1"/>
          <p:nvPr/>
        </p:nvSpPr>
        <p:spPr>
          <a:xfrm>
            <a:off x="822960" y="5440680"/>
            <a:ext cx="822960" cy="237744"/>
          </a:xfrm>
          <a:prstGeom prst="rect">
            <a:avLst/>
          </a:prstGeom>
          <a:noFill/>
          <a:ln/>
        </p:spPr>
        <p:txBody>
          <a:bodyPr wrap="square" lIns="0" tIns="0" rIns="0" bIns="0" rtlCol="0" anchor="ctr"/>
          <a:lstStyle/>
          <a:p>
            <a:pPr indent="0" marL="0">
              <a:lnSpc>
                <a:spcPct val="125000"/>
              </a:lnSpc>
              <a:buNone/>
            </a:pPr>
            <a:r>
              <a:rPr lang="en-US" sz="1150" b="1" dirty="0">
                <a:solidFill>
                  <a:srgbClr val="5A6B70"/>
                </a:solidFill>
                <a:latin typeface="Calibri" pitchFamily="34" charset="0"/>
                <a:ea typeface="Calibri" pitchFamily="34" charset="-122"/>
                <a:cs typeface="Calibri" pitchFamily="34" charset="-120"/>
              </a:rPr>
              <a:t>RECON</a:t>
            </a:r>
            <a:endParaRPr lang="en-US" sz="1150" dirty="0"/>
          </a:p>
        </p:txBody>
      </p:sp>
      <p:sp>
        <p:nvSpPr>
          <p:cNvPr id="48" name="Text 46"/>
          <p:cNvSpPr txBox="1"/>
          <p:nvPr/>
        </p:nvSpPr>
        <p:spPr>
          <a:xfrm>
            <a:off x="1783080" y="5440680"/>
            <a:ext cx="2651760" cy="237744"/>
          </a:xfrm>
          <a:prstGeom prst="rect">
            <a:avLst/>
          </a:prstGeom>
          <a:noFill/>
          <a:ln/>
        </p:spPr>
        <p:txBody>
          <a:bodyPr wrap="square" lIns="0" tIns="0" rIns="0" bIns="0" rtlCol="0" anchor="ctr"/>
          <a:lstStyle/>
          <a:p>
            <a:pPr indent="0" marL="0">
              <a:lnSpc>
                <a:spcPct val="125000"/>
              </a:lnSpc>
              <a:buNone/>
            </a:pPr>
            <a:r>
              <a:rPr lang="en-US" sz="1250" dirty="0">
                <a:solidFill>
                  <a:srgbClr val="0B2027"/>
                </a:solidFill>
                <a:latin typeface="Calibri" pitchFamily="34" charset="0"/>
                <a:ea typeface="Calibri" pitchFamily="34" charset="-122"/>
                <a:cs typeface="Calibri" pitchFamily="34" charset="-120"/>
              </a:rPr>
              <a:t>sự kiện tổng hợp</a:t>
            </a:r>
            <a:endParaRPr lang="en-US" sz="1250" dirty="0"/>
          </a:p>
        </p:txBody>
      </p:sp>
      <p:sp>
        <p:nvSpPr>
          <p:cNvPr id="49" name="Text 47"/>
          <p:cNvSpPr txBox="1"/>
          <p:nvPr/>
        </p:nvSpPr>
        <p:spPr>
          <a:xfrm>
            <a:off x="4572000" y="5440680"/>
            <a:ext cx="548640" cy="237744"/>
          </a:xfrm>
          <a:prstGeom prst="rect">
            <a:avLst/>
          </a:prstGeom>
          <a:noFill/>
          <a:ln/>
        </p:spPr>
        <p:txBody>
          <a:bodyPr wrap="square" lIns="0" tIns="0" rIns="0" bIns="0" rtlCol="0" anchor="ctr"/>
          <a:lstStyle/>
          <a:p>
            <a:pPr algn="r" indent="0" marL="0">
              <a:lnSpc>
                <a:spcPct val="125000"/>
              </a:lnSpc>
              <a:buNone/>
            </a:pPr>
            <a:r>
              <a:rPr lang="en-US" sz="1250" b="1" dirty="0">
                <a:solidFill>
                  <a:srgbClr val="0B2027"/>
                </a:solidFill>
                <a:latin typeface="Calibri" pitchFamily="34" charset="0"/>
                <a:ea typeface="Calibri" pitchFamily="34" charset="-122"/>
                <a:cs typeface="Calibri" pitchFamily="34" charset="-120"/>
              </a:rPr>
              <a:t>35</a:t>
            </a:r>
            <a:endParaRPr lang="en-US" sz="1250" dirty="0"/>
          </a:p>
        </p:txBody>
      </p:sp>
      <p:sp>
        <p:nvSpPr>
          <p:cNvPr id="50" name="Text 48"/>
          <p:cNvSpPr txBox="1"/>
          <p:nvPr/>
        </p:nvSpPr>
        <p:spPr>
          <a:xfrm>
            <a:off x="5486400" y="5440680"/>
            <a:ext cx="2651760" cy="237744"/>
          </a:xfrm>
          <a:prstGeom prst="rect">
            <a:avLst/>
          </a:prstGeom>
          <a:noFill/>
          <a:ln/>
        </p:spPr>
        <p:txBody>
          <a:bodyPr wrap="square" lIns="0" tIns="0" rIns="0" bIns="0" rtlCol="0" anchor="ctr"/>
          <a:lstStyle/>
          <a:p>
            <a:pPr indent="0" marL="0">
              <a:lnSpc>
                <a:spcPct val="125000"/>
              </a:lnSpc>
              <a:buNone/>
            </a:pPr>
            <a:r>
              <a:rPr lang="en-US" sz="1200" dirty="0">
                <a:solidFill>
                  <a:srgbClr val="5A6B70"/>
                </a:solidFill>
                <a:latin typeface="Calibri" pitchFamily="34" charset="0"/>
                <a:ea typeface="Calibri" pitchFamily="34" charset="-122"/>
                <a:cs typeface="Calibri" pitchFamily="34" charset="-120"/>
              </a:rPr>
              <a:t>Đối soát</a:t>
            </a:r>
            <a:endParaRPr lang="en-US" sz="1200" dirty="0"/>
          </a:p>
        </p:txBody>
      </p:sp>
      <p:sp>
        <p:nvSpPr>
          <p:cNvPr id="51" name="Shape 49"/>
          <p:cNvSpPr/>
          <p:nvPr/>
        </p:nvSpPr>
        <p:spPr>
          <a:xfrm>
            <a:off x="8595360" y="1554480"/>
            <a:ext cx="2926080" cy="4297680"/>
          </a:xfrm>
          <a:prstGeom prst="roundRect">
            <a:avLst>
              <a:gd name="adj" fmla="val 1875"/>
            </a:avLst>
          </a:prstGeom>
          <a:solidFill>
            <a:srgbClr val="F2F6F6"/>
          </a:solidFill>
          <a:ln w="12700">
            <a:solidFill>
              <a:srgbClr val="F2F6F6"/>
            </a:solidFill>
            <a:prstDash val="solid"/>
          </a:ln>
        </p:spPr>
      </p:sp>
      <p:sp>
        <p:nvSpPr>
          <p:cNvPr id="52" name="Text 50"/>
          <p:cNvSpPr txBox="1"/>
          <p:nvPr/>
        </p:nvSpPr>
        <p:spPr>
          <a:xfrm>
            <a:off x="8869680" y="1828800"/>
            <a:ext cx="2377440" cy="292608"/>
          </a:xfrm>
          <a:prstGeom prst="rect">
            <a:avLst/>
          </a:prstGeom>
          <a:noFill/>
          <a:ln/>
        </p:spPr>
        <p:txBody>
          <a:bodyPr wrap="square" lIns="0" tIns="0" rIns="0" bIns="0" rtlCol="0" anchor="ctr"/>
          <a:lstStyle/>
          <a:p>
            <a:pPr indent="0" marL="0">
              <a:lnSpc>
                <a:spcPct val="125000"/>
              </a:lnSpc>
              <a:buNone/>
            </a:pPr>
            <a:r>
              <a:rPr lang="en-US" sz="1100" b="1" dirty="0">
                <a:solidFill>
                  <a:srgbClr val="028090"/>
                </a:solidFill>
                <a:latin typeface="Calibri" pitchFamily="34" charset="0"/>
                <a:ea typeface="Calibri" pitchFamily="34" charset="-122"/>
                <a:cs typeface="Calibri" pitchFamily="34" charset="-120"/>
              </a:rPr>
              <a:t>PHÂN BỐ HÀNH ĐỘNG</a:t>
            </a:r>
            <a:endParaRPr lang="en-US" sz="1100" dirty="0"/>
          </a:p>
        </p:txBody>
      </p:sp>
      <p:sp>
        <p:nvSpPr>
          <p:cNvPr id="53" name="Text 51"/>
          <p:cNvSpPr txBox="1"/>
          <p:nvPr/>
        </p:nvSpPr>
        <p:spPr>
          <a:xfrm>
            <a:off x="8869680" y="2286000"/>
            <a:ext cx="822960" cy="457200"/>
          </a:xfrm>
          <a:prstGeom prst="rect">
            <a:avLst/>
          </a:prstGeom>
          <a:noFill/>
          <a:ln/>
        </p:spPr>
        <p:txBody>
          <a:bodyPr wrap="square" lIns="0" tIns="0" rIns="0" bIns="0" rtlCol="0" anchor="ctr"/>
          <a:lstStyle/>
          <a:p>
            <a:pPr indent="0" marL="0">
              <a:lnSpc>
                <a:spcPct val="125000"/>
              </a:lnSpc>
              <a:buNone/>
            </a:pPr>
            <a:r>
              <a:rPr lang="en-US" sz="2600" b="1" dirty="0">
                <a:solidFill>
                  <a:srgbClr val="0B2027"/>
                </a:solidFill>
                <a:latin typeface="Cambria" pitchFamily="34" charset="0"/>
                <a:ea typeface="Cambria" pitchFamily="34" charset="-122"/>
                <a:cs typeface="Cambria" pitchFamily="34" charset="-120"/>
              </a:rPr>
              <a:t>34</a:t>
            </a:r>
            <a:endParaRPr lang="en-US" sz="2600" dirty="0"/>
          </a:p>
        </p:txBody>
      </p:sp>
      <p:sp>
        <p:nvSpPr>
          <p:cNvPr id="54" name="Text 52"/>
          <p:cNvSpPr txBox="1"/>
          <p:nvPr/>
        </p:nvSpPr>
        <p:spPr>
          <a:xfrm>
            <a:off x="9784080" y="2414016"/>
            <a:ext cx="1554480" cy="274320"/>
          </a:xfrm>
          <a:prstGeom prst="rect">
            <a:avLst/>
          </a:prstGeom>
          <a:noFill/>
          <a:ln/>
        </p:spPr>
        <p:txBody>
          <a:bodyPr wrap="square" lIns="0" tIns="0" rIns="0" bIns="0" rtlCol="0" anchor="ctr"/>
          <a:lstStyle/>
          <a:p>
            <a:pPr indent="0" marL="0">
              <a:lnSpc>
                <a:spcPct val="125000"/>
              </a:lnSpc>
              <a:buNone/>
            </a:pPr>
            <a:r>
              <a:rPr lang="en-US" sz="1250" dirty="0">
                <a:solidFill>
                  <a:srgbClr val="5A6B70"/>
                </a:solidFill>
                <a:latin typeface="Calibri" pitchFamily="34" charset="0"/>
                <a:ea typeface="Calibri" pitchFamily="34" charset="-122"/>
                <a:cs typeface="Calibri" pitchFamily="34" charset="-120"/>
              </a:rPr>
              <a:t>CREATE</a:t>
            </a:r>
            <a:endParaRPr lang="en-US" sz="1250" dirty="0"/>
          </a:p>
        </p:txBody>
      </p:sp>
      <p:sp>
        <p:nvSpPr>
          <p:cNvPr id="55" name="Text 53"/>
          <p:cNvSpPr txBox="1"/>
          <p:nvPr/>
        </p:nvSpPr>
        <p:spPr>
          <a:xfrm>
            <a:off x="8869680" y="3127248"/>
            <a:ext cx="822960" cy="457200"/>
          </a:xfrm>
          <a:prstGeom prst="rect">
            <a:avLst/>
          </a:prstGeom>
          <a:noFill/>
          <a:ln/>
        </p:spPr>
        <p:txBody>
          <a:bodyPr wrap="square" lIns="0" tIns="0" rIns="0" bIns="0" rtlCol="0" anchor="ctr"/>
          <a:lstStyle/>
          <a:p>
            <a:pPr indent="0" marL="0">
              <a:lnSpc>
                <a:spcPct val="125000"/>
              </a:lnSpc>
              <a:buNone/>
            </a:pPr>
            <a:r>
              <a:rPr lang="en-US" sz="2600" b="1" dirty="0">
                <a:solidFill>
                  <a:srgbClr val="0B2027"/>
                </a:solidFill>
                <a:latin typeface="Cambria" pitchFamily="34" charset="0"/>
                <a:ea typeface="Cambria" pitchFamily="34" charset="-122"/>
                <a:cs typeface="Cambria" pitchFamily="34" charset="-120"/>
              </a:rPr>
              <a:t>16</a:t>
            </a:r>
            <a:endParaRPr lang="en-US" sz="2600" dirty="0"/>
          </a:p>
        </p:txBody>
      </p:sp>
      <p:sp>
        <p:nvSpPr>
          <p:cNvPr id="56" name="Text 54"/>
          <p:cNvSpPr txBox="1"/>
          <p:nvPr/>
        </p:nvSpPr>
        <p:spPr>
          <a:xfrm>
            <a:off x="9784080" y="3255264"/>
            <a:ext cx="1554480" cy="274320"/>
          </a:xfrm>
          <a:prstGeom prst="rect">
            <a:avLst/>
          </a:prstGeom>
          <a:noFill/>
          <a:ln/>
        </p:spPr>
        <p:txBody>
          <a:bodyPr wrap="square" lIns="0" tIns="0" rIns="0" bIns="0" rtlCol="0" anchor="ctr"/>
          <a:lstStyle/>
          <a:p>
            <a:pPr indent="0" marL="0">
              <a:lnSpc>
                <a:spcPct val="125000"/>
              </a:lnSpc>
              <a:buNone/>
            </a:pPr>
            <a:r>
              <a:rPr lang="en-US" sz="1250" dirty="0">
                <a:solidFill>
                  <a:srgbClr val="5A6B70"/>
                </a:solidFill>
                <a:latin typeface="Calibri" pitchFamily="34" charset="0"/>
                <a:ea typeface="Calibri" pitchFamily="34" charset="-122"/>
                <a:cs typeface="Calibri" pitchFamily="34" charset="-120"/>
              </a:rPr>
              <a:t>UPDATE</a:t>
            </a:r>
            <a:endParaRPr lang="en-US" sz="1250" dirty="0"/>
          </a:p>
        </p:txBody>
      </p:sp>
      <p:sp>
        <p:nvSpPr>
          <p:cNvPr id="57" name="Text 55"/>
          <p:cNvSpPr txBox="1"/>
          <p:nvPr/>
        </p:nvSpPr>
        <p:spPr>
          <a:xfrm>
            <a:off x="8869680" y="3968496"/>
            <a:ext cx="822960" cy="457200"/>
          </a:xfrm>
          <a:prstGeom prst="rect">
            <a:avLst/>
          </a:prstGeom>
          <a:noFill/>
          <a:ln/>
        </p:spPr>
        <p:txBody>
          <a:bodyPr wrap="square" lIns="0" tIns="0" rIns="0" bIns="0" rtlCol="0" anchor="ctr"/>
          <a:lstStyle/>
          <a:p>
            <a:pPr indent="0" marL="0">
              <a:lnSpc>
                <a:spcPct val="125000"/>
              </a:lnSpc>
              <a:buNone/>
            </a:pPr>
            <a:r>
              <a:rPr lang="en-US" sz="2600" b="1" dirty="0">
                <a:solidFill>
                  <a:srgbClr val="02C39A"/>
                </a:solidFill>
                <a:latin typeface="Cambria" pitchFamily="34" charset="0"/>
                <a:ea typeface="Cambria" pitchFamily="34" charset="-122"/>
                <a:cs typeface="Cambria" pitchFamily="34" charset="-120"/>
              </a:rPr>
              <a:t>4</a:t>
            </a:r>
            <a:endParaRPr lang="en-US" sz="2600" dirty="0"/>
          </a:p>
        </p:txBody>
      </p:sp>
      <p:sp>
        <p:nvSpPr>
          <p:cNvPr id="58" name="Text 56"/>
          <p:cNvSpPr txBox="1"/>
          <p:nvPr/>
        </p:nvSpPr>
        <p:spPr>
          <a:xfrm>
            <a:off x="9784080" y="4096512"/>
            <a:ext cx="1554480" cy="274320"/>
          </a:xfrm>
          <a:prstGeom prst="rect">
            <a:avLst/>
          </a:prstGeom>
          <a:noFill/>
          <a:ln/>
        </p:spPr>
        <p:txBody>
          <a:bodyPr wrap="square" lIns="0" tIns="0" rIns="0" bIns="0" rtlCol="0" anchor="ctr"/>
          <a:lstStyle/>
          <a:p>
            <a:pPr indent="0" marL="0">
              <a:lnSpc>
                <a:spcPct val="125000"/>
              </a:lnSpc>
              <a:buNone/>
            </a:pPr>
            <a:r>
              <a:rPr lang="en-US" sz="1250" dirty="0">
                <a:solidFill>
                  <a:srgbClr val="5A6B70"/>
                </a:solidFill>
                <a:latin typeface="Calibri" pitchFamily="34" charset="0"/>
                <a:ea typeface="Calibri" pitchFamily="34" charset="-122"/>
                <a:cs typeface="Calibri" pitchFamily="34" charset="-120"/>
              </a:rPr>
              <a:t>NOOP</a:t>
            </a:r>
            <a:endParaRPr lang="en-US" sz="1250" dirty="0"/>
          </a:p>
        </p:txBody>
      </p:sp>
      <p:sp>
        <p:nvSpPr>
          <p:cNvPr id="59" name="Text 57"/>
          <p:cNvSpPr txBox="1"/>
          <p:nvPr/>
        </p:nvSpPr>
        <p:spPr>
          <a:xfrm>
            <a:off x="8869680" y="4809744"/>
            <a:ext cx="822960" cy="457200"/>
          </a:xfrm>
          <a:prstGeom prst="rect">
            <a:avLst/>
          </a:prstGeom>
          <a:noFill/>
          <a:ln/>
        </p:spPr>
        <p:txBody>
          <a:bodyPr wrap="square" lIns="0" tIns="0" rIns="0" bIns="0" rtlCol="0" anchor="ctr"/>
          <a:lstStyle/>
          <a:p>
            <a:pPr indent="0" marL="0">
              <a:lnSpc>
                <a:spcPct val="125000"/>
              </a:lnSpc>
              <a:buNone/>
            </a:pPr>
            <a:r>
              <a:rPr lang="en-US" sz="2600" b="1" dirty="0">
                <a:solidFill>
                  <a:srgbClr val="0B2027"/>
                </a:solidFill>
                <a:latin typeface="Cambria" pitchFamily="34" charset="0"/>
                <a:ea typeface="Cambria" pitchFamily="34" charset="-122"/>
                <a:cs typeface="Cambria" pitchFamily="34" charset="-120"/>
              </a:rPr>
              <a:t>2</a:t>
            </a:r>
            <a:endParaRPr lang="en-US" sz="2600" dirty="0"/>
          </a:p>
        </p:txBody>
      </p:sp>
      <p:sp>
        <p:nvSpPr>
          <p:cNvPr id="60" name="Text 58"/>
          <p:cNvSpPr txBox="1"/>
          <p:nvPr/>
        </p:nvSpPr>
        <p:spPr>
          <a:xfrm>
            <a:off x="9784080" y="4937760"/>
            <a:ext cx="1554480" cy="274320"/>
          </a:xfrm>
          <a:prstGeom prst="rect">
            <a:avLst/>
          </a:prstGeom>
          <a:noFill/>
          <a:ln/>
        </p:spPr>
        <p:txBody>
          <a:bodyPr wrap="square" lIns="0" tIns="0" rIns="0" bIns="0" rtlCol="0" anchor="ctr"/>
          <a:lstStyle/>
          <a:p>
            <a:pPr indent="0" marL="0">
              <a:lnSpc>
                <a:spcPct val="125000"/>
              </a:lnSpc>
              <a:buNone/>
            </a:pPr>
            <a:r>
              <a:rPr lang="en-US" sz="1250" dirty="0">
                <a:solidFill>
                  <a:srgbClr val="5A6B70"/>
                </a:solidFill>
                <a:latin typeface="Calibri" pitchFamily="34" charset="0"/>
                <a:ea typeface="Calibri" pitchFamily="34" charset="-122"/>
                <a:cs typeface="Calibri" pitchFamily="34" charset="-120"/>
              </a:rPr>
              <a:t>DELETE</a:t>
            </a:r>
            <a:endParaRPr lang="en-US" sz="1250" dirty="0"/>
          </a:p>
        </p:txBody>
      </p:sp>
      <p:sp>
        <p:nvSpPr>
          <p:cNvPr id="61" name="Text 59"/>
          <p:cNvSpPr txBox="1"/>
          <p:nvPr/>
        </p:nvSpPr>
        <p:spPr>
          <a:xfrm>
            <a:off x="8869680" y="5623560"/>
            <a:ext cx="2377440" cy="274320"/>
          </a:xfrm>
          <a:prstGeom prst="rect">
            <a:avLst/>
          </a:prstGeom>
          <a:noFill/>
          <a:ln/>
        </p:spPr>
        <p:txBody>
          <a:bodyPr wrap="square" lIns="0" tIns="0" rIns="0" bIns="0" rtlCol="0" anchor="ctr"/>
          <a:lstStyle/>
          <a:p>
            <a:pPr indent="0" marL="0">
              <a:lnSpc>
                <a:spcPct val="125000"/>
              </a:lnSpc>
              <a:buNone/>
            </a:pPr>
            <a:r>
              <a:rPr lang="en-US" sz="1100" i="1" dirty="0">
                <a:solidFill>
                  <a:srgbClr val="028090"/>
                </a:solidFill>
                <a:latin typeface="Calibri" pitchFamily="34" charset="0"/>
                <a:ea typeface="Calibri" pitchFamily="34" charset="-122"/>
                <a:cs typeface="Calibri" pitchFamily="34" charset="-120"/>
              </a:rPr>
              <a:t>NOOP = bằng chứng chống trùng</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75488"/>
            <a:ext cx="475488" cy="475488"/>
          </a:xfrm>
          <a:prstGeom prst="roundRect">
            <a:avLst>
              <a:gd name="adj" fmla="val 23077"/>
            </a:avLst>
          </a:prstGeom>
          <a:solidFill>
            <a:srgbClr val="028090"/>
          </a:solidFill>
          <a:ln w="12700">
            <a:solidFill>
              <a:srgbClr val="028090"/>
            </a:solidFill>
            <a:prstDash val="solid"/>
          </a:ln>
        </p:spPr>
      </p:sp>
      <p:sp>
        <p:nvSpPr>
          <p:cNvPr id="3" name="Text 1"/>
          <p:cNvSpPr txBox="1"/>
          <p:nvPr/>
        </p:nvSpPr>
        <p:spPr>
          <a:xfrm>
            <a:off x="640080" y="475488"/>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13</a:t>
            </a:r>
            <a:endParaRPr lang="en-US" sz="1700" dirty="0"/>
          </a:p>
        </p:txBody>
      </p:sp>
      <p:sp>
        <p:nvSpPr>
          <p:cNvPr id="4" name="Text 2"/>
          <p:cNvSpPr txBox="1"/>
          <p:nvPr/>
        </p:nvSpPr>
        <p:spPr>
          <a:xfrm>
            <a:off x="1298448" y="457200"/>
            <a:ext cx="8686800" cy="256032"/>
          </a:xfrm>
          <a:prstGeom prst="rect">
            <a:avLst/>
          </a:prstGeom>
          <a:noFill/>
          <a:ln/>
        </p:spPr>
        <p:txBody>
          <a:bodyPr wrap="square" lIns="0" tIns="0" rIns="0" bIns="0" rtlCol="0" anchor="ctr"/>
          <a:lstStyle/>
          <a:p>
            <a:pPr indent="0" marL="0">
              <a:buNone/>
            </a:pPr>
            <a:r>
              <a:rPr lang="en-US" sz="1100" b="1" spc="160" kern="0" dirty="0">
                <a:solidFill>
                  <a:srgbClr val="02C39A"/>
                </a:solidFill>
                <a:latin typeface="Calibri" pitchFamily="34" charset="0"/>
                <a:ea typeface="Calibri" pitchFamily="34" charset="-122"/>
                <a:cs typeface="Calibri" pitchFamily="34" charset="-120"/>
              </a:rPr>
              <a:t>MINH CHỨNG — INT-01</a:t>
            </a:r>
            <a:endParaRPr lang="en-US" sz="1100" dirty="0"/>
          </a:p>
        </p:txBody>
      </p:sp>
      <p:sp>
        <p:nvSpPr>
          <p:cNvPr id="5" name="Text 3"/>
          <p:cNvSpPr txBox="1"/>
          <p:nvPr/>
        </p:nvSpPr>
        <p:spPr>
          <a:xfrm>
            <a:off x="1298448" y="694944"/>
            <a:ext cx="10424160" cy="566928"/>
          </a:xfrm>
          <a:prstGeom prst="rect">
            <a:avLst/>
          </a:prstGeom>
          <a:noFill/>
          <a:ln/>
        </p:spPr>
        <p:txBody>
          <a:bodyPr wrap="square" lIns="0" tIns="0" rIns="0" bIns="0" rtlCol="0" anchor="ctr"/>
          <a:lstStyle/>
          <a:p>
            <a:pPr indent="0" marL="0">
              <a:buNone/>
            </a:pPr>
            <a:r>
              <a:rPr lang="en-US" sz="3000" b="1" dirty="0">
                <a:solidFill>
                  <a:srgbClr val="0B2027"/>
                </a:solidFill>
                <a:latin typeface="Cambria" pitchFamily="34" charset="0"/>
                <a:ea typeface="Cambria" pitchFamily="34" charset="-122"/>
                <a:cs typeface="Cambria" pitchFamily="34" charset="-120"/>
              </a:rPr>
              <a:t>Mỗi luồng có đủ bốn tầng bằng chứng</a:t>
            </a:r>
            <a:endParaRPr lang="en-US" sz="3000" dirty="0"/>
          </a:p>
        </p:txBody>
      </p:sp>
      <p:pic>
        <p:nvPicPr>
          <p:cNvPr id="6" name="Image 0" descr="C:/Users/ADMIN/IdeaProjects/uni-integration-service/docs/screenshots/INT-01-5-nhat-ky-integration-service.png">    </p:cNvPr>
          <p:cNvPicPr>
            <a:picLocks noChangeAspect="1"/>
          </p:cNvPicPr>
          <p:nvPr/>
        </p:nvPicPr>
        <p:blipFill>
          <a:blip r:embed="rId1"/>
          <a:stretch>
            <a:fillRect/>
          </a:stretch>
        </p:blipFill>
        <p:spPr>
          <a:xfrm>
            <a:off x="6035040" y="2286000"/>
            <a:ext cx="5486400" cy="3090672"/>
          </a:xfrm>
          <a:prstGeom prst="rect">
            <a:avLst/>
          </a:prstGeom>
        </p:spPr>
      </p:pic>
      <p:sp>
        <p:nvSpPr>
          <p:cNvPr id="7" name="Shape 4"/>
          <p:cNvSpPr/>
          <p:nvPr/>
        </p:nvSpPr>
        <p:spPr>
          <a:xfrm>
            <a:off x="640080" y="1600200"/>
            <a:ext cx="868680" cy="384048"/>
          </a:xfrm>
          <a:prstGeom prst="roundRect">
            <a:avLst>
              <a:gd name="adj" fmla="val 19048"/>
            </a:avLst>
          </a:prstGeom>
          <a:solidFill>
            <a:srgbClr val="028090"/>
          </a:solidFill>
          <a:ln w="12700">
            <a:solidFill>
              <a:srgbClr val="028090"/>
            </a:solidFill>
            <a:prstDash val="solid"/>
          </a:ln>
        </p:spPr>
      </p:sp>
      <p:sp>
        <p:nvSpPr>
          <p:cNvPr id="8" name="Text 5"/>
          <p:cNvSpPr txBox="1"/>
          <p:nvPr/>
        </p:nvSpPr>
        <p:spPr>
          <a:xfrm>
            <a:off x="640080" y="1664208"/>
            <a:ext cx="868680" cy="256032"/>
          </a:xfrm>
          <a:prstGeom prst="rect">
            <a:avLst/>
          </a:prstGeom>
          <a:noFill/>
          <a:ln/>
        </p:spPr>
        <p:txBody>
          <a:bodyPr wrap="square" lIns="0" tIns="0" rIns="0" bIns="0" rtlCol="0" anchor="ctr"/>
          <a:lstStyle/>
          <a:p>
            <a:pPr algn="ctr" indent="0" marL="0">
              <a:lnSpc>
                <a:spcPct val="125000"/>
              </a:lnSpc>
              <a:buNone/>
            </a:pPr>
            <a:r>
              <a:rPr lang="en-US" sz="1150" b="1" dirty="0">
                <a:solidFill>
                  <a:srgbClr val="FFFFFF"/>
                </a:solidFill>
                <a:latin typeface="Calibri" pitchFamily="34" charset="0"/>
                <a:ea typeface="Calibri" pitchFamily="34" charset="-122"/>
                <a:cs typeface="Calibri" pitchFamily="34" charset="-120"/>
              </a:rPr>
              <a:t>Tầng 1</a:t>
            </a:r>
            <a:endParaRPr lang="en-US" sz="1150" dirty="0"/>
          </a:p>
        </p:txBody>
      </p:sp>
      <p:sp>
        <p:nvSpPr>
          <p:cNvPr id="9" name="Text 6"/>
          <p:cNvSpPr txBox="1"/>
          <p:nvPr/>
        </p:nvSpPr>
        <p:spPr>
          <a:xfrm>
            <a:off x="1691640" y="1645920"/>
            <a:ext cx="4206240" cy="685800"/>
          </a:xfrm>
          <a:prstGeom prst="rect">
            <a:avLst/>
          </a:prstGeom>
          <a:noFill/>
          <a:ln/>
        </p:spPr>
        <p:txBody>
          <a:bodyPr wrap="square" lIns="0" tIns="0" rIns="0" bIns="0" rtlCol="0" anchor="ctr"/>
          <a:lstStyle/>
          <a:p>
            <a:pPr indent="0" marL="0">
              <a:lnSpc>
                <a:spcPct val="115000"/>
              </a:lnSpc>
              <a:buNone/>
            </a:pPr>
            <a:r>
              <a:rPr lang="en-US" sz="1300" dirty="0">
                <a:solidFill>
                  <a:srgbClr val="0B2027"/>
                </a:solidFill>
                <a:latin typeface="Calibri" pitchFamily="34" charset="0"/>
                <a:ea typeface="Calibri" pitchFamily="34" charset="-122"/>
                <a:cs typeface="Calibri" pitchFamily="34" charset="-120"/>
              </a:rPr>
              <a:t>Trạng thái đích — UniLearn chưa có SV07R1</a:t>
            </a:r>
            <a:endParaRPr lang="en-US" sz="1300" dirty="0"/>
          </a:p>
        </p:txBody>
      </p:sp>
      <p:sp>
        <p:nvSpPr>
          <p:cNvPr id="10" name="Shape 7"/>
          <p:cNvSpPr/>
          <p:nvPr/>
        </p:nvSpPr>
        <p:spPr>
          <a:xfrm>
            <a:off x="640080" y="2468880"/>
            <a:ext cx="868680" cy="384048"/>
          </a:xfrm>
          <a:prstGeom prst="roundRect">
            <a:avLst>
              <a:gd name="adj" fmla="val 19048"/>
            </a:avLst>
          </a:prstGeom>
          <a:solidFill>
            <a:srgbClr val="028090"/>
          </a:solidFill>
          <a:ln w="12700">
            <a:solidFill>
              <a:srgbClr val="028090"/>
            </a:solidFill>
            <a:prstDash val="solid"/>
          </a:ln>
        </p:spPr>
      </p:sp>
      <p:sp>
        <p:nvSpPr>
          <p:cNvPr id="11" name="Text 8"/>
          <p:cNvSpPr txBox="1"/>
          <p:nvPr/>
        </p:nvSpPr>
        <p:spPr>
          <a:xfrm>
            <a:off x="640080" y="2532888"/>
            <a:ext cx="868680" cy="256032"/>
          </a:xfrm>
          <a:prstGeom prst="rect">
            <a:avLst/>
          </a:prstGeom>
          <a:noFill/>
          <a:ln/>
        </p:spPr>
        <p:txBody>
          <a:bodyPr wrap="square" lIns="0" tIns="0" rIns="0" bIns="0" rtlCol="0" anchor="ctr"/>
          <a:lstStyle/>
          <a:p>
            <a:pPr algn="ctr" indent="0" marL="0">
              <a:lnSpc>
                <a:spcPct val="125000"/>
              </a:lnSpc>
              <a:buNone/>
            </a:pPr>
            <a:r>
              <a:rPr lang="en-US" sz="1150" b="1" dirty="0">
                <a:solidFill>
                  <a:srgbClr val="FFFFFF"/>
                </a:solidFill>
                <a:latin typeface="Calibri" pitchFamily="34" charset="0"/>
                <a:ea typeface="Calibri" pitchFamily="34" charset="-122"/>
                <a:cs typeface="Calibri" pitchFamily="34" charset="-120"/>
              </a:rPr>
              <a:t>Tầng 2</a:t>
            </a:r>
            <a:endParaRPr lang="en-US" sz="1150" dirty="0"/>
          </a:p>
        </p:txBody>
      </p:sp>
      <p:sp>
        <p:nvSpPr>
          <p:cNvPr id="12" name="Text 9"/>
          <p:cNvSpPr txBox="1"/>
          <p:nvPr/>
        </p:nvSpPr>
        <p:spPr>
          <a:xfrm>
            <a:off x="1691640" y="2514600"/>
            <a:ext cx="4206240" cy="685800"/>
          </a:xfrm>
          <a:prstGeom prst="rect">
            <a:avLst/>
          </a:prstGeom>
          <a:noFill/>
          <a:ln/>
        </p:spPr>
        <p:txBody>
          <a:bodyPr wrap="square" lIns="0" tIns="0" rIns="0" bIns="0" rtlCol="0" anchor="ctr"/>
          <a:lstStyle/>
          <a:p>
            <a:pPr indent="0" marL="0">
              <a:lnSpc>
                <a:spcPct val="115000"/>
              </a:lnSpc>
              <a:buNone/>
            </a:pPr>
            <a:r>
              <a:rPr lang="en-US" sz="1300" dirty="0">
                <a:solidFill>
                  <a:srgbClr val="0B2027"/>
                </a:solidFill>
                <a:latin typeface="Calibri" pitchFamily="34" charset="0"/>
                <a:ea typeface="Calibri" pitchFamily="34" charset="-122"/>
                <a:cs typeface="Calibri" pitchFamily="34" charset="-120"/>
              </a:rPr>
              <a:t>Thao tác ở nguồn + sự kiện kèm evt_2efdae563aaf42ce</a:t>
            </a:r>
            <a:endParaRPr lang="en-US" sz="1300" dirty="0"/>
          </a:p>
        </p:txBody>
      </p:sp>
      <p:sp>
        <p:nvSpPr>
          <p:cNvPr id="13" name="Shape 10"/>
          <p:cNvSpPr/>
          <p:nvPr/>
        </p:nvSpPr>
        <p:spPr>
          <a:xfrm>
            <a:off x="640080" y="3337560"/>
            <a:ext cx="868680" cy="384048"/>
          </a:xfrm>
          <a:prstGeom prst="roundRect">
            <a:avLst>
              <a:gd name="adj" fmla="val 19048"/>
            </a:avLst>
          </a:prstGeom>
          <a:solidFill>
            <a:srgbClr val="028090"/>
          </a:solidFill>
          <a:ln w="12700">
            <a:solidFill>
              <a:srgbClr val="028090"/>
            </a:solidFill>
            <a:prstDash val="solid"/>
          </a:ln>
        </p:spPr>
      </p:sp>
      <p:sp>
        <p:nvSpPr>
          <p:cNvPr id="14" name="Text 11"/>
          <p:cNvSpPr txBox="1"/>
          <p:nvPr/>
        </p:nvSpPr>
        <p:spPr>
          <a:xfrm>
            <a:off x="640080" y="3401568"/>
            <a:ext cx="868680" cy="256032"/>
          </a:xfrm>
          <a:prstGeom prst="rect">
            <a:avLst/>
          </a:prstGeom>
          <a:noFill/>
          <a:ln/>
        </p:spPr>
        <p:txBody>
          <a:bodyPr wrap="square" lIns="0" tIns="0" rIns="0" bIns="0" rtlCol="0" anchor="ctr"/>
          <a:lstStyle/>
          <a:p>
            <a:pPr algn="ctr" indent="0" marL="0">
              <a:lnSpc>
                <a:spcPct val="125000"/>
              </a:lnSpc>
              <a:buNone/>
            </a:pPr>
            <a:r>
              <a:rPr lang="en-US" sz="1150" b="1" dirty="0">
                <a:solidFill>
                  <a:srgbClr val="FFFFFF"/>
                </a:solidFill>
                <a:latin typeface="Calibri" pitchFamily="34" charset="0"/>
                <a:ea typeface="Calibri" pitchFamily="34" charset="-122"/>
                <a:cs typeface="Calibri" pitchFamily="34" charset="-120"/>
              </a:rPr>
              <a:t>Tầng 3</a:t>
            </a:r>
            <a:endParaRPr lang="en-US" sz="1150" dirty="0"/>
          </a:p>
        </p:txBody>
      </p:sp>
      <p:sp>
        <p:nvSpPr>
          <p:cNvPr id="15" name="Text 12"/>
          <p:cNvSpPr txBox="1"/>
          <p:nvPr/>
        </p:nvSpPr>
        <p:spPr>
          <a:xfrm>
            <a:off x="1691640" y="3383280"/>
            <a:ext cx="4206240" cy="685800"/>
          </a:xfrm>
          <a:prstGeom prst="rect">
            <a:avLst/>
          </a:prstGeom>
          <a:noFill/>
          <a:ln/>
        </p:spPr>
        <p:txBody>
          <a:bodyPr wrap="square" lIns="0" tIns="0" rIns="0" bIns="0" rtlCol="0" anchor="ctr"/>
          <a:lstStyle/>
          <a:p>
            <a:pPr indent="0" marL="0">
              <a:lnSpc>
                <a:spcPct val="115000"/>
              </a:lnSpc>
              <a:buNone/>
            </a:pPr>
            <a:r>
              <a:rPr lang="en-US" sz="1300" dirty="0">
                <a:solidFill>
                  <a:srgbClr val="0B2027"/>
                </a:solidFill>
                <a:latin typeface="Calibri" pitchFamily="34" charset="0"/>
                <a:ea typeface="Calibri" pitchFamily="34" charset="-122"/>
                <a:cs typeface="Calibri" pitchFamily="34" charset="-120"/>
              </a:rPr>
              <a:t>Nhật ký xử lý chứa đúng mã đó, action CREATE, target 106</a:t>
            </a:r>
            <a:endParaRPr lang="en-US" sz="1300" dirty="0"/>
          </a:p>
        </p:txBody>
      </p:sp>
      <p:sp>
        <p:nvSpPr>
          <p:cNvPr id="16" name="Shape 13"/>
          <p:cNvSpPr/>
          <p:nvPr/>
        </p:nvSpPr>
        <p:spPr>
          <a:xfrm>
            <a:off x="640080" y="4206240"/>
            <a:ext cx="868680" cy="384048"/>
          </a:xfrm>
          <a:prstGeom prst="roundRect">
            <a:avLst>
              <a:gd name="adj" fmla="val 19048"/>
            </a:avLst>
          </a:prstGeom>
          <a:solidFill>
            <a:srgbClr val="028090"/>
          </a:solidFill>
          <a:ln w="12700">
            <a:solidFill>
              <a:srgbClr val="028090"/>
            </a:solidFill>
            <a:prstDash val="solid"/>
          </a:ln>
        </p:spPr>
      </p:sp>
      <p:sp>
        <p:nvSpPr>
          <p:cNvPr id="17" name="Text 14"/>
          <p:cNvSpPr txBox="1"/>
          <p:nvPr/>
        </p:nvSpPr>
        <p:spPr>
          <a:xfrm>
            <a:off x="640080" y="4270248"/>
            <a:ext cx="868680" cy="256032"/>
          </a:xfrm>
          <a:prstGeom prst="rect">
            <a:avLst/>
          </a:prstGeom>
          <a:noFill/>
          <a:ln/>
        </p:spPr>
        <p:txBody>
          <a:bodyPr wrap="square" lIns="0" tIns="0" rIns="0" bIns="0" rtlCol="0" anchor="ctr"/>
          <a:lstStyle/>
          <a:p>
            <a:pPr algn="ctr" indent="0" marL="0">
              <a:lnSpc>
                <a:spcPct val="125000"/>
              </a:lnSpc>
              <a:buNone/>
            </a:pPr>
            <a:r>
              <a:rPr lang="en-US" sz="1150" b="1" dirty="0">
                <a:solidFill>
                  <a:srgbClr val="FFFFFF"/>
                </a:solidFill>
                <a:latin typeface="Calibri" pitchFamily="34" charset="0"/>
                <a:ea typeface="Calibri" pitchFamily="34" charset="-122"/>
                <a:cs typeface="Calibri" pitchFamily="34" charset="-120"/>
              </a:rPr>
              <a:t>Tầng 4</a:t>
            </a:r>
            <a:endParaRPr lang="en-US" sz="1150" dirty="0"/>
          </a:p>
        </p:txBody>
      </p:sp>
      <p:sp>
        <p:nvSpPr>
          <p:cNvPr id="18" name="Text 15"/>
          <p:cNvSpPr txBox="1"/>
          <p:nvPr/>
        </p:nvSpPr>
        <p:spPr>
          <a:xfrm>
            <a:off x="1691640" y="4251960"/>
            <a:ext cx="4206240" cy="685800"/>
          </a:xfrm>
          <a:prstGeom prst="rect">
            <a:avLst/>
          </a:prstGeom>
          <a:noFill/>
          <a:ln/>
        </p:spPr>
        <p:txBody>
          <a:bodyPr wrap="square" lIns="0" tIns="0" rIns="0" bIns="0" rtlCol="0" anchor="ctr"/>
          <a:lstStyle/>
          <a:p>
            <a:pPr indent="0" marL="0">
              <a:lnSpc>
                <a:spcPct val="115000"/>
              </a:lnSpc>
              <a:buNone/>
            </a:pPr>
            <a:r>
              <a:rPr lang="en-US" sz="1300" dirty="0">
                <a:solidFill>
                  <a:srgbClr val="0B2027"/>
                </a:solidFill>
                <a:latin typeface="Calibri" pitchFamily="34" charset="0"/>
                <a:ea typeface="Calibri" pitchFamily="34" charset="-122"/>
                <a:cs typeface="Calibri" pitchFamily="34" charset="-120"/>
              </a:rPr>
              <a:t>UniLearn có User #106, externalRef SV07R1, ĐANG MỞ</a:t>
            </a:r>
            <a:endParaRPr lang="en-US" sz="1300" dirty="0"/>
          </a:p>
        </p:txBody>
      </p:sp>
      <p:sp>
        <p:nvSpPr>
          <p:cNvPr id="19" name="Text 16"/>
          <p:cNvSpPr txBox="1"/>
          <p:nvPr/>
        </p:nvSpPr>
        <p:spPr>
          <a:xfrm>
            <a:off x="640080" y="5212080"/>
            <a:ext cx="5212080" cy="777240"/>
          </a:xfrm>
          <a:prstGeom prst="rect">
            <a:avLst/>
          </a:prstGeom>
          <a:noFill/>
          <a:ln/>
        </p:spPr>
        <p:txBody>
          <a:bodyPr wrap="square" lIns="0" tIns="0" rIns="0" bIns="0" rtlCol="0" anchor="ctr"/>
          <a:lstStyle/>
          <a:p>
            <a:pPr indent="0" marL="0">
              <a:lnSpc>
                <a:spcPct val="125000"/>
              </a:lnSpc>
              <a:buNone/>
            </a:pPr>
            <a:r>
              <a:rPr lang="en-US" sz="1300" dirty="0">
                <a:solidFill>
                  <a:srgbClr val="5A6B70"/>
                </a:solidFill>
                <a:latin typeface="Calibri" pitchFamily="34" charset="0"/>
                <a:ea typeface="Calibri" pitchFamily="34" charset="-122"/>
                <a:cs typeface="Calibri" pitchFamily="34" charset="-120"/>
              </a:rPr>
              <a:t>41 ảnh cho 8 luồng ở Phụ lục C, thu trong một lượt chạy liền mạch dùng chung cặp mã SV07R1 và SEC-TEAM07-R1.</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75488"/>
            <a:ext cx="475488" cy="475488"/>
          </a:xfrm>
          <a:prstGeom prst="roundRect">
            <a:avLst>
              <a:gd name="adj" fmla="val 23077"/>
            </a:avLst>
          </a:prstGeom>
          <a:solidFill>
            <a:srgbClr val="028090"/>
          </a:solidFill>
          <a:ln w="12700">
            <a:solidFill>
              <a:srgbClr val="028090"/>
            </a:solidFill>
            <a:prstDash val="solid"/>
          </a:ln>
        </p:spPr>
      </p:sp>
      <p:sp>
        <p:nvSpPr>
          <p:cNvPr id="3" name="Text 1"/>
          <p:cNvSpPr txBox="1"/>
          <p:nvPr/>
        </p:nvSpPr>
        <p:spPr>
          <a:xfrm>
            <a:off x="640080" y="475488"/>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14</a:t>
            </a:r>
            <a:endParaRPr lang="en-US" sz="1700" dirty="0"/>
          </a:p>
        </p:txBody>
      </p:sp>
      <p:sp>
        <p:nvSpPr>
          <p:cNvPr id="4" name="Text 2"/>
          <p:cNvSpPr txBox="1"/>
          <p:nvPr/>
        </p:nvSpPr>
        <p:spPr>
          <a:xfrm>
            <a:off x="1298448" y="457200"/>
            <a:ext cx="8686800" cy="256032"/>
          </a:xfrm>
          <a:prstGeom prst="rect">
            <a:avLst/>
          </a:prstGeom>
          <a:noFill/>
          <a:ln/>
        </p:spPr>
        <p:txBody>
          <a:bodyPr wrap="square" lIns="0" tIns="0" rIns="0" bIns="0" rtlCol="0" anchor="ctr"/>
          <a:lstStyle/>
          <a:p>
            <a:pPr indent="0" marL="0">
              <a:buNone/>
            </a:pPr>
            <a:r>
              <a:rPr lang="en-US" sz="1100" b="1" spc="160" kern="0" dirty="0">
                <a:solidFill>
                  <a:srgbClr val="02C39A"/>
                </a:solidFill>
                <a:latin typeface="Calibri" pitchFamily="34" charset="0"/>
                <a:ea typeface="Calibri" pitchFamily="34" charset="-122"/>
                <a:cs typeface="Calibri" pitchFamily="34" charset="-120"/>
              </a:rPr>
              <a:t>KIỂM THỬ</a:t>
            </a:r>
            <a:endParaRPr lang="en-US" sz="1100" dirty="0"/>
          </a:p>
        </p:txBody>
      </p:sp>
      <p:sp>
        <p:nvSpPr>
          <p:cNvPr id="5" name="Text 3"/>
          <p:cNvSpPr txBox="1"/>
          <p:nvPr/>
        </p:nvSpPr>
        <p:spPr>
          <a:xfrm>
            <a:off x="1298448" y="694944"/>
            <a:ext cx="10424160" cy="566928"/>
          </a:xfrm>
          <a:prstGeom prst="rect">
            <a:avLst/>
          </a:prstGeom>
          <a:noFill/>
          <a:ln/>
        </p:spPr>
        <p:txBody>
          <a:bodyPr wrap="square" lIns="0" tIns="0" rIns="0" bIns="0" rtlCol="0" anchor="ctr"/>
          <a:lstStyle/>
          <a:p>
            <a:pPr indent="0" marL="0">
              <a:buNone/>
            </a:pPr>
            <a:r>
              <a:rPr lang="en-US" sz="3000" b="1" dirty="0">
                <a:solidFill>
                  <a:srgbClr val="0B2027"/>
                </a:solidFill>
                <a:latin typeface="Cambria" pitchFamily="34" charset="0"/>
                <a:ea typeface="Cambria" pitchFamily="34" charset="-122"/>
                <a:cs typeface="Cambria" pitchFamily="34" charset="-120"/>
              </a:rPr>
              <a:t>Chạy lại được trên máy bất kỳ</a:t>
            </a:r>
            <a:endParaRPr lang="en-US" sz="3000" dirty="0"/>
          </a:p>
        </p:txBody>
      </p:sp>
      <p:sp>
        <p:nvSpPr>
          <p:cNvPr id="6" name="Text 4"/>
          <p:cNvSpPr txBox="1"/>
          <p:nvPr/>
        </p:nvSpPr>
        <p:spPr>
          <a:xfrm>
            <a:off x="640080" y="1600200"/>
            <a:ext cx="2468880" cy="777240"/>
          </a:xfrm>
          <a:prstGeom prst="rect">
            <a:avLst/>
          </a:prstGeom>
          <a:noFill/>
          <a:ln/>
        </p:spPr>
        <p:txBody>
          <a:bodyPr wrap="square" lIns="0" tIns="0" rIns="0" bIns="0" rtlCol="0" anchor="ctr"/>
          <a:lstStyle/>
          <a:p>
            <a:pPr algn="ctr" indent="0" marL="0">
              <a:buNone/>
            </a:pPr>
            <a:r>
              <a:rPr lang="en-US" sz="4400" b="1" dirty="0">
                <a:solidFill>
                  <a:srgbClr val="028090"/>
                </a:solidFill>
                <a:latin typeface="Cambria" pitchFamily="34" charset="0"/>
                <a:ea typeface="Cambria" pitchFamily="34" charset="-122"/>
                <a:cs typeface="Cambria" pitchFamily="34" charset="-120"/>
              </a:rPr>
              <a:t>84</a:t>
            </a:r>
            <a:endParaRPr lang="en-US" sz="4400" dirty="0"/>
          </a:p>
        </p:txBody>
      </p:sp>
      <p:sp>
        <p:nvSpPr>
          <p:cNvPr id="7" name="Text 5"/>
          <p:cNvSpPr txBox="1"/>
          <p:nvPr/>
        </p:nvSpPr>
        <p:spPr>
          <a:xfrm>
            <a:off x="640080" y="2377440"/>
            <a:ext cx="2468880" cy="457200"/>
          </a:xfrm>
          <a:prstGeom prst="rect">
            <a:avLst/>
          </a:prstGeom>
          <a:noFill/>
          <a:ln/>
        </p:spPr>
        <p:txBody>
          <a:bodyPr wrap="square" lIns="0" tIns="0" rIns="0" bIns="0" rtlCol="0" anchor="ctr"/>
          <a:lstStyle/>
          <a:p>
            <a:pPr algn="ctr" indent="0" marL="0">
              <a:buNone/>
            </a:pPr>
            <a:r>
              <a:rPr lang="en-US" sz="1200" dirty="0">
                <a:solidFill>
                  <a:srgbClr val="5A6B70"/>
                </a:solidFill>
                <a:latin typeface="Calibri" pitchFamily="34" charset="0"/>
                <a:ea typeface="Calibri" pitchFamily="34" charset="-122"/>
                <a:cs typeface="Calibri" pitchFamily="34" charset="-120"/>
              </a:rPr>
              <a:t>ca kiểm thử tự động</a:t>
            </a:r>
            <a:endParaRPr lang="en-US" sz="1200" dirty="0"/>
          </a:p>
        </p:txBody>
      </p:sp>
      <p:sp>
        <p:nvSpPr>
          <p:cNvPr id="8" name="Text 6"/>
          <p:cNvSpPr txBox="1"/>
          <p:nvPr/>
        </p:nvSpPr>
        <p:spPr>
          <a:xfrm>
            <a:off x="3383280" y="1600200"/>
            <a:ext cx="2468880" cy="777240"/>
          </a:xfrm>
          <a:prstGeom prst="rect">
            <a:avLst/>
          </a:prstGeom>
          <a:noFill/>
          <a:ln/>
        </p:spPr>
        <p:txBody>
          <a:bodyPr wrap="square" lIns="0" tIns="0" rIns="0" bIns="0" rtlCol="0" anchor="ctr"/>
          <a:lstStyle/>
          <a:p>
            <a:pPr algn="ctr" indent="0" marL="0">
              <a:buNone/>
            </a:pPr>
            <a:r>
              <a:rPr lang="en-US" sz="4400" b="1" dirty="0">
                <a:solidFill>
                  <a:srgbClr val="028090"/>
                </a:solidFill>
                <a:latin typeface="Cambria" pitchFamily="34" charset="0"/>
                <a:ea typeface="Cambria" pitchFamily="34" charset="-122"/>
                <a:cs typeface="Cambria" pitchFamily="34" charset="-120"/>
              </a:rPr>
              <a:t>27</a:t>
            </a:r>
            <a:endParaRPr lang="en-US" sz="4400" dirty="0"/>
          </a:p>
        </p:txBody>
      </p:sp>
      <p:sp>
        <p:nvSpPr>
          <p:cNvPr id="9" name="Text 7"/>
          <p:cNvSpPr txBox="1"/>
          <p:nvPr/>
        </p:nvSpPr>
        <p:spPr>
          <a:xfrm>
            <a:off x="3383280" y="2377440"/>
            <a:ext cx="2468880" cy="457200"/>
          </a:xfrm>
          <a:prstGeom prst="rect">
            <a:avLst/>
          </a:prstGeom>
          <a:noFill/>
          <a:ln/>
        </p:spPr>
        <p:txBody>
          <a:bodyPr wrap="square" lIns="0" tIns="0" rIns="0" bIns="0" rtlCol="0" anchor="ctr"/>
          <a:lstStyle/>
          <a:p>
            <a:pPr algn="ctr" indent="0" marL="0">
              <a:buNone/>
            </a:pPr>
            <a:r>
              <a:rPr lang="en-US" sz="1200" dirty="0">
                <a:solidFill>
                  <a:srgbClr val="5A6B70"/>
                </a:solidFill>
                <a:latin typeface="Calibri" pitchFamily="34" charset="0"/>
                <a:ea typeface="Calibri" pitchFamily="34" charset="-122"/>
                <a:cs typeface="Calibri" pitchFamily="34" charset="-120"/>
              </a:rPr>
              <a:t>ca tình huống lỗi</a:t>
            </a:r>
            <a:endParaRPr lang="en-US" sz="1200" dirty="0"/>
          </a:p>
        </p:txBody>
      </p:sp>
      <p:sp>
        <p:nvSpPr>
          <p:cNvPr id="10" name="Text 8"/>
          <p:cNvSpPr txBox="1"/>
          <p:nvPr/>
        </p:nvSpPr>
        <p:spPr>
          <a:xfrm>
            <a:off x="6126480" y="1600200"/>
            <a:ext cx="2468880" cy="777240"/>
          </a:xfrm>
          <a:prstGeom prst="rect">
            <a:avLst/>
          </a:prstGeom>
          <a:noFill/>
          <a:ln/>
        </p:spPr>
        <p:txBody>
          <a:bodyPr wrap="square" lIns="0" tIns="0" rIns="0" bIns="0" rtlCol="0" anchor="ctr"/>
          <a:lstStyle/>
          <a:p>
            <a:pPr algn="ctr" indent="0" marL="0">
              <a:buNone/>
            </a:pPr>
            <a:r>
              <a:rPr lang="en-US" sz="4400" b="1" dirty="0">
                <a:solidFill>
                  <a:srgbClr val="028090"/>
                </a:solidFill>
                <a:latin typeface="Cambria" pitchFamily="34" charset="0"/>
                <a:ea typeface="Cambria" pitchFamily="34" charset="-122"/>
                <a:cs typeface="Cambria" pitchFamily="34" charset="-120"/>
              </a:rPr>
              <a:t>12/12</a:t>
            </a:r>
            <a:endParaRPr lang="en-US" sz="4400" dirty="0"/>
          </a:p>
        </p:txBody>
      </p:sp>
      <p:sp>
        <p:nvSpPr>
          <p:cNvPr id="11" name="Text 9"/>
          <p:cNvSpPr txBox="1"/>
          <p:nvPr/>
        </p:nvSpPr>
        <p:spPr>
          <a:xfrm>
            <a:off x="6126480" y="2377440"/>
            <a:ext cx="2468880" cy="457200"/>
          </a:xfrm>
          <a:prstGeom prst="rect">
            <a:avLst/>
          </a:prstGeom>
          <a:noFill/>
          <a:ln/>
        </p:spPr>
        <p:txBody>
          <a:bodyPr wrap="square" lIns="0" tIns="0" rIns="0" bIns="0" rtlCol="0" anchor="ctr"/>
          <a:lstStyle/>
          <a:p>
            <a:pPr algn="ctr" indent="0" marL="0">
              <a:buNone/>
            </a:pPr>
            <a:r>
              <a:rPr lang="en-US" sz="1200" dirty="0">
                <a:solidFill>
                  <a:srgbClr val="5A6B70"/>
                </a:solidFill>
                <a:latin typeface="Calibri" pitchFamily="34" charset="0"/>
                <a:ea typeface="Calibri" pitchFamily="34" charset="-122"/>
                <a:cs typeface="Calibri" pitchFamily="34" charset="-120"/>
              </a:rPr>
              <a:t>yêu cầu phi chức năng</a:t>
            </a:r>
            <a:endParaRPr lang="en-US" sz="1200" dirty="0"/>
          </a:p>
        </p:txBody>
      </p:sp>
      <p:sp>
        <p:nvSpPr>
          <p:cNvPr id="12" name="Text 10"/>
          <p:cNvSpPr txBox="1"/>
          <p:nvPr/>
        </p:nvSpPr>
        <p:spPr>
          <a:xfrm>
            <a:off x="8869680" y="1600200"/>
            <a:ext cx="2468880" cy="777240"/>
          </a:xfrm>
          <a:prstGeom prst="rect">
            <a:avLst/>
          </a:prstGeom>
          <a:noFill/>
          <a:ln/>
        </p:spPr>
        <p:txBody>
          <a:bodyPr wrap="square" lIns="0" tIns="0" rIns="0" bIns="0" rtlCol="0" anchor="ctr"/>
          <a:lstStyle/>
          <a:p>
            <a:pPr algn="ctr" indent="0" marL="0">
              <a:buNone/>
            </a:pPr>
            <a:r>
              <a:rPr lang="en-US" sz="4400" b="1" dirty="0">
                <a:solidFill>
                  <a:srgbClr val="02C39A"/>
                </a:solidFill>
                <a:latin typeface="Cambria" pitchFamily="34" charset="0"/>
                <a:ea typeface="Cambria" pitchFamily="34" charset="-122"/>
                <a:cs typeface="Cambria" pitchFamily="34" charset="-120"/>
              </a:rPr>
              <a:t>0</a:t>
            </a:r>
            <a:endParaRPr lang="en-US" sz="4400" dirty="0"/>
          </a:p>
        </p:txBody>
      </p:sp>
      <p:sp>
        <p:nvSpPr>
          <p:cNvPr id="13" name="Text 11"/>
          <p:cNvSpPr txBox="1"/>
          <p:nvPr/>
        </p:nvSpPr>
        <p:spPr>
          <a:xfrm>
            <a:off x="8869680" y="2377440"/>
            <a:ext cx="2468880" cy="457200"/>
          </a:xfrm>
          <a:prstGeom prst="rect">
            <a:avLst/>
          </a:prstGeom>
          <a:noFill/>
          <a:ln/>
        </p:spPr>
        <p:txBody>
          <a:bodyPr wrap="square" lIns="0" tIns="0" rIns="0" bIns="0" rtlCol="0" anchor="ctr"/>
          <a:lstStyle/>
          <a:p>
            <a:pPr algn="ctr" indent="0" marL="0">
              <a:buNone/>
            </a:pPr>
            <a:r>
              <a:rPr lang="en-US" sz="1200" dirty="0">
                <a:solidFill>
                  <a:srgbClr val="5A6B70"/>
                </a:solidFill>
                <a:latin typeface="Calibri" pitchFamily="34" charset="0"/>
                <a:ea typeface="Calibri" pitchFamily="34" charset="-122"/>
                <a:cs typeface="Calibri" pitchFamily="34" charset="-120"/>
              </a:rPr>
              <a:t>ca thất bại</a:t>
            </a:r>
            <a:endParaRPr lang="en-US" sz="1200" dirty="0"/>
          </a:p>
        </p:txBody>
      </p:sp>
      <p:sp>
        <p:nvSpPr>
          <p:cNvPr id="14" name="Shape 12"/>
          <p:cNvSpPr/>
          <p:nvPr/>
        </p:nvSpPr>
        <p:spPr>
          <a:xfrm>
            <a:off x="640080" y="3291840"/>
            <a:ext cx="5394960" cy="868680"/>
          </a:xfrm>
          <a:prstGeom prst="roundRect">
            <a:avLst>
              <a:gd name="adj" fmla="val 6316"/>
            </a:avLst>
          </a:prstGeom>
          <a:solidFill>
            <a:srgbClr val="0E2A33"/>
          </a:solidFill>
          <a:ln w="12700">
            <a:solidFill>
              <a:srgbClr val="0E2A33"/>
            </a:solidFill>
            <a:prstDash val="solid"/>
          </a:ln>
        </p:spPr>
      </p:sp>
      <p:sp>
        <p:nvSpPr>
          <p:cNvPr id="15" name="Text 13"/>
          <p:cNvSpPr txBox="1"/>
          <p:nvPr/>
        </p:nvSpPr>
        <p:spPr>
          <a:xfrm>
            <a:off x="804672" y="3401568"/>
            <a:ext cx="5065776" cy="649224"/>
          </a:xfrm>
          <a:prstGeom prst="rect">
            <a:avLst/>
          </a:prstGeom>
          <a:noFill/>
          <a:ln/>
        </p:spPr>
        <p:txBody>
          <a:bodyPr wrap="square" lIns="0" tIns="0" rIns="0" bIns="0" rtlCol="0" anchor="ctr"/>
          <a:lstStyle/>
          <a:p>
            <a:pPr indent="0" marL="0">
              <a:lnSpc>
                <a:spcPct val="118000"/>
              </a:lnSpc>
              <a:buNone/>
            </a:pPr>
            <a:r>
              <a:rPr lang="en-US" sz="1250" dirty="0">
                <a:solidFill>
                  <a:srgbClr val="CFF3EA"/>
                </a:solidFill>
                <a:latin typeface="Courier New" pitchFamily="34" charset="0"/>
                <a:ea typeface="Courier New" pitchFamily="34" charset="-122"/>
                <a:cs typeface="Courier New" pitchFamily="34" charset="-120"/>
              </a:rPr>
              <a:t>Tests run: 84, Failures: 0, Errors: 0</a:t>
            </a:r>
            <a:endParaRPr lang="en-US" sz="1250" dirty="0"/>
          </a:p>
          <a:p>
            <a:pPr indent="0" marL="0">
              <a:lnSpc>
                <a:spcPct val="118000"/>
              </a:lnSpc>
              <a:buNone/>
            </a:pPr>
            <a:r>
              <a:rPr lang="en-US" sz="1250" dirty="0">
                <a:solidFill>
                  <a:srgbClr val="CFF3EA"/>
                </a:solidFill>
                <a:latin typeface="Courier New" pitchFamily="34" charset="0"/>
                <a:ea typeface="Courier New" pitchFamily="34" charset="-122"/>
                <a:cs typeface="Courier New" pitchFamily="34" charset="-120"/>
              </a:rPr>
              <a:t>BUILD SUCCESS</a:t>
            </a:r>
            <a:endParaRPr lang="en-US" sz="1250" dirty="0"/>
          </a:p>
        </p:txBody>
      </p:sp>
      <p:sp>
        <p:nvSpPr>
          <p:cNvPr id="16" name="Text 14"/>
          <p:cNvSpPr txBox="1"/>
          <p:nvPr/>
        </p:nvSpPr>
        <p:spPr>
          <a:xfrm>
            <a:off x="640080" y="4434840"/>
            <a:ext cx="5394960" cy="1371600"/>
          </a:xfrm>
          <a:prstGeom prst="rect">
            <a:avLst/>
          </a:prstGeom>
          <a:noFill/>
          <a:ln/>
        </p:spPr>
        <p:txBody>
          <a:bodyPr wrap="square" lIns="0" tIns="0" rIns="0" bIns="0" rtlCol="0" anchor="ctr"/>
          <a:lstStyle/>
          <a:p>
            <a:pPr indent="0" marL="0">
              <a:lnSpc>
                <a:spcPct val="125000"/>
              </a:lnSpc>
              <a:buNone/>
            </a:pPr>
            <a:r>
              <a:rPr lang="en-US" sz="1500" dirty="0">
                <a:solidFill>
                  <a:srgbClr val="5A6B70"/>
                </a:solidFill>
                <a:latin typeface="Calibri" pitchFamily="34" charset="0"/>
                <a:ea typeface="Calibri" pitchFamily="34" charset="-122"/>
                <a:cs typeface="Calibri" pitchFamily="34" charset="-120"/>
              </a:rPr>
              <a:t>WireMock giả lập cả UniSIS lẫn UniLearn nên bộ kiểm thử không cần mạng và không cần hai hệ thống nguồn. Giảng viên chạy lại chỉ bằng một lệnh.</a:t>
            </a:r>
            <a:endParaRPr lang="en-US" sz="1500" dirty="0"/>
          </a:p>
        </p:txBody>
      </p:sp>
      <p:sp>
        <p:nvSpPr>
          <p:cNvPr id="17" name="Shape 15"/>
          <p:cNvSpPr/>
          <p:nvPr/>
        </p:nvSpPr>
        <p:spPr>
          <a:xfrm>
            <a:off x="6400800" y="3291840"/>
            <a:ext cx="5120640" cy="2514600"/>
          </a:xfrm>
          <a:prstGeom prst="roundRect">
            <a:avLst>
              <a:gd name="adj" fmla="val 2182"/>
            </a:avLst>
          </a:prstGeom>
          <a:solidFill>
            <a:srgbClr val="F2F6F6"/>
          </a:solidFill>
          <a:ln w="12700">
            <a:solidFill>
              <a:srgbClr val="F2F6F6"/>
            </a:solidFill>
            <a:prstDash val="solid"/>
          </a:ln>
        </p:spPr>
      </p:sp>
      <p:sp>
        <p:nvSpPr>
          <p:cNvPr id="18" name="Text 16"/>
          <p:cNvSpPr txBox="1"/>
          <p:nvPr/>
        </p:nvSpPr>
        <p:spPr>
          <a:xfrm>
            <a:off x="6675120" y="3566160"/>
            <a:ext cx="4572000" cy="292608"/>
          </a:xfrm>
          <a:prstGeom prst="rect">
            <a:avLst/>
          </a:prstGeom>
          <a:noFill/>
          <a:ln/>
        </p:spPr>
        <p:txBody>
          <a:bodyPr wrap="square" lIns="0" tIns="0" rIns="0" bIns="0" rtlCol="0" anchor="ctr"/>
          <a:lstStyle/>
          <a:p>
            <a:pPr indent="0" marL="0">
              <a:lnSpc>
                <a:spcPct val="125000"/>
              </a:lnSpc>
              <a:buNone/>
            </a:pPr>
            <a:r>
              <a:rPr lang="en-US" sz="1100" b="1" dirty="0">
                <a:solidFill>
                  <a:srgbClr val="028090"/>
                </a:solidFill>
                <a:latin typeface="Calibri" pitchFamily="34" charset="0"/>
                <a:ea typeface="Calibri" pitchFamily="34" charset="-122"/>
                <a:cs typeface="Calibri" pitchFamily="34" charset="-120"/>
              </a:rPr>
              <a:t>NHỮNG CA ĐÁNG CHÚ Ý</a:t>
            </a:r>
            <a:endParaRPr lang="en-US" sz="1100" dirty="0"/>
          </a:p>
        </p:txBody>
      </p:sp>
      <p:sp>
        <p:nvSpPr>
          <p:cNvPr id="19" name="Text 17"/>
          <p:cNvSpPr txBox="1"/>
          <p:nvPr/>
        </p:nvSpPr>
        <p:spPr>
          <a:xfrm>
            <a:off x="6675120" y="3977640"/>
            <a:ext cx="4617720" cy="1691640"/>
          </a:xfrm>
          <a:prstGeom prst="rect">
            <a:avLst/>
          </a:prstGeom>
          <a:noFill/>
          <a:ln/>
        </p:spPr>
        <p:txBody>
          <a:bodyPr wrap="square" lIns="0" tIns="0" rIns="0" bIns="0" rtlCol="0" anchor="ctr"/>
          <a:lstStyle/>
          <a:p>
            <a:pPr marL="342900" indent="-342900">
              <a:lnSpc>
                <a:spcPct val="115000"/>
              </a:lnSpc>
              <a:spcAft>
                <a:spcPts val="600"/>
              </a:spcAft>
              <a:buSzPct val="100000"/>
              <a:buChar char="•"/>
            </a:pPr>
            <a:r>
              <a:rPr lang="en-US" sz="1200" dirty="0">
                <a:solidFill>
                  <a:srgbClr val="0B2027"/>
                </a:solidFill>
                <a:latin typeface="Calibri" pitchFamily="34" charset="0"/>
                <a:ea typeface="Calibri" pitchFamily="34" charset="-122"/>
                <a:cs typeface="Calibri" pitchFamily="34" charset="-120"/>
              </a:rPr>
              <a:t>I10 — xóa ánh xạ mà User còn: tự phục hồi, không tạo trùng</a:t>
            </a:r>
            <a:endParaRPr lang="en-US" sz="1200" dirty="0"/>
          </a:p>
          <a:p>
            <a:pPr marL="342900" indent="-342900">
              <a:lnSpc>
                <a:spcPct val="115000"/>
              </a:lnSpc>
              <a:spcAft>
                <a:spcPts val="600"/>
              </a:spcAft>
              <a:buSzPct val="100000"/>
              <a:buChar char="•"/>
            </a:pPr>
            <a:r>
              <a:rPr lang="en-US" sz="1200" dirty="0">
                <a:solidFill>
                  <a:srgbClr val="0B2027"/>
                </a:solidFill>
                <a:latin typeface="Calibri" pitchFamily="34" charset="0"/>
                <a:ea typeface="Calibri" pitchFamily="34" charset="-122"/>
                <a:cs typeface="Calibri" pitchFamily="34" charset="-120"/>
              </a:rPr>
              <a:t>I37 — INT-04 gỡ Membership nhưng KHÔNG xóa User hay Course</a:t>
            </a:r>
            <a:endParaRPr lang="en-US" sz="1200" dirty="0"/>
          </a:p>
          <a:p>
            <a:pPr marL="342900" indent="-342900">
              <a:lnSpc>
                <a:spcPct val="115000"/>
              </a:lnSpc>
              <a:spcAft>
                <a:spcPts val="600"/>
              </a:spcAft>
              <a:buSzPct val="100000"/>
              <a:buChar char="•"/>
            </a:pPr>
            <a:r>
              <a:rPr lang="en-US" sz="1200" dirty="0">
                <a:solidFill>
                  <a:srgbClr val="0B2027"/>
                </a:solidFill>
                <a:latin typeface="Calibri" pitchFamily="34" charset="0"/>
                <a:ea typeface="Calibri" pitchFamily="34" charset="-122"/>
                <a:cs typeface="Calibri" pitchFamily="34" charset="-120"/>
              </a:rPr>
              <a:t>I45 — 422 vào dead-letter, KHÔNG tự tạo enrollment</a:t>
            </a:r>
            <a:endParaRPr lang="en-US" sz="1200" dirty="0"/>
          </a:p>
          <a:p>
            <a:pPr marL="342900" indent="-342900">
              <a:lnSpc>
                <a:spcPct val="115000"/>
              </a:lnSpc>
              <a:spcAft>
                <a:spcPts val="600"/>
              </a:spcAft>
              <a:buSzPct val="100000"/>
              <a:buChar char="•"/>
            </a:pPr>
            <a:r>
              <a:rPr lang="en-US" sz="1200" dirty="0">
                <a:solidFill>
                  <a:srgbClr val="0B2027"/>
                </a:solidFill>
                <a:latin typeface="Calibri" pitchFamily="34" charset="0"/>
                <a:ea typeface="Calibri" pitchFamily="34" charset="-122"/>
                <a:cs typeface="Calibri" pitchFamily="34" charset="-120"/>
              </a:rPr>
              <a:t>I57 — hai lượt đối soát liên tiếp đều sinh được việc</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75488"/>
            <a:ext cx="475488" cy="475488"/>
          </a:xfrm>
          <a:prstGeom prst="roundRect">
            <a:avLst>
              <a:gd name="adj" fmla="val 23077"/>
            </a:avLst>
          </a:prstGeom>
          <a:solidFill>
            <a:srgbClr val="028090"/>
          </a:solidFill>
          <a:ln w="12700">
            <a:solidFill>
              <a:srgbClr val="028090"/>
            </a:solidFill>
            <a:prstDash val="solid"/>
          </a:ln>
        </p:spPr>
      </p:sp>
      <p:sp>
        <p:nvSpPr>
          <p:cNvPr id="3" name="Text 1"/>
          <p:cNvSpPr txBox="1"/>
          <p:nvPr/>
        </p:nvSpPr>
        <p:spPr>
          <a:xfrm>
            <a:off x="640080" y="475488"/>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15</a:t>
            </a:r>
            <a:endParaRPr lang="en-US" sz="1700" dirty="0"/>
          </a:p>
        </p:txBody>
      </p:sp>
      <p:sp>
        <p:nvSpPr>
          <p:cNvPr id="4" name="Text 2"/>
          <p:cNvSpPr txBox="1"/>
          <p:nvPr/>
        </p:nvSpPr>
        <p:spPr>
          <a:xfrm>
            <a:off x="1298448" y="457200"/>
            <a:ext cx="8686800" cy="256032"/>
          </a:xfrm>
          <a:prstGeom prst="rect">
            <a:avLst/>
          </a:prstGeom>
          <a:noFill/>
          <a:ln/>
        </p:spPr>
        <p:txBody>
          <a:bodyPr wrap="square" lIns="0" tIns="0" rIns="0" bIns="0" rtlCol="0" anchor="ctr"/>
          <a:lstStyle/>
          <a:p>
            <a:pPr indent="0" marL="0">
              <a:buNone/>
            </a:pPr>
            <a:r>
              <a:rPr lang="en-US" sz="1100" b="1" spc="160" kern="0" dirty="0">
                <a:solidFill>
                  <a:srgbClr val="02C39A"/>
                </a:solidFill>
                <a:latin typeface="Calibri" pitchFamily="34" charset="0"/>
                <a:ea typeface="Calibri" pitchFamily="34" charset="-122"/>
                <a:cs typeface="Calibri" pitchFamily="34" charset="-120"/>
              </a:rPr>
              <a:t>RANH GIỚI TRÁCH NHIỆM</a:t>
            </a:r>
            <a:endParaRPr lang="en-US" sz="1100" dirty="0"/>
          </a:p>
        </p:txBody>
      </p:sp>
      <p:sp>
        <p:nvSpPr>
          <p:cNvPr id="5" name="Text 3"/>
          <p:cNvSpPr txBox="1"/>
          <p:nvPr/>
        </p:nvSpPr>
        <p:spPr>
          <a:xfrm>
            <a:off x="1298448" y="694944"/>
            <a:ext cx="10424160" cy="566928"/>
          </a:xfrm>
          <a:prstGeom prst="rect">
            <a:avLst/>
          </a:prstGeom>
          <a:noFill/>
          <a:ln/>
        </p:spPr>
        <p:txBody>
          <a:bodyPr wrap="square" lIns="0" tIns="0" rIns="0" bIns="0" rtlCol="0" anchor="ctr"/>
          <a:lstStyle/>
          <a:p>
            <a:pPr indent="0" marL="0">
              <a:buNone/>
            </a:pPr>
            <a:r>
              <a:rPr lang="en-US" sz="3000" b="1" dirty="0">
                <a:solidFill>
                  <a:srgbClr val="0B2027"/>
                </a:solidFill>
                <a:latin typeface="Cambria" pitchFamily="34" charset="0"/>
                <a:ea typeface="Cambria" pitchFamily="34" charset="-122"/>
                <a:cs typeface="Cambria" pitchFamily="34" charset="-120"/>
              </a:rPr>
              <a:t>Làm được không quan trọng bằng có nên làm không</a:t>
            </a:r>
            <a:endParaRPr lang="en-US" sz="3000" dirty="0"/>
          </a:p>
        </p:txBody>
      </p:sp>
      <p:sp>
        <p:nvSpPr>
          <p:cNvPr id="6" name="Shape 4"/>
          <p:cNvSpPr/>
          <p:nvPr/>
        </p:nvSpPr>
        <p:spPr>
          <a:xfrm>
            <a:off x="640080" y="1600200"/>
            <a:ext cx="5257800" cy="2103120"/>
          </a:xfrm>
          <a:prstGeom prst="roundRect">
            <a:avLst>
              <a:gd name="adj" fmla="val 2609"/>
            </a:avLst>
          </a:prstGeom>
          <a:solidFill>
            <a:srgbClr val="F2F6F6"/>
          </a:solidFill>
          <a:ln w="12700">
            <a:solidFill>
              <a:srgbClr val="F2F6F6"/>
            </a:solidFill>
            <a:prstDash val="solid"/>
          </a:ln>
        </p:spPr>
      </p:sp>
      <p:sp>
        <p:nvSpPr>
          <p:cNvPr id="7" name="Text 5"/>
          <p:cNvSpPr txBox="1"/>
          <p:nvPr/>
        </p:nvSpPr>
        <p:spPr>
          <a:xfrm>
            <a:off x="960120" y="1874520"/>
            <a:ext cx="4617720" cy="320040"/>
          </a:xfrm>
          <a:prstGeom prst="rect">
            <a:avLst/>
          </a:prstGeom>
          <a:noFill/>
          <a:ln/>
        </p:spPr>
        <p:txBody>
          <a:bodyPr wrap="square" lIns="0" tIns="0" rIns="0" bIns="0" rtlCol="0" anchor="ctr"/>
          <a:lstStyle/>
          <a:p>
            <a:pPr indent="0" marL="0">
              <a:lnSpc>
                <a:spcPct val="125000"/>
              </a:lnSpc>
              <a:buNone/>
            </a:pPr>
            <a:r>
              <a:rPr lang="en-US" sz="1100" b="1" dirty="0">
                <a:solidFill>
                  <a:srgbClr val="5A6B70"/>
                </a:solidFill>
                <a:latin typeface="Calibri" pitchFamily="34" charset="0"/>
                <a:ea typeface="Calibri" pitchFamily="34" charset="-122"/>
                <a:cs typeface="Calibri" pitchFamily="34" charset="-120"/>
              </a:rPr>
              <a:t>TÌNH HUỐNG</a:t>
            </a:r>
            <a:endParaRPr lang="en-US" sz="1100" dirty="0"/>
          </a:p>
        </p:txBody>
      </p:sp>
      <p:sp>
        <p:nvSpPr>
          <p:cNvPr id="8" name="Text 6"/>
          <p:cNvSpPr txBox="1"/>
          <p:nvPr/>
        </p:nvSpPr>
        <p:spPr>
          <a:xfrm>
            <a:off x="960120" y="2286000"/>
            <a:ext cx="4617720" cy="1188720"/>
          </a:xfrm>
          <a:prstGeom prst="rect">
            <a:avLst/>
          </a:prstGeom>
          <a:noFill/>
          <a:ln/>
        </p:spPr>
        <p:txBody>
          <a:bodyPr wrap="square" lIns="0" tIns="0" rIns="0" bIns="0" rtlCol="0" anchor="ctr"/>
          <a:lstStyle/>
          <a:p>
            <a:pPr indent="0" marL="0">
              <a:lnSpc>
                <a:spcPct val="120000"/>
              </a:lnSpc>
              <a:buNone/>
            </a:pPr>
            <a:r>
              <a:rPr lang="en-US" sz="1350" dirty="0">
                <a:solidFill>
                  <a:srgbClr val="0B2027"/>
                </a:solidFill>
                <a:latin typeface="Calibri" pitchFamily="34" charset="0"/>
                <a:ea typeface="Calibri" pitchFamily="34" charset="-122"/>
                <a:cs typeface="Calibri" pitchFamily="34" charset="-120"/>
              </a:rPr>
              <a:t>UniSIS từ chối ghi điểm vì cặp sinh viên và lớp chưa có đăng ký học. Dịch vụ hoàn toàn có thể gọi thêm một API để tự tạo đăng ký rồi ghi điểm.</a:t>
            </a:r>
            <a:endParaRPr lang="en-US" sz="1350" dirty="0"/>
          </a:p>
        </p:txBody>
      </p:sp>
      <p:sp>
        <p:nvSpPr>
          <p:cNvPr id="9" name="Shape 7"/>
          <p:cNvSpPr/>
          <p:nvPr/>
        </p:nvSpPr>
        <p:spPr>
          <a:xfrm>
            <a:off x="6400800" y="1600200"/>
            <a:ext cx="5120640" cy="2103120"/>
          </a:xfrm>
          <a:prstGeom prst="roundRect">
            <a:avLst>
              <a:gd name="adj" fmla="val 2609"/>
            </a:avLst>
          </a:prstGeom>
          <a:solidFill>
            <a:srgbClr val="E7F5F2"/>
          </a:solidFill>
          <a:ln w="12700">
            <a:solidFill>
              <a:srgbClr val="E7F5F2"/>
            </a:solidFill>
            <a:prstDash val="solid"/>
          </a:ln>
        </p:spPr>
      </p:sp>
      <p:sp>
        <p:nvSpPr>
          <p:cNvPr id="10" name="Text 8"/>
          <p:cNvSpPr txBox="1"/>
          <p:nvPr/>
        </p:nvSpPr>
        <p:spPr>
          <a:xfrm>
            <a:off x="6720840" y="1874520"/>
            <a:ext cx="4480560" cy="320040"/>
          </a:xfrm>
          <a:prstGeom prst="rect">
            <a:avLst/>
          </a:prstGeom>
          <a:noFill/>
          <a:ln/>
        </p:spPr>
        <p:txBody>
          <a:bodyPr wrap="square" lIns="0" tIns="0" rIns="0" bIns="0" rtlCol="0" anchor="ctr"/>
          <a:lstStyle/>
          <a:p>
            <a:pPr indent="0" marL="0">
              <a:lnSpc>
                <a:spcPct val="125000"/>
              </a:lnSpc>
              <a:buNone/>
            </a:pPr>
            <a:r>
              <a:rPr lang="en-US" sz="1100" b="1" dirty="0">
                <a:solidFill>
                  <a:srgbClr val="028090"/>
                </a:solidFill>
                <a:latin typeface="Calibri" pitchFamily="34" charset="0"/>
                <a:ea typeface="Calibri" pitchFamily="34" charset="-122"/>
                <a:cs typeface="Calibri" pitchFamily="34" charset="-120"/>
              </a:rPr>
              <a:t>HÀNH ĐỘNG ĐÚNG</a:t>
            </a:r>
            <a:endParaRPr lang="en-US" sz="1100" dirty="0"/>
          </a:p>
        </p:txBody>
      </p:sp>
      <p:sp>
        <p:nvSpPr>
          <p:cNvPr id="11" name="Text 9"/>
          <p:cNvSpPr txBox="1"/>
          <p:nvPr/>
        </p:nvSpPr>
        <p:spPr>
          <a:xfrm>
            <a:off x="6720840" y="2286000"/>
            <a:ext cx="4480560" cy="1188720"/>
          </a:xfrm>
          <a:prstGeom prst="rect">
            <a:avLst/>
          </a:prstGeom>
          <a:noFill/>
          <a:ln/>
        </p:spPr>
        <p:txBody>
          <a:bodyPr wrap="square" lIns="0" tIns="0" rIns="0" bIns="0" rtlCol="0" anchor="ctr"/>
          <a:lstStyle/>
          <a:p>
            <a:pPr indent="0" marL="0">
              <a:lnSpc>
                <a:spcPct val="120000"/>
              </a:lnSpc>
              <a:buNone/>
            </a:pPr>
            <a:r>
              <a:rPr lang="en-US" sz="1350" dirty="0">
                <a:solidFill>
                  <a:srgbClr val="0B2027"/>
                </a:solidFill>
                <a:latin typeface="Calibri" pitchFamily="34" charset="0"/>
                <a:ea typeface="Calibri" pitchFamily="34" charset="-122"/>
                <a:cs typeface="Calibri" pitchFamily="34" charset="-120"/>
              </a:rPr>
              <a:t>Dừng lại, ghi dead-letter kèm lý do rõ ràng, để con người quyết định. Đăng ký học thuộc thẩm quyền của UniSIS và Phòng Đào tạo.</a:t>
            </a:r>
            <a:endParaRPr lang="en-US" sz="1350" dirty="0"/>
          </a:p>
        </p:txBody>
      </p:sp>
      <p:sp>
        <p:nvSpPr>
          <p:cNvPr id="12" name="Text 10"/>
          <p:cNvSpPr txBox="1"/>
          <p:nvPr/>
        </p:nvSpPr>
        <p:spPr>
          <a:xfrm>
            <a:off x="640080" y="3977640"/>
            <a:ext cx="10881360" cy="914400"/>
          </a:xfrm>
          <a:prstGeom prst="rect">
            <a:avLst/>
          </a:prstGeom>
          <a:noFill/>
          <a:ln/>
        </p:spPr>
        <p:txBody>
          <a:bodyPr wrap="square" lIns="0" tIns="0" rIns="0" bIns="0" rtlCol="0" anchor="ctr"/>
          <a:lstStyle/>
          <a:p>
            <a:pPr indent="0" marL="0">
              <a:lnSpc>
                <a:spcPct val="125000"/>
              </a:lnSpc>
              <a:buNone/>
            </a:pPr>
            <a:r>
              <a:rPr lang="en-US" sz="1600" b="1" dirty="0">
                <a:solidFill>
                  <a:srgbClr val="0B2027"/>
                </a:solidFill>
                <a:latin typeface="Calibri" pitchFamily="34" charset="0"/>
                <a:ea typeface="Calibri" pitchFamily="34" charset="-122"/>
                <a:cs typeface="Calibri" pitchFamily="34" charset="-120"/>
              </a:rPr>
              <a:t>Một sinh viên chưa đăng ký mà có điểm là dấu hiệu sai sót nghiệp vụ ở đâu đó. Việc của hệ thống tích hợp là báo cho con người biết, chứ không phải che đi.</a:t>
            </a:r>
            <a:endParaRPr lang="en-US" sz="1600" dirty="0"/>
          </a:p>
        </p:txBody>
      </p:sp>
      <p:sp>
        <p:nvSpPr>
          <p:cNvPr id="13" name="Text 11"/>
          <p:cNvSpPr txBox="1"/>
          <p:nvPr/>
        </p:nvSpPr>
        <p:spPr>
          <a:xfrm>
            <a:off x="640080" y="5074920"/>
            <a:ext cx="10881360" cy="822960"/>
          </a:xfrm>
          <a:prstGeom prst="rect">
            <a:avLst/>
          </a:prstGeom>
          <a:noFill/>
          <a:ln/>
        </p:spPr>
        <p:txBody>
          <a:bodyPr wrap="square" lIns="0" tIns="0" rIns="0" bIns="0" rtlCol="0" anchor="ctr"/>
          <a:lstStyle/>
          <a:p>
            <a:pPr indent="0" marL="0">
              <a:lnSpc>
                <a:spcPct val="125000"/>
              </a:lnSpc>
              <a:buNone/>
            </a:pPr>
            <a:r>
              <a:rPr lang="en-US" sz="1350" dirty="0">
                <a:solidFill>
                  <a:srgbClr val="5A6B70"/>
                </a:solidFill>
                <a:latin typeface="Calibri" pitchFamily="34" charset="0"/>
                <a:ea typeface="Calibri" pitchFamily="34" charset="-122"/>
                <a:cs typeface="Calibri" pitchFamily="34" charset="-120"/>
              </a:rPr>
              <a:t>Ca kiểm thử I45 kiểm chứng cả hai vế: sự kiện vào dead-letter ngay lần thử đầu, và không có lời gọi tạo đăng ký nào được phát ra.</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75488"/>
            <a:ext cx="475488" cy="475488"/>
          </a:xfrm>
          <a:prstGeom prst="roundRect">
            <a:avLst>
              <a:gd name="adj" fmla="val 23077"/>
            </a:avLst>
          </a:prstGeom>
          <a:solidFill>
            <a:srgbClr val="028090"/>
          </a:solidFill>
          <a:ln w="12700">
            <a:solidFill>
              <a:srgbClr val="028090"/>
            </a:solidFill>
            <a:prstDash val="solid"/>
          </a:ln>
        </p:spPr>
      </p:sp>
      <p:sp>
        <p:nvSpPr>
          <p:cNvPr id="3" name="Text 1"/>
          <p:cNvSpPr txBox="1"/>
          <p:nvPr/>
        </p:nvSpPr>
        <p:spPr>
          <a:xfrm>
            <a:off x="640080" y="475488"/>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16</a:t>
            </a:r>
            <a:endParaRPr lang="en-US" sz="1700" dirty="0"/>
          </a:p>
        </p:txBody>
      </p:sp>
      <p:sp>
        <p:nvSpPr>
          <p:cNvPr id="4" name="Text 2"/>
          <p:cNvSpPr txBox="1"/>
          <p:nvPr/>
        </p:nvSpPr>
        <p:spPr>
          <a:xfrm>
            <a:off x="1298448" y="457200"/>
            <a:ext cx="8686800" cy="256032"/>
          </a:xfrm>
          <a:prstGeom prst="rect">
            <a:avLst/>
          </a:prstGeom>
          <a:noFill/>
          <a:ln/>
        </p:spPr>
        <p:txBody>
          <a:bodyPr wrap="square" lIns="0" tIns="0" rIns="0" bIns="0" rtlCol="0" anchor="ctr"/>
          <a:lstStyle/>
          <a:p>
            <a:pPr indent="0" marL="0">
              <a:buNone/>
            </a:pPr>
            <a:r>
              <a:rPr lang="en-US" sz="1100" b="1" spc="160" kern="0" dirty="0">
                <a:solidFill>
                  <a:srgbClr val="02C39A"/>
                </a:solidFill>
                <a:latin typeface="Calibri" pitchFamily="34" charset="0"/>
                <a:ea typeface="Calibri" pitchFamily="34" charset="-122"/>
                <a:cs typeface="Calibri" pitchFamily="34" charset="-120"/>
              </a:rPr>
              <a:t>TRUNG THỰC VỀ GIỚI HẠN</a:t>
            </a:r>
            <a:endParaRPr lang="en-US" sz="1100" dirty="0"/>
          </a:p>
        </p:txBody>
      </p:sp>
      <p:sp>
        <p:nvSpPr>
          <p:cNvPr id="5" name="Text 3"/>
          <p:cNvSpPr txBox="1"/>
          <p:nvPr/>
        </p:nvSpPr>
        <p:spPr>
          <a:xfrm>
            <a:off x="1298448" y="694944"/>
            <a:ext cx="10424160" cy="566928"/>
          </a:xfrm>
          <a:prstGeom prst="rect">
            <a:avLst/>
          </a:prstGeom>
          <a:noFill/>
          <a:ln/>
        </p:spPr>
        <p:txBody>
          <a:bodyPr wrap="square" lIns="0" tIns="0" rIns="0" bIns="0" rtlCol="0" anchor="ctr"/>
          <a:lstStyle/>
          <a:p>
            <a:pPr indent="0" marL="0">
              <a:buNone/>
            </a:pPr>
            <a:r>
              <a:rPr lang="en-US" sz="3000" b="1" dirty="0">
                <a:solidFill>
                  <a:srgbClr val="0B2027"/>
                </a:solidFill>
                <a:latin typeface="Cambria" pitchFamily="34" charset="0"/>
                <a:ea typeface="Cambria" pitchFamily="34" charset="-122"/>
                <a:cs typeface="Cambria" pitchFamily="34" charset="-120"/>
              </a:rPr>
              <a:t>Những gì chưa làm được</a:t>
            </a:r>
            <a:endParaRPr lang="en-US" sz="3000" dirty="0"/>
          </a:p>
        </p:txBody>
      </p:sp>
      <p:sp>
        <p:nvSpPr>
          <p:cNvPr id="6" name="Shape 4"/>
          <p:cNvSpPr/>
          <p:nvPr/>
        </p:nvSpPr>
        <p:spPr>
          <a:xfrm>
            <a:off x="640080" y="1600200"/>
            <a:ext cx="10881360" cy="868680"/>
          </a:xfrm>
          <a:prstGeom prst="roundRect">
            <a:avLst>
              <a:gd name="adj" fmla="val 6316"/>
            </a:avLst>
          </a:prstGeom>
          <a:solidFill>
            <a:srgbClr val="FFFFFF"/>
          </a:solidFill>
          <a:ln w="12700">
            <a:solidFill>
              <a:srgbClr val="FFFFFF"/>
            </a:solidFill>
            <a:prstDash val="solid"/>
          </a:ln>
        </p:spPr>
      </p:sp>
      <p:sp>
        <p:nvSpPr>
          <p:cNvPr id="7" name="Text 5"/>
          <p:cNvSpPr txBox="1"/>
          <p:nvPr/>
        </p:nvSpPr>
        <p:spPr>
          <a:xfrm>
            <a:off x="914400" y="1728216"/>
            <a:ext cx="3931920" cy="548640"/>
          </a:xfrm>
          <a:prstGeom prst="rect">
            <a:avLst/>
          </a:prstGeom>
          <a:noFill/>
          <a:ln/>
        </p:spPr>
        <p:txBody>
          <a:bodyPr wrap="square" lIns="0" tIns="0" rIns="0" bIns="0" rtlCol="0" anchor="ctr"/>
          <a:lstStyle/>
          <a:p>
            <a:pPr indent="0" marL="0">
              <a:lnSpc>
                <a:spcPct val="110000"/>
              </a:lnSpc>
              <a:buNone/>
            </a:pPr>
            <a:r>
              <a:rPr lang="en-US" sz="1350" b="1" dirty="0">
                <a:solidFill>
                  <a:srgbClr val="0B2027"/>
                </a:solidFill>
                <a:latin typeface="Calibri" pitchFamily="34" charset="0"/>
                <a:ea typeface="Calibri" pitchFamily="34" charset="-122"/>
                <a:cs typeface="Calibri" pitchFamily="34" charset="-120"/>
              </a:rPr>
              <a:t>Chưa có cảnh báo tự động</a:t>
            </a:r>
            <a:endParaRPr lang="en-US" sz="1350" dirty="0"/>
          </a:p>
        </p:txBody>
      </p:sp>
      <p:sp>
        <p:nvSpPr>
          <p:cNvPr id="8" name="Text 6"/>
          <p:cNvSpPr txBox="1"/>
          <p:nvPr/>
        </p:nvSpPr>
        <p:spPr>
          <a:xfrm>
            <a:off x="5120640" y="1728216"/>
            <a:ext cx="6126480" cy="594360"/>
          </a:xfrm>
          <a:prstGeom prst="rect">
            <a:avLst/>
          </a:prstGeom>
          <a:noFill/>
          <a:ln/>
        </p:spPr>
        <p:txBody>
          <a:bodyPr wrap="square" lIns="0" tIns="0" rIns="0" bIns="0" rtlCol="0" anchor="ctr"/>
          <a:lstStyle/>
          <a:p>
            <a:pPr indent="0" marL="0">
              <a:lnSpc>
                <a:spcPct val="115000"/>
              </a:lnSpc>
              <a:buNone/>
            </a:pPr>
            <a:r>
              <a:rPr lang="en-US" sz="1250" dirty="0">
                <a:solidFill>
                  <a:srgbClr val="5A6B70"/>
                </a:solidFill>
                <a:latin typeface="Calibri" pitchFamily="34" charset="0"/>
                <a:ea typeface="Calibri" pitchFamily="34" charset="-122"/>
                <a:cs typeface="Calibri" pitchFamily="34" charset="-120"/>
              </a:rPr>
              <a:t>Số lượng dead-letter và độ tồn đọng inbox hiện phải xem thủ công</a:t>
            </a:r>
            <a:endParaRPr lang="en-US" sz="1250" dirty="0"/>
          </a:p>
        </p:txBody>
      </p:sp>
      <p:sp>
        <p:nvSpPr>
          <p:cNvPr id="9" name="Shape 7"/>
          <p:cNvSpPr/>
          <p:nvPr/>
        </p:nvSpPr>
        <p:spPr>
          <a:xfrm>
            <a:off x="640080" y="2624328"/>
            <a:ext cx="10881360" cy="868680"/>
          </a:xfrm>
          <a:prstGeom prst="roundRect">
            <a:avLst>
              <a:gd name="adj" fmla="val 6316"/>
            </a:avLst>
          </a:prstGeom>
          <a:solidFill>
            <a:srgbClr val="F2F6F6"/>
          </a:solidFill>
          <a:ln w="12700">
            <a:solidFill>
              <a:srgbClr val="F2F6F6"/>
            </a:solidFill>
            <a:prstDash val="solid"/>
          </a:ln>
        </p:spPr>
      </p:sp>
      <p:sp>
        <p:nvSpPr>
          <p:cNvPr id="10" name="Text 8"/>
          <p:cNvSpPr txBox="1"/>
          <p:nvPr/>
        </p:nvSpPr>
        <p:spPr>
          <a:xfrm>
            <a:off x="914400" y="2752344"/>
            <a:ext cx="3931920" cy="548640"/>
          </a:xfrm>
          <a:prstGeom prst="rect">
            <a:avLst/>
          </a:prstGeom>
          <a:noFill/>
          <a:ln/>
        </p:spPr>
        <p:txBody>
          <a:bodyPr wrap="square" lIns="0" tIns="0" rIns="0" bIns="0" rtlCol="0" anchor="ctr"/>
          <a:lstStyle/>
          <a:p>
            <a:pPr indent="0" marL="0">
              <a:lnSpc>
                <a:spcPct val="110000"/>
              </a:lnSpc>
              <a:buNone/>
            </a:pPr>
            <a:r>
              <a:rPr lang="en-US" sz="1350" b="1" dirty="0">
                <a:solidFill>
                  <a:srgbClr val="0B2027"/>
                </a:solidFill>
                <a:latin typeface="Calibri" pitchFamily="34" charset="0"/>
                <a:ea typeface="Calibri" pitchFamily="34" charset="-122"/>
                <a:cs typeface="Calibri" pitchFamily="34" charset="-120"/>
              </a:rPr>
              <a:t>Webhook chưa xác thực chữ ký</a:t>
            </a:r>
            <a:endParaRPr lang="en-US" sz="1350" dirty="0"/>
          </a:p>
        </p:txBody>
      </p:sp>
      <p:sp>
        <p:nvSpPr>
          <p:cNvPr id="11" name="Text 9"/>
          <p:cNvSpPr txBox="1"/>
          <p:nvPr/>
        </p:nvSpPr>
        <p:spPr>
          <a:xfrm>
            <a:off x="5120640" y="2752344"/>
            <a:ext cx="6126480" cy="594360"/>
          </a:xfrm>
          <a:prstGeom prst="rect">
            <a:avLst/>
          </a:prstGeom>
          <a:noFill/>
          <a:ln/>
        </p:spPr>
        <p:txBody>
          <a:bodyPr wrap="square" lIns="0" tIns="0" rIns="0" bIns="0" rtlCol="0" anchor="ctr"/>
          <a:lstStyle/>
          <a:p>
            <a:pPr indent="0" marL="0">
              <a:lnSpc>
                <a:spcPct val="115000"/>
              </a:lnSpc>
              <a:buNone/>
            </a:pPr>
            <a:r>
              <a:rPr lang="en-US" sz="1250" dirty="0">
                <a:solidFill>
                  <a:srgbClr val="5A6B70"/>
                </a:solidFill>
                <a:latin typeface="Calibri" pitchFamily="34" charset="0"/>
                <a:ea typeface="Calibri" pitchFamily="34" charset="-122"/>
                <a:cs typeface="Calibri" pitchFamily="34" charset="-120"/>
              </a:rPr>
              <a:t>Bản lab tin tưởng mọi lời gọi đến; môi trường thật bắt buộc phải có</a:t>
            </a:r>
            <a:endParaRPr lang="en-US" sz="1250" dirty="0"/>
          </a:p>
        </p:txBody>
      </p:sp>
      <p:sp>
        <p:nvSpPr>
          <p:cNvPr id="12" name="Shape 10"/>
          <p:cNvSpPr/>
          <p:nvPr/>
        </p:nvSpPr>
        <p:spPr>
          <a:xfrm>
            <a:off x="640080" y="3648456"/>
            <a:ext cx="10881360" cy="868680"/>
          </a:xfrm>
          <a:prstGeom prst="roundRect">
            <a:avLst>
              <a:gd name="adj" fmla="val 6316"/>
            </a:avLst>
          </a:prstGeom>
          <a:solidFill>
            <a:srgbClr val="FFFFFF"/>
          </a:solidFill>
          <a:ln w="12700">
            <a:solidFill>
              <a:srgbClr val="FFFFFF"/>
            </a:solidFill>
            <a:prstDash val="solid"/>
          </a:ln>
        </p:spPr>
      </p:sp>
      <p:sp>
        <p:nvSpPr>
          <p:cNvPr id="13" name="Text 11"/>
          <p:cNvSpPr txBox="1"/>
          <p:nvPr/>
        </p:nvSpPr>
        <p:spPr>
          <a:xfrm>
            <a:off x="914400" y="3776472"/>
            <a:ext cx="3931920" cy="548640"/>
          </a:xfrm>
          <a:prstGeom prst="rect">
            <a:avLst/>
          </a:prstGeom>
          <a:noFill/>
          <a:ln/>
        </p:spPr>
        <p:txBody>
          <a:bodyPr wrap="square" lIns="0" tIns="0" rIns="0" bIns="0" rtlCol="0" anchor="ctr"/>
          <a:lstStyle/>
          <a:p>
            <a:pPr indent="0" marL="0">
              <a:lnSpc>
                <a:spcPct val="110000"/>
              </a:lnSpc>
              <a:buNone/>
            </a:pPr>
            <a:r>
              <a:rPr lang="en-US" sz="1350" b="1" dirty="0">
                <a:solidFill>
                  <a:srgbClr val="0B2027"/>
                </a:solidFill>
                <a:latin typeface="Calibri" pitchFamily="34" charset="0"/>
                <a:ea typeface="Calibri" pitchFamily="34" charset="-122"/>
                <a:cs typeface="Calibri" pitchFamily="34" charset="-120"/>
              </a:rPr>
              <a:t>Học kỳ chỉ đặt được một lần</a:t>
            </a:r>
            <a:endParaRPr lang="en-US" sz="1350" dirty="0"/>
          </a:p>
        </p:txBody>
      </p:sp>
      <p:sp>
        <p:nvSpPr>
          <p:cNvPr id="14" name="Text 12"/>
          <p:cNvSpPr txBox="1"/>
          <p:nvPr/>
        </p:nvSpPr>
        <p:spPr>
          <a:xfrm>
            <a:off x="5120640" y="3776472"/>
            <a:ext cx="6126480" cy="594360"/>
          </a:xfrm>
          <a:prstGeom prst="rect">
            <a:avLst/>
          </a:prstGeom>
          <a:noFill/>
          <a:ln/>
        </p:spPr>
        <p:txBody>
          <a:bodyPr wrap="square" lIns="0" tIns="0" rIns="0" bIns="0" rtlCol="0" anchor="ctr"/>
          <a:lstStyle/>
          <a:p>
            <a:pPr indent="0" marL="0">
              <a:lnSpc>
                <a:spcPct val="115000"/>
              </a:lnSpc>
              <a:buNone/>
            </a:pPr>
            <a:r>
              <a:rPr lang="en-US" sz="1250" dirty="0">
                <a:solidFill>
                  <a:srgbClr val="5A6B70"/>
                </a:solidFill>
                <a:latin typeface="Calibri" pitchFamily="34" charset="0"/>
                <a:ea typeface="Calibri" pitchFamily="34" charset="-122"/>
                <a:cs typeface="Calibri" pitchFamily="34" charset="-120"/>
              </a:rPr>
              <a:t>Giới hạn của API đích — thao tác cập nhật Course không nhận trường term</a:t>
            </a:r>
            <a:endParaRPr lang="en-US" sz="1250" dirty="0"/>
          </a:p>
        </p:txBody>
      </p:sp>
      <p:sp>
        <p:nvSpPr>
          <p:cNvPr id="15" name="Shape 13"/>
          <p:cNvSpPr/>
          <p:nvPr/>
        </p:nvSpPr>
        <p:spPr>
          <a:xfrm>
            <a:off x="640080" y="4672584"/>
            <a:ext cx="10881360" cy="868680"/>
          </a:xfrm>
          <a:prstGeom prst="roundRect">
            <a:avLst>
              <a:gd name="adj" fmla="val 6316"/>
            </a:avLst>
          </a:prstGeom>
          <a:solidFill>
            <a:srgbClr val="F2F6F6"/>
          </a:solidFill>
          <a:ln w="12700">
            <a:solidFill>
              <a:srgbClr val="F2F6F6"/>
            </a:solidFill>
            <a:prstDash val="solid"/>
          </a:ln>
        </p:spPr>
      </p:sp>
      <p:sp>
        <p:nvSpPr>
          <p:cNvPr id="16" name="Text 14"/>
          <p:cNvSpPr txBox="1"/>
          <p:nvPr/>
        </p:nvSpPr>
        <p:spPr>
          <a:xfrm>
            <a:off x="914400" y="4800600"/>
            <a:ext cx="3931920" cy="548640"/>
          </a:xfrm>
          <a:prstGeom prst="rect">
            <a:avLst/>
          </a:prstGeom>
          <a:noFill/>
          <a:ln/>
        </p:spPr>
        <p:txBody>
          <a:bodyPr wrap="square" lIns="0" tIns="0" rIns="0" bIns="0" rtlCol="0" anchor="ctr"/>
          <a:lstStyle/>
          <a:p>
            <a:pPr indent="0" marL="0">
              <a:lnSpc>
                <a:spcPct val="110000"/>
              </a:lnSpc>
              <a:buNone/>
            </a:pPr>
            <a:r>
              <a:rPr lang="en-US" sz="1350" b="1" dirty="0">
                <a:solidFill>
                  <a:srgbClr val="0B2027"/>
                </a:solidFill>
                <a:latin typeface="Calibri" pitchFamily="34" charset="0"/>
                <a:ea typeface="Calibri" pitchFamily="34" charset="-122"/>
                <a:cs typeface="Calibri" pitchFamily="34" charset="-120"/>
              </a:rPr>
              <a:t>H2 không có SKIP LOCKED</a:t>
            </a:r>
            <a:endParaRPr lang="en-US" sz="1350" dirty="0"/>
          </a:p>
        </p:txBody>
      </p:sp>
      <p:sp>
        <p:nvSpPr>
          <p:cNvPr id="17" name="Text 15"/>
          <p:cNvSpPr txBox="1"/>
          <p:nvPr/>
        </p:nvSpPr>
        <p:spPr>
          <a:xfrm>
            <a:off x="5120640" y="4800600"/>
            <a:ext cx="6126480" cy="594360"/>
          </a:xfrm>
          <a:prstGeom prst="rect">
            <a:avLst/>
          </a:prstGeom>
          <a:noFill/>
          <a:ln/>
        </p:spPr>
        <p:txBody>
          <a:bodyPr wrap="square" lIns="0" tIns="0" rIns="0" bIns="0" rtlCol="0" anchor="ctr"/>
          <a:lstStyle/>
          <a:p>
            <a:pPr indent="0" marL="0">
              <a:lnSpc>
                <a:spcPct val="115000"/>
              </a:lnSpc>
              <a:buNone/>
            </a:pPr>
            <a:r>
              <a:rPr lang="en-US" sz="1250" dirty="0">
                <a:solidFill>
                  <a:srgbClr val="5A6B70"/>
                </a:solidFill>
                <a:latin typeface="Calibri" pitchFamily="34" charset="0"/>
                <a:ea typeface="Calibri" pitchFamily="34" charset="-122"/>
                <a:cs typeface="Calibri" pitchFamily="34" charset="-120"/>
              </a:rPr>
              <a:t>Cách giành việc hiện tại đúng nhưng kém hiệu quả khi chạy nhiều bản sao</a:t>
            </a:r>
            <a:endParaRPr lang="en-US" sz="1250" dirty="0"/>
          </a:p>
        </p:txBody>
      </p:sp>
      <p:sp>
        <p:nvSpPr>
          <p:cNvPr id="18" name="Text 16"/>
          <p:cNvSpPr txBox="1"/>
          <p:nvPr/>
        </p:nvSpPr>
        <p:spPr>
          <a:xfrm>
            <a:off x="640080" y="5806440"/>
            <a:ext cx="10881360" cy="548640"/>
          </a:xfrm>
          <a:prstGeom prst="rect">
            <a:avLst/>
          </a:prstGeom>
          <a:noFill/>
          <a:ln/>
        </p:spPr>
        <p:txBody>
          <a:bodyPr wrap="square" lIns="0" tIns="0" rIns="0" bIns="0" rtlCol="0" anchor="ctr"/>
          <a:lstStyle/>
          <a:p>
            <a:pPr indent="0" marL="0">
              <a:lnSpc>
                <a:spcPct val="125000"/>
              </a:lnSpc>
              <a:buNone/>
            </a:pPr>
            <a:r>
              <a:rPr lang="en-US" sz="1400" b="1" i="1" dirty="0">
                <a:solidFill>
                  <a:srgbClr val="028090"/>
                </a:solidFill>
                <a:latin typeface="Calibri" pitchFamily="34" charset="0"/>
                <a:ea typeface="Calibri" pitchFamily="34" charset="-122"/>
                <a:cs typeface="Calibri" pitchFamily="34" charset="-120"/>
              </a:rPr>
              <a:t>Viết rõ giới hạn tốt hơn khẳng định tuyệt đối rồi bị hỏi ngược.</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2027"/>
        </a:solidFill>
      </p:bgPr>
    </p:bg>
    <p:spTree>
      <p:nvGrpSpPr>
        <p:cNvPr id="1" name=""/>
        <p:cNvGrpSpPr/>
        <p:nvPr/>
      </p:nvGrpSpPr>
      <p:grpSpPr>
        <a:xfrm>
          <a:off x="0" y="0"/>
          <a:ext cx="0" cy="0"/>
          <a:chOff x="0" y="0"/>
          <a:chExt cx="0" cy="0"/>
        </a:xfrm>
      </p:grpSpPr>
      <p:sp>
        <p:nvSpPr>
          <p:cNvPr id="2" name="Text 0"/>
          <p:cNvSpPr txBox="1"/>
          <p:nvPr/>
        </p:nvSpPr>
        <p:spPr>
          <a:xfrm>
            <a:off x="640080" y="603504"/>
            <a:ext cx="9144000" cy="274320"/>
          </a:xfrm>
          <a:prstGeom prst="rect">
            <a:avLst/>
          </a:prstGeom>
          <a:noFill/>
          <a:ln/>
        </p:spPr>
        <p:txBody>
          <a:bodyPr wrap="square" lIns="0" tIns="0" rIns="0" bIns="0" rtlCol="0" anchor="ctr"/>
          <a:lstStyle/>
          <a:p>
            <a:pPr indent="0" marL="0">
              <a:buNone/>
            </a:pPr>
            <a:r>
              <a:rPr lang="en-US" sz="1200" b="1" spc="180" kern="0" dirty="0">
                <a:solidFill>
                  <a:srgbClr val="02C39A"/>
                </a:solidFill>
                <a:latin typeface="Calibri" pitchFamily="34" charset="0"/>
                <a:ea typeface="Calibri" pitchFamily="34" charset="-122"/>
                <a:cs typeface="Calibri" pitchFamily="34" charset="-120"/>
              </a:rPr>
              <a:t>KẾT LUẬN</a:t>
            </a:r>
            <a:endParaRPr lang="en-US" sz="1200" dirty="0"/>
          </a:p>
        </p:txBody>
      </p:sp>
      <p:sp>
        <p:nvSpPr>
          <p:cNvPr id="3" name="Text 1"/>
          <p:cNvSpPr txBox="1"/>
          <p:nvPr/>
        </p:nvSpPr>
        <p:spPr>
          <a:xfrm>
            <a:off x="640080" y="914400"/>
            <a:ext cx="1088136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Kiến trúc đúng làm nhiều yêu cầu tự biến mất</a:t>
            </a:r>
            <a:endParaRPr lang="en-US" sz="3200" dirty="0"/>
          </a:p>
        </p:txBody>
      </p:sp>
      <p:sp>
        <p:nvSpPr>
          <p:cNvPr id="4" name="Shape 2"/>
          <p:cNvSpPr/>
          <p:nvPr/>
        </p:nvSpPr>
        <p:spPr>
          <a:xfrm>
            <a:off x="640080" y="1965960"/>
            <a:ext cx="2514600" cy="1371600"/>
          </a:xfrm>
          <a:prstGeom prst="roundRect">
            <a:avLst>
              <a:gd name="adj" fmla="val 4000"/>
            </a:avLst>
          </a:prstGeom>
          <a:solidFill>
            <a:srgbClr val="12303A"/>
          </a:solidFill>
          <a:ln w="12700">
            <a:solidFill>
              <a:srgbClr val="12303A"/>
            </a:solidFill>
            <a:prstDash val="solid"/>
          </a:ln>
        </p:spPr>
      </p:sp>
      <p:sp>
        <p:nvSpPr>
          <p:cNvPr id="5" name="Text 3"/>
          <p:cNvSpPr txBox="1"/>
          <p:nvPr/>
        </p:nvSpPr>
        <p:spPr>
          <a:xfrm>
            <a:off x="640080" y="2148840"/>
            <a:ext cx="2514600" cy="548640"/>
          </a:xfrm>
          <a:prstGeom prst="rect">
            <a:avLst/>
          </a:prstGeom>
          <a:noFill/>
          <a:ln/>
        </p:spPr>
        <p:txBody>
          <a:bodyPr wrap="square" lIns="0" tIns="0" rIns="0" bIns="0" rtlCol="0" anchor="ctr"/>
          <a:lstStyle/>
          <a:p>
            <a:pPr algn="ctr" indent="0" marL="0">
              <a:lnSpc>
                <a:spcPct val="125000"/>
              </a:lnSpc>
              <a:buNone/>
            </a:pPr>
            <a:r>
              <a:rPr lang="en-US" sz="3000" b="1" dirty="0">
                <a:solidFill>
                  <a:srgbClr val="02C39A"/>
                </a:solidFill>
                <a:latin typeface="Cambria" pitchFamily="34" charset="0"/>
                <a:ea typeface="Cambria" pitchFamily="34" charset="-122"/>
                <a:cs typeface="Cambria" pitchFamily="34" charset="-120"/>
              </a:rPr>
              <a:t>8/8</a:t>
            </a:r>
            <a:endParaRPr lang="en-US" sz="3000" dirty="0"/>
          </a:p>
        </p:txBody>
      </p:sp>
      <p:sp>
        <p:nvSpPr>
          <p:cNvPr id="6" name="Text 4"/>
          <p:cNvSpPr txBox="1"/>
          <p:nvPr/>
        </p:nvSpPr>
        <p:spPr>
          <a:xfrm>
            <a:off x="640080" y="2788920"/>
            <a:ext cx="2514600" cy="365760"/>
          </a:xfrm>
          <a:prstGeom prst="rect">
            <a:avLst/>
          </a:prstGeom>
          <a:noFill/>
          <a:ln/>
        </p:spPr>
        <p:txBody>
          <a:bodyPr wrap="square" lIns="0" tIns="0" rIns="0" bIns="0" rtlCol="0" anchor="ctr"/>
          <a:lstStyle/>
          <a:p>
            <a:pPr algn="ctr" indent="0" marL="0">
              <a:lnSpc>
                <a:spcPct val="125000"/>
              </a:lnSpc>
              <a:buNone/>
            </a:pPr>
            <a:r>
              <a:rPr lang="en-US" sz="1200" dirty="0">
                <a:solidFill>
                  <a:srgbClr val="8FA9AE"/>
                </a:solidFill>
                <a:latin typeface="Calibri" pitchFamily="34" charset="0"/>
                <a:ea typeface="Calibri" pitchFamily="34" charset="-122"/>
                <a:cs typeface="Calibri" pitchFamily="34" charset="-120"/>
              </a:rPr>
              <a:t>yêu cầu tích hợp</a:t>
            </a:r>
            <a:endParaRPr lang="en-US" sz="1200" dirty="0"/>
          </a:p>
        </p:txBody>
      </p:sp>
      <p:sp>
        <p:nvSpPr>
          <p:cNvPr id="7" name="Shape 5"/>
          <p:cNvSpPr/>
          <p:nvPr/>
        </p:nvSpPr>
        <p:spPr>
          <a:xfrm>
            <a:off x="3429000" y="1965960"/>
            <a:ext cx="2514600" cy="1371600"/>
          </a:xfrm>
          <a:prstGeom prst="roundRect">
            <a:avLst>
              <a:gd name="adj" fmla="val 4000"/>
            </a:avLst>
          </a:prstGeom>
          <a:solidFill>
            <a:srgbClr val="12303A"/>
          </a:solidFill>
          <a:ln w="12700">
            <a:solidFill>
              <a:srgbClr val="12303A"/>
            </a:solidFill>
            <a:prstDash val="solid"/>
          </a:ln>
        </p:spPr>
      </p:sp>
      <p:sp>
        <p:nvSpPr>
          <p:cNvPr id="8" name="Text 6"/>
          <p:cNvSpPr txBox="1"/>
          <p:nvPr/>
        </p:nvSpPr>
        <p:spPr>
          <a:xfrm>
            <a:off x="3429000" y="2148840"/>
            <a:ext cx="2514600" cy="548640"/>
          </a:xfrm>
          <a:prstGeom prst="rect">
            <a:avLst/>
          </a:prstGeom>
          <a:noFill/>
          <a:ln/>
        </p:spPr>
        <p:txBody>
          <a:bodyPr wrap="square" lIns="0" tIns="0" rIns="0" bIns="0" rtlCol="0" anchor="ctr"/>
          <a:lstStyle/>
          <a:p>
            <a:pPr algn="ctr" indent="0" marL="0">
              <a:lnSpc>
                <a:spcPct val="125000"/>
              </a:lnSpc>
              <a:buNone/>
            </a:pPr>
            <a:r>
              <a:rPr lang="en-US" sz="3000" b="1" dirty="0">
                <a:solidFill>
                  <a:srgbClr val="02C39A"/>
                </a:solidFill>
                <a:latin typeface="Cambria" pitchFamily="34" charset="0"/>
                <a:ea typeface="Cambria" pitchFamily="34" charset="-122"/>
                <a:cs typeface="Cambria" pitchFamily="34" charset="-120"/>
              </a:rPr>
              <a:t>12/12</a:t>
            </a:r>
            <a:endParaRPr lang="en-US" sz="3000" dirty="0"/>
          </a:p>
        </p:txBody>
      </p:sp>
      <p:sp>
        <p:nvSpPr>
          <p:cNvPr id="9" name="Text 7"/>
          <p:cNvSpPr txBox="1"/>
          <p:nvPr/>
        </p:nvSpPr>
        <p:spPr>
          <a:xfrm>
            <a:off x="3429000" y="2788920"/>
            <a:ext cx="2514600" cy="365760"/>
          </a:xfrm>
          <a:prstGeom prst="rect">
            <a:avLst/>
          </a:prstGeom>
          <a:noFill/>
          <a:ln/>
        </p:spPr>
        <p:txBody>
          <a:bodyPr wrap="square" lIns="0" tIns="0" rIns="0" bIns="0" rtlCol="0" anchor="ctr"/>
          <a:lstStyle/>
          <a:p>
            <a:pPr algn="ctr" indent="0" marL="0">
              <a:lnSpc>
                <a:spcPct val="125000"/>
              </a:lnSpc>
              <a:buNone/>
            </a:pPr>
            <a:r>
              <a:rPr lang="en-US" sz="1200" dirty="0">
                <a:solidFill>
                  <a:srgbClr val="8FA9AE"/>
                </a:solidFill>
                <a:latin typeface="Calibri" pitchFamily="34" charset="0"/>
                <a:ea typeface="Calibri" pitchFamily="34" charset="-122"/>
                <a:cs typeface="Calibri" pitchFamily="34" charset="-120"/>
              </a:rPr>
              <a:t>yêu cầu phi chức năng</a:t>
            </a:r>
            <a:endParaRPr lang="en-US" sz="1200" dirty="0"/>
          </a:p>
        </p:txBody>
      </p:sp>
      <p:sp>
        <p:nvSpPr>
          <p:cNvPr id="10" name="Shape 8"/>
          <p:cNvSpPr/>
          <p:nvPr/>
        </p:nvSpPr>
        <p:spPr>
          <a:xfrm>
            <a:off x="6217920" y="1965960"/>
            <a:ext cx="2514600" cy="1371600"/>
          </a:xfrm>
          <a:prstGeom prst="roundRect">
            <a:avLst>
              <a:gd name="adj" fmla="val 4000"/>
            </a:avLst>
          </a:prstGeom>
          <a:solidFill>
            <a:srgbClr val="12303A"/>
          </a:solidFill>
          <a:ln w="12700">
            <a:solidFill>
              <a:srgbClr val="12303A"/>
            </a:solidFill>
            <a:prstDash val="solid"/>
          </a:ln>
        </p:spPr>
      </p:sp>
      <p:sp>
        <p:nvSpPr>
          <p:cNvPr id="11" name="Text 9"/>
          <p:cNvSpPr txBox="1"/>
          <p:nvPr/>
        </p:nvSpPr>
        <p:spPr>
          <a:xfrm>
            <a:off x="6217920" y="2148840"/>
            <a:ext cx="2514600" cy="548640"/>
          </a:xfrm>
          <a:prstGeom prst="rect">
            <a:avLst/>
          </a:prstGeom>
          <a:noFill/>
          <a:ln/>
        </p:spPr>
        <p:txBody>
          <a:bodyPr wrap="square" lIns="0" tIns="0" rIns="0" bIns="0" rtlCol="0" anchor="ctr"/>
          <a:lstStyle/>
          <a:p>
            <a:pPr algn="ctr" indent="0" marL="0">
              <a:lnSpc>
                <a:spcPct val="125000"/>
              </a:lnSpc>
              <a:buNone/>
            </a:pPr>
            <a:r>
              <a:rPr lang="en-US" sz="3000" b="1" dirty="0">
                <a:solidFill>
                  <a:srgbClr val="02C39A"/>
                </a:solidFill>
                <a:latin typeface="Cambria" pitchFamily="34" charset="0"/>
                <a:ea typeface="Cambria" pitchFamily="34" charset="-122"/>
                <a:cs typeface="Cambria" pitchFamily="34" charset="-120"/>
              </a:rPr>
              <a:t>84/84</a:t>
            </a:r>
            <a:endParaRPr lang="en-US" sz="3000" dirty="0"/>
          </a:p>
        </p:txBody>
      </p:sp>
      <p:sp>
        <p:nvSpPr>
          <p:cNvPr id="12" name="Text 10"/>
          <p:cNvSpPr txBox="1"/>
          <p:nvPr/>
        </p:nvSpPr>
        <p:spPr>
          <a:xfrm>
            <a:off x="6217920" y="2788920"/>
            <a:ext cx="2514600" cy="365760"/>
          </a:xfrm>
          <a:prstGeom prst="rect">
            <a:avLst/>
          </a:prstGeom>
          <a:noFill/>
          <a:ln/>
        </p:spPr>
        <p:txBody>
          <a:bodyPr wrap="square" lIns="0" tIns="0" rIns="0" bIns="0" rtlCol="0" anchor="ctr"/>
          <a:lstStyle/>
          <a:p>
            <a:pPr algn="ctr" indent="0" marL="0">
              <a:lnSpc>
                <a:spcPct val="125000"/>
              </a:lnSpc>
              <a:buNone/>
            </a:pPr>
            <a:r>
              <a:rPr lang="en-US" sz="1200" dirty="0">
                <a:solidFill>
                  <a:srgbClr val="8FA9AE"/>
                </a:solidFill>
                <a:latin typeface="Calibri" pitchFamily="34" charset="0"/>
                <a:ea typeface="Calibri" pitchFamily="34" charset="-122"/>
                <a:cs typeface="Calibri" pitchFamily="34" charset="-120"/>
              </a:rPr>
              <a:t>ca kiểm thử</a:t>
            </a:r>
            <a:endParaRPr lang="en-US" sz="1200" dirty="0"/>
          </a:p>
        </p:txBody>
      </p:sp>
      <p:sp>
        <p:nvSpPr>
          <p:cNvPr id="13" name="Shape 11"/>
          <p:cNvSpPr/>
          <p:nvPr/>
        </p:nvSpPr>
        <p:spPr>
          <a:xfrm>
            <a:off x="9006840" y="1965960"/>
            <a:ext cx="2514600" cy="1371600"/>
          </a:xfrm>
          <a:prstGeom prst="roundRect">
            <a:avLst>
              <a:gd name="adj" fmla="val 4000"/>
            </a:avLst>
          </a:prstGeom>
          <a:solidFill>
            <a:srgbClr val="12303A"/>
          </a:solidFill>
          <a:ln w="12700">
            <a:solidFill>
              <a:srgbClr val="12303A"/>
            </a:solidFill>
            <a:prstDash val="solid"/>
          </a:ln>
        </p:spPr>
      </p:sp>
      <p:sp>
        <p:nvSpPr>
          <p:cNvPr id="14" name="Text 12"/>
          <p:cNvSpPr txBox="1"/>
          <p:nvPr/>
        </p:nvSpPr>
        <p:spPr>
          <a:xfrm>
            <a:off x="9006840" y="2148840"/>
            <a:ext cx="2514600" cy="548640"/>
          </a:xfrm>
          <a:prstGeom prst="rect">
            <a:avLst/>
          </a:prstGeom>
          <a:noFill/>
          <a:ln/>
        </p:spPr>
        <p:txBody>
          <a:bodyPr wrap="square" lIns="0" tIns="0" rIns="0" bIns="0" rtlCol="0" anchor="ctr"/>
          <a:lstStyle/>
          <a:p>
            <a:pPr algn="ctr" indent="0" marL="0">
              <a:lnSpc>
                <a:spcPct val="125000"/>
              </a:lnSpc>
              <a:buNone/>
            </a:pPr>
            <a:r>
              <a:rPr lang="en-US" sz="3000" b="1" dirty="0">
                <a:solidFill>
                  <a:srgbClr val="02C39A"/>
                </a:solidFill>
                <a:latin typeface="Cambria" pitchFamily="34" charset="0"/>
                <a:ea typeface="Cambria" pitchFamily="34" charset="-122"/>
                <a:cs typeface="Cambria" pitchFamily="34" charset="-120"/>
              </a:rPr>
              <a:t>12/12</a:t>
            </a:r>
            <a:endParaRPr lang="en-US" sz="3000" dirty="0"/>
          </a:p>
        </p:txBody>
      </p:sp>
      <p:sp>
        <p:nvSpPr>
          <p:cNvPr id="15" name="Text 13"/>
          <p:cNvSpPr txBox="1"/>
          <p:nvPr/>
        </p:nvSpPr>
        <p:spPr>
          <a:xfrm>
            <a:off x="9006840" y="2788920"/>
            <a:ext cx="2514600" cy="365760"/>
          </a:xfrm>
          <a:prstGeom prst="rect">
            <a:avLst/>
          </a:prstGeom>
          <a:noFill/>
          <a:ln/>
        </p:spPr>
        <p:txBody>
          <a:bodyPr wrap="square" lIns="0" tIns="0" rIns="0" bIns="0" rtlCol="0" anchor="ctr"/>
          <a:lstStyle/>
          <a:p>
            <a:pPr algn="ctr" indent="0" marL="0">
              <a:lnSpc>
                <a:spcPct val="125000"/>
              </a:lnSpc>
              <a:buNone/>
            </a:pPr>
            <a:r>
              <a:rPr lang="en-US" sz="1200" dirty="0">
                <a:solidFill>
                  <a:srgbClr val="8FA9AE"/>
                </a:solidFill>
                <a:latin typeface="Calibri" pitchFamily="34" charset="0"/>
                <a:ea typeface="Calibri" pitchFamily="34" charset="-122"/>
                <a:cs typeface="Calibri" pitchFamily="34" charset="-120"/>
              </a:rPr>
              <a:t>kịch bản chạy thật</a:t>
            </a:r>
            <a:endParaRPr lang="en-US" sz="1200" dirty="0"/>
          </a:p>
        </p:txBody>
      </p:sp>
      <p:sp>
        <p:nvSpPr>
          <p:cNvPr id="16" name="Text 14"/>
          <p:cNvSpPr txBox="1"/>
          <p:nvPr/>
        </p:nvSpPr>
        <p:spPr>
          <a:xfrm>
            <a:off x="640080" y="3703320"/>
            <a:ext cx="10881360" cy="914400"/>
          </a:xfrm>
          <a:prstGeom prst="rect">
            <a:avLst/>
          </a:prstGeom>
          <a:noFill/>
          <a:ln/>
        </p:spPr>
        <p:txBody>
          <a:bodyPr wrap="square" lIns="0" tIns="0" rIns="0" bIns="0" rtlCol="0" anchor="ctr"/>
          <a:lstStyle/>
          <a:p>
            <a:pPr indent="0" marL="0">
              <a:lnSpc>
                <a:spcPct val="125000"/>
              </a:lnSpc>
              <a:buNone/>
            </a:pPr>
            <a:r>
              <a:rPr lang="en-US" sz="1500" dirty="0">
                <a:solidFill>
                  <a:srgbClr val="CFE7E4"/>
                </a:solidFill>
                <a:latin typeface="Calibri" pitchFamily="34" charset="0"/>
                <a:ea typeface="Calibri" pitchFamily="34" charset="-122"/>
                <a:cs typeface="Calibri" pitchFamily="34" charset="-120"/>
              </a:rPr>
              <a:t>Tám yêu cầu tích hợp chỉ cần năm hàm. Hai yêu cầu nâng cao không cần thêm dòng mã nào. Chống trùng, chịu sự kiện sai thứ tự và tự khôi phục phụ thuộc đều là hệ quả tự nhiên của việc hội tụ trạng thái.</a:t>
            </a:r>
            <a:endParaRPr lang="en-US" sz="1500" dirty="0"/>
          </a:p>
        </p:txBody>
      </p:sp>
      <p:sp>
        <p:nvSpPr>
          <p:cNvPr id="17" name="Shape 15"/>
          <p:cNvSpPr/>
          <p:nvPr/>
        </p:nvSpPr>
        <p:spPr>
          <a:xfrm>
            <a:off x="640080" y="4846320"/>
            <a:ext cx="10881360" cy="1143000"/>
          </a:xfrm>
          <a:prstGeom prst="roundRect">
            <a:avLst>
              <a:gd name="adj" fmla="val 4800"/>
            </a:avLst>
          </a:prstGeom>
          <a:solidFill>
            <a:srgbClr val="12303A"/>
          </a:solidFill>
          <a:ln w="12700">
            <a:solidFill>
              <a:srgbClr val="12303A"/>
            </a:solidFill>
            <a:prstDash val="solid"/>
          </a:ln>
        </p:spPr>
      </p:sp>
      <p:sp>
        <p:nvSpPr>
          <p:cNvPr id="18" name="Text 16"/>
          <p:cNvSpPr txBox="1"/>
          <p:nvPr/>
        </p:nvSpPr>
        <p:spPr>
          <a:xfrm>
            <a:off x="1005840" y="5029200"/>
            <a:ext cx="10149840" cy="320040"/>
          </a:xfrm>
          <a:prstGeom prst="rect">
            <a:avLst/>
          </a:prstGeom>
          <a:noFill/>
          <a:ln/>
        </p:spPr>
        <p:txBody>
          <a:bodyPr wrap="square" lIns="0" tIns="0" rIns="0" bIns="0" rtlCol="0" anchor="ctr"/>
          <a:lstStyle/>
          <a:p>
            <a:pPr indent="0" marL="0">
              <a:lnSpc>
                <a:spcPct val="125000"/>
              </a:lnSpc>
              <a:buNone/>
            </a:pPr>
            <a:r>
              <a:rPr lang="en-US" sz="1150" b="1" dirty="0">
                <a:solidFill>
                  <a:srgbClr val="02C39A"/>
                </a:solidFill>
                <a:latin typeface="Calibri" pitchFamily="34" charset="0"/>
                <a:ea typeface="Calibri" pitchFamily="34" charset="-122"/>
                <a:cs typeface="Calibri" pitchFamily="34" charset="-120"/>
              </a:rPr>
              <a:t>HƯỚNG PHÁT TRIỂN</a:t>
            </a:r>
            <a:endParaRPr lang="en-US" sz="1150" dirty="0"/>
          </a:p>
        </p:txBody>
      </p:sp>
      <p:sp>
        <p:nvSpPr>
          <p:cNvPr id="19" name="Text 17"/>
          <p:cNvSpPr txBox="1"/>
          <p:nvPr/>
        </p:nvSpPr>
        <p:spPr>
          <a:xfrm>
            <a:off x="1005840" y="5376672"/>
            <a:ext cx="10149840" cy="457200"/>
          </a:xfrm>
          <a:prstGeom prst="rect">
            <a:avLst/>
          </a:prstGeom>
          <a:noFill/>
          <a:ln/>
        </p:spPr>
        <p:txBody>
          <a:bodyPr wrap="square" lIns="0" tIns="0" rIns="0" bIns="0" rtlCol="0" anchor="ctr"/>
          <a:lstStyle/>
          <a:p>
            <a:pPr indent="0" marL="0">
              <a:lnSpc>
                <a:spcPct val="115000"/>
              </a:lnSpc>
              <a:buNone/>
            </a:pPr>
            <a:r>
              <a:rPr lang="en-US" sz="1300" dirty="0">
                <a:solidFill>
                  <a:srgbClr val="A9C3C7"/>
                </a:solidFill>
                <a:latin typeface="Calibri" pitchFamily="34" charset="0"/>
                <a:ea typeface="Calibri" pitchFamily="34" charset="-122"/>
                <a:cs typeface="Calibri" pitchFamily="34" charset="-120"/>
              </a:rPr>
              <a:t>Bộ khung inbox — hàm hội tụ — thử lại có trạng thái — đối soát không phụ thuộc nghiệp vụ đào tạo. Có thể tách thành thư viện dùng lại cho bất kỳ cặp hệ thống nào đồng bộ qua API.</a:t>
            </a:r>
            <a:endParaRPr lang="en-US" sz="1300" dirty="0"/>
          </a:p>
        </p:txBody>
      </p:sp>
      <p:sp>
        <p:nvSpPr>
          <p:cNvPr id="20" name="Text 18"/>
          <p:cNvSpPr txBox="1"/>
          <p:nvPr/>
        </p:nvSpPr>
        <p:spPr>
          <a:xfrm>
            <a:off x="640080" y="6263640"/>
            <a:ext cx="10881360" cy="365760"/>
          </a:xfrm>
          <a:prstGeom prst="rect">
            <a:avLst/>
          </a:prstGeom>
          <a:noFill/>
          <a:ln/>
        </p:spPr>
        <p:txBody>
          <a:bodyPr wrap="square" lIns="0" tIns="0" rIns="0" bIns="0" rtlCol="0" anchor="ctr"/>
          <a:lstStyle/>
          <a:p>
            <a:pPr indent="0" marL="0">
              <a:lnSpc>
                <a:spcPct val="125000"/>
              </a:lnSpc>
              <a:buNone/>
            </a:pPr>
            <a:r>
              <a:rPr lang="en-US" sz="1400" i="1" dirty="0">
                <a:solidFill>
                  <a:srgbClr val="02C39A"/>
                </a:solidFill>
                <a:latin typeface="Calibri" pitchFamily="34" charset="0"/>
                <a:ea typeface="Calibri" pitchFamily="34" charset="-122"/>
                <a:cs typeface="Calibri" pitchFamily="34" charset="-120"/>
              </a:rPr>
              <a:t>Xin cảm ơn hội đồng — em sẵn sàng trả lời câu hỏi.</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Bao ve do an — He thong tich hop hai chieu giua UniSIS va UniLearn LMS</dc:title>
  <dc:subject>PptxGenJS Presentation</dc:subject>
  <dc:creator>Integration Service</dc:creator>
  <cp:lastModifiedBy>Integration Service</cp:lastModifiedBy>
  <cp:revision>1</cp:revision>
  <dcterms:created xsi:type="dcterms:W3CDTF">2026-09-04T22:14:33Z</dcterms:created>
  <dcterms:modified xsi:type="dcterms:W3CDTF">2026-09-04T22:14:33Z</dcterms:modified>
</cp:coreProperties>
</file>